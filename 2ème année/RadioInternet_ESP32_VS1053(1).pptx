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21.xml" ContentType="application/vnd.openxmlformats-officedocument.presentationml.slide+xml"/>
  <Override PartName="/ppt/slides/slide4.xml" ContentType="application/vnd.openxmlformats-officedocument.presentationml.slide+xml"/>
  <Override PartName="/ppt/slides/slide2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23.xml" ContentType="application/vnd.openxmlformats-officedocument.presentationml.slide+xml"/>
  <Override PartName="/ppt/slides/slide7.xml" ContentType="application/vnd.openxmlformats-officedocument.presentationml.slide+xml"/>
  <Override PartName="/ppt/slides/slide24.xml" ContentType="application/vnd.openxmlformats-officedocument.presentationml.slide+xml"/>
  <Override PartName="/ppt/slides/slide8.xml" ContentType="application/vnd.openxmlformats-officedocument.presentationml.slide+xml"/>
  <Override PartName="/ppt/slides/slide25.xml" ContentType="application/vnd.openxmlformats-officedocument.presentationml.slide+xml"/>
  <Override PartName="/ppt/slides/slide9.xml" ContentType="application/vnd.openxmlformats-officedocument.presentationml.slide+xml"/>
  <Override PartName="/ppt/slides/slide26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_rels/slide35.xml.rels" ContentType="application/vnd.openxmlformats-package.relationships+xml"/>
  <Override PartName="/ppt/slides/_rels/slide1.xml.rels" ContentType="application/vnd.openxmlformats-package.relationships+xml"/>
  <Override PartName="/ppt/slides/_rels/slide22.xml.rels" ContentType="application/vnd.openxmlformats-package.relationships+xml"/>
  <Override PartName="/ppt/slides/_rels/slide36.xml.rels" ContentType="application/vnd.openxmlformats-package.relationships+xml"/>
  <Override PartName="/ppt/slides/_rels/slide2.xml.rels" ContentType="application/vnd.openxmlformats-package.relationships+xml"/>
  <Override PartName="/ppt/slides/_rels/slide20.xml.rels" ContentType="application/vnd.openxmlformats-package.relationships+xml"/>
  <Override PartName="/ppt/slides/_rels/slide37.xml.rels" ContentType="application/vnd.openxmlformats-package.relationships+xml"/>
  <Override PartName="/ppt/slides/_rels/slide3.xml.rels" ContentType="application/vnd.openxmlformats-package.relationships+xml"/>
  <Override PartName="/ppt/slides/_rels/slide21.xml.rels" ContentType="application/vnd.openxmlformats-package.relationships+xml"/>
  <Override PartName="/ppt/slides/_rels/slide4.xml.rels" ContentType="application/vnd.openxmlformats-package.relationships+xml"/>
  <Override PartName="/ppt/slides/_rels/slide38.xml.rels" ContentType="application/vnd.openxmlformats-package.relationships+xml"/>
  <Override PartName="/ppt/slides/_rels/slide5.xml.rels" ContentType="application/vnd.openxmlformats-package.relationships+xml"/>
  <Override PartName="/ppt/slides/_rels/slide39.xml.rels" ContentType="application/vnd.openxmlformats-package.relationships+xml"/>
  <Override PartName="/ppt/slides/_rels/slide23.xml.rels" ContentType="application/vnd.openxmlformats-package.relationships+xml"/>
  <Override PartName="/ppt/slides/_rels/slide6.xml.rels" ContentType="application/vnd.openxmlformats-package.relationships+xml"/>
  <Override PartName="/ppt/slides/_rels/slide24.xml.rels" ContentType="application/vnd.openxmlformats-package.relationships+xml"/>
  <Override PartName="/ppt/slides/_rels/slide7.xml.rels" ContentType="application/vnd.openxmlformats-package.relationships+xml"/>
  <Override PartName="/ppt/slides/_rels/slide25.xml.rels" ContentType="application/vnd.openxmlformats-package.relationships+xml"/>
  <Override PartName="/ppt/slides/_rels/slide8.xml.rels" ContentType="application/vnd.openxmlformats-package.relationships+xml"/>
  <Override PartName="/ppt/slides/_rels/slide26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6.xml.rels" ContentType="application/vnd.openxmlformats-package.relationships+xml"/>
  <Override PartName="/ppt/slides/_rels/slide17.xml.rels" ContentType="application/vnd.openxmlformats-package.relationships+xml"/>
  <Override PartName="/ppt/slides/_rels/slide18.xml.rels" ContentType="application/vnd.openxmlformats-package.relationships+xml"/>
  <Override PartName="/ppt/slides/_rels/slide19.xml.rels" ContentType="application/vnd.openxmlformats-package.relationships+xml"/>
  <Override PartName="/ppt/slides/_rels/slide27.xml.rels" ContentType="application/vnd.openxmlformats-package.relationships+xml"/>
  <Override PartName="/ppt/slides/_rels/slide28.xml.rels" ContentType="application/vnd.openxmlformats-package.relationships+xml"/>
  <Override PartName="/ppt/slides/_rels/slide29.xml.rels" ContentType="application/vnd.openxmlformats-package.relationships+xml"/>
  <Override PartName="/ppt/slides/_rels/slide30.xml.rels" ContentType="application/vnd.openxmlformats-package.relationships+xml"/>
  <Override PartName="/ppt/slides/_rels/slide31.xml.rels" ContentType="application/vnd.openxmlformats-package.relationships+xml"/>
  <Override PartName="/ppt/slides/_rels/slide32.xml.rels" ContentType="application/vnd.openxmlformats-package.relationships+xml"/>
  <Override PartName="/ppt/slides/_rels/slide33.xml.rels" ContentType="application/vnd.openxmlformats-package.relationships+xml"/>
  <Override PartName="/ppt/slides/_rels/slide34.xml.rels" ContentType="application/vnd.openxmlformats-package.relationships+xml"/>
  <Override PartName="/ppt/media/image1.jpeg" ContentType="image/jpeg"/>
  <Override PartName="/ppt/media/image2.jpeg" ContentType="image/jpeg"/>
  <Override PartName="/ppt/media/image3.jpeg" ContentType="image/jpeg"/>
  <Override PartName="/ppt/media/image4.jpeg" ContentType="image/jpeg"/>
  <Override PartName="/ppt/media/image11.png" ContentType="image/png"/>
  <Override PartName="/ppt/media/image5.jpeg" ContentType="image/jpeg"/>
  <Override PartName="/ppt/media/image6.png" ContentType="image/png"/>
  <Override PartName="/ppt/media/image8.jpeg" ContentType="image/jpeg"/>
  <Override PartName="/ppt/media/image7.jpeg" ContentType="image/jpeg"/>
  <Override PartName="/ppt/media/image31.png" ContentType="image/png"/>
  <Override PartName="/ppt/media/image9.png" ContentType="image/png"/>
  <Override PartName="/ppt/media/image10.png" ContentType="image/png"/>
  <Override PartName="/ppt/media/image12.png" ContentType="image/png"/>
  <Override PartName="/ppt/media/image13.png" ContentType="image/png"/>
  <Override PartName="/ppt/media/image14.png" ContentType="image/png"/>
  <Override PartName="/ppt/media/image15.png" ContentType="image/png"/>
  <Override PartName="/ppt/media/image16.png" ContentType="image/png"/>
  <Override PartName="/ppt/media/image17.jpeg" ContentType="image/jpeg"/>
  <Override PartName="/ppt/media/image18.png" ContentType="image/png"/>
  <Override PartName="/ppt/media/image19.png" ContentType="image/png"/>
  <Override PartName="/ppt/media/image20.jpeg" ContentType="image/jpeg"/>
  <Override PartName="/ppt/media/image44.png" ContentType="image/png"/>
  <Override PartName="/ppt/media/image21.jpeg" ContentType="image/jpeg"/>
  <Override PartName="/ppt/media/image22.jpeg" ContentType="image/jpeg"/>
  <Override PartName="/ppt/media/image23.png" ContentType="image/png"/>
  <Override PartName="/ppt/media/image24.png" ContentType="image/png"/>
  <Override PartName="/ppt/media/image25.png" ContentType="image/png"/>
  <Override PartName="/ppt/media/image26.png" ContentType="image/png"/>
  <Override PartName="/ppt/media/image27.png" ContentType="image/png"/>
  <Override PartName="/ppt/media/image28.jpeg" ContentType="image/jpeg"/>
  <Override PartName="/ppt/media/image29.png" ContentType="image/png"/>
  <Override PartName="/ppt/media/image30.png" ContentType="image/png"/>
  <Override PartName="/ppt/media/image41.jpeg" ContentType="image/jpeg"/>
  <Override PartName="/ppt/media/image32.png" ContentType="image/png"/>
  <Override PartName="/ppt/media/image33.png" ContentType="image/png"/>
  <Override PartName="/ppt/media/image34.png" ContentType="image/png"/>
  <Override PartName="/ppt/media/image35.png" ContentType="image/png"/>
  <Override PartName="/ppt/media/image36.png" ContentType="image/png"/>
  <Override PartName="/ppt/media/image37.png" ContentType="image/png"/>
  <Override PartName="/ppt/media/image38.jpeg" ContentType="image/jpeg"/>
  <Override PartName="/ppt/media/image39.png" ContentType="image/png"/>
  <Override PartName="/ppt/media/image40.png" ContentType="image/png"/>
  <Override PartName="/ppt/media/image42.jpeg" ContentType="image/jpeg"/>
  <Override PartName="/ppt/media/image43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</p:sldIdLst>
  <p:sldSz cx="12192000" cy="6858000"/>
  <p:notesSz cx="7559675" cy="10691812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slide" Target="slides/slide28.xml"/><Relationship Id="rId31" Type="http://schemas.openxmlformats.org/officeDocument/2006/relationships/slide" Target="slides/slide29.xml"/><Relationship Id="rId32" Type="http://schemas.openxmlformats.org/officeDocument/2006/relationships/slide" Target="slides/slide30.xml"/><Relationship Id="rId33" Type="http://schemas.openxmlformats.org/officeDocument/2006/relationships/slide" Target="slides/slide31.xml"/><Relationship Id="rId34" Type="http://schemas.openxmlformats.org/officeDocument/2006/relationships/slide" Target="slides/slide32.xml"/><Relationship Id="rId35" Type="http://schemas.openxmlformats.org/officeDocument/2006/relationships/slide" Target="slides/slide33.xml"/><Relationship Id="rId36" Type="http://schemas.openxmlformats.org/officeDocument/2006/relationships/slide" Target="slides/slide34.xml"/><Relationship Id="rId37" Type="http://schemas.openxmlformats.org/officeDocument/2006/relationships/slide" Target="slides/slide35.xml"/><Relationship Id="rId38" Type="http://schemas.openxmlformats.org/officeDocument/2006/relationships/slide" Target="slides/slide36.xml"/><Relationship Id="rId39" Type="http://schemas.openxmlformats.org/officeDocument/2006/relationships/slide" Target="slides/slide37.xml"/><Relationship Id="rId40" Type="http://schemas.openxmlformats.org/officeDocument/2006/relationships/slide" Target="slides/slide38.xml"/><Relationship Id="rId41" Type="http://schemas.openxmlformats.org/officeDocument/2006/relationships/slide" Target="slides/slide39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fr-FR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1523880" y="1122480"/>
            <a:ext cx="9143640" cy="110667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fr-FR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</p:spPr>
        <p:txBody>
          <a:bodyPr anchor="b">
            <a:noAutofit/>
          </a:bodyPr>
          <a:p>
            <a:pPr algn="ctr">
              <a:lnSpc>
                <a:spcPct val="90000"/>
              </a:lnSpc>
            </a:pPr>
            <a:r>
              <a:rPr b="0" lang="fr-FR" sz="6000" spc="-1" strike="noStrike">
                <a:solidFill>
                  <a:srgbClr val="000000"/>
                </a:solidFill>
                <a:latin typeface="Calibri Light"/>
              </a:rPr>
              <a:t>Modifiez le style du titre</a:t>
            </a:r>
            <a:endParaRPr b="0" lang="fr-FR" sz="60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</p:spPr>
        <p:txBody>
          <a:bodyPr anchor="ctr">
            <a:noAutofit/>
          </a:bodyPr>
          <a:p>
            <a:pPr>
              <a:lnSpc>
                <a:spcPct val="100000"/>
              </a:lnSpc>
            </a:pPr>
            <a:fld id="{DE5EE27E-C516-4A40-A074-81E6E5B6A791}" type="datetime1">
              <a:rPr b="0" lang="fr-FR" sz="1200" spc="-1" strike="noStrike">
                <a:solidFill>
                  <a:srgbClr val="8b8b8b"/>
                </a:solidFill>
                <a:latin typeface="Calibri"/>
              </a:rPr>
              <a:t>17/06/2025</a:t>
            </a:fld>
            <a:endParaRPr b="0" lang="fr-FR" sz="12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</p:spPr>
        <p:txBody>
          <a:bodyPr anchor="ctr">
            <a:noAutofit/>
          </a:bodyPr>
          <a:p>
            <a:endParaRPr b="0" lang="fr-FR" sz="2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</p:spPr>
        <p:txBody>
          <a:bodyPr anchor="ctr">
            <a:noAutofit/>
          </a:bodyPr>
          <a:p>
            <a:pPr algn="r">
              <a:lnSpc>
                <a:spcPct val="100000"/>
              </a:lnSpc>
            </a:pPr>
            <a:fld id="{EF41F9F1-4342-4836-8126-0AD6CE3F4A68}" type="slidenum">
              <a:rPr b="0" lang="fr-FR" sz="1200" spc="-1" strike="noStrike">
                <a:solidFill>
                  <a:srgbClr val="8b8b8b"/>
                </a:solidFill>
                <a:latin typeface="Calibri"/>
              </a:rPr>
              <a:t>&lt;numéro&gt;</a:t>
            </a:fld>
            <a:endParaRPr b="0" lang="fr-FR" sz="1200" spc="-1" strike="noStrike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800" spc="-1" strike="noStrike">
                <a:solidFill>
                  <a:srgbClr val="000000"/>
                </a:solidFill>
                <a:latin typeface="Calibri"/>
              </a:rPr>
              <a:t>Cliquez pour éditer le format du plan de texte</a:t>
            </a:r>
            <a:endParaRPr b="0" lang="fr-FR" sz="28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000" spc="-1" strike="noStrike">
                <a:solidFill>
                  <a:srgbClr val="000000"/>
                </a:solidFill>
                <a:latin typeface="Calibri"/>
              </a:rPr>
              <a:t>Second niveau de plan</a:t>
            </a:r>
            <a:endParaRPr b="0" lang="fr-FR" sz="20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rgbClr val="000000"/>
                </a:solidFill>
                <a:latin typeface="Calibri"/>
              </a:rPr>
              <a:t>Troisième niveau de plan</a:t>
            </a:r>
            <a:endParaRPr b="0" lang="fr-FR" sz="18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800" spc="-1" strike="noStrike">
                <a:solidFill>
                  <a:srgbClr val="000000"/>
                </a:solidFill>
                <a:latin typeface="Calibri"/>
              </a:rPr>
              <a:t>Quatrième niveau de plan</a:t>
            </a:r>
            <a:endParaRPr b="0" lang="fr-FR" sz="18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Calibri"/>
              </a:rPr>
              <a:t>Cinquième niveau de plan</a:t>
            </a:r>
            <a:endParaRPr b="0" lang="fr-FR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Calibri"/>
              </a:rPr>
              <a:t>Sixième niveau de plan</a:t>
            </a:r>
            <a:endParaRPr b="0" lang="fr-FR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Calibri"/>
              </a:rPr>
              <a:t>Septième niveau de plan</a:t>
            </a:r>
            <a:endParaRPr b="0" lang="fr-FR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image" Target="../media/image3.jpeg"/><Relationship Id="rId3" Type="http://schemas.openxmlformats.org/officeDocument/2006/relationships/image" Target="../media/image4.jpeg"/><Relationship Id="rId4" Type="http://schemas.openxmlformats.org/officeDocument/2006/relationships/image" Target="../media/image5.jpeg"/><Relationship Id="rId5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hyperlink" Target="https://www.mouser.fr/ProductDetail/Adafruit/3619?qs=rrS6PyfT74fEa3nFmXI0bA%3D%3D&amp;srsltid=AfmBOoq8WoWSatt3LLF9nXiD7sepzqOwNT_YLJH_Wyr8d5aiG0GK8bJr" TargetMode="External"/><Relationship Id="rId2" Type="http://schemas.openxmlformats.org/officeDocument/2006/relationships/hyperlink" Target="https://www.mouser.fr/ProductDetail/Adafruit/3357?qs=kDLX0qXlrbJCuAl%2F2KHZUg%3D%3D" TargetMode="External"/><Relationship Id="rId3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7.jpeg"/><Relationship Id="rId3" Type="http://schemas.openxmlformats.org/officeDocument/2006/relationships/image" Target="../media/image8.jpeg"/><Relationship Id="rId4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hyperlink" Target="https://www.vlsi.fi/en/products/vs1053.html" TargetMode="External"/><Relationship Id="rId2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2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hyperlink" Target="https://fr.wikipedia.org/wiki/Serial_Peripheral_Interface" TargetMode="Externa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slideLayout" Target="../slideLayouts/slideLayout2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image" Target="../media/image14.png"/><Relationship Id="rId3" Type="http://schemas.openxmlformats.org/officeDocument/2006/relationships/slideLayout" Target="../slideLayouts/slideLayout2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image" Target="../media/image16.png"/><Relationship Id="rId3" Type="http://schemas.openxmlformats.org/officeDocument/2006/relationships/image" Target="../media/image17.jpeg"/><Relationship Id="rId4" Type="http://schemas.openxmlformats.org/officeDocument/2006/relationships/slideLayout" Target="../slideLayouts/slideLayout2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image" Target="../media/image19.png"/><Relationship Id="rId3" Type="http://schemas.openxmlformats.org/officeDocument/2006/relationships/slideLayout" Target="../slideLayouts/slideLayout2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20.jpeg"/><Relationship Id="rId2" Type="http://schemas.openxmlformats.org/officeDocument/2006/relationships/image" Target="../media/image21.jpeg"/><Relationship Id="rId3" Type="http://schemas.openxmlformats.org/officeDocument/2006/relationships/hyperlink" Target="https://learn.adafruit.com/adafruit-music-maker-featherwing" TargetMode="External"/><Relationship Id="rId4" Type="http://schemas.openxmlformats.org/officeDocument/2006/relationships/hyperlink" Target="https://learn.adafruit.com/adafruit-huzzah32-esp32-feather" TargetMode="External"/><Relationship Id="rId5" Type="http://schemas.openxmlformats.org/officeDocument/2006/relationships/image" Target="../media/image22.jpeg"/><Relationship Id="rId6" Type="http://schemas.openxmlformats.org/officeDocument/2006/relationships/image" Target="../media/image23.png"/><Relationship Id="rId7" Type="http://schemas.openxmlformats.org/officeDocument/2006/relationships/slideLayout" Target="../slideLayouts/slideLayout2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hyperlink" Target="https://randomnerdtutorials.com/esp32-spi-communication-arduino/" TargetMode="External"/><Relationship Id="rId2" Type="http://schemas.openxmlformats.org/officeDocument/2006/relationships/hyperlink" Target="https://www.upesy.fr/blogs/tutorials/esp32-pinout-reference-gpio-pins-ultimate-guide?srsltid=AfmBOoog4QbajouE7kpkN39bSrHdPFI1Wg8MqOmevvoJx6wIFJ3thAn7#d214c856d4bbbb57ec95bb70f7022" TargetMode="External"/><Relationship Id="rId3" Type="http://schemas.openxmlformats.org/officeDocument/2006/relationships/slideLayout" Target="../slideLayouts/slideLayout2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image" Target="../media/image24.png"/><Relationship Id="rId2" Type="http://schemas.openxmlformats.org/officeDocument/2006/relationships/slideLayout" Target="../slideLayouts/slideLayout2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image" Target="../media/image25.png"/><Relationship Id="rId2" Type="http://schemas.openxmlformats.org/officeDocument/2006/relationships/slideLayout" Target="../slideLayouts/slideLayout2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image" Target="../media/image26.png"/><Relationship Id="rId2" Type="http://schemas.openxmlformats.org/officeDocument/2006/relationships/image" Target="../media/image27.png"/><Relationship Id="rId3" Type="http://schemas.openxmlformats.org/officeDocument/2006/relationships/slideLayout" Target="../slideLayouts/slideLayout2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image" Target="../media/image28.jpeg"/><Relationship Id="rId2" Type="http://schemas.openxmlformats.org/officeDocument/2006/relationships/slideLayout" Target="../slideLayouts/slideLayout2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image" Target="../media/image29.png"/><Relationship Id="rId2" Type="http://schemas.openxmlformats.org/officeDocument/2006/relationships/slideLayout" Target="../slideLayouts/slideLayout2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image" Target="../media/image30.png"/><Relationship Id="rId2" Type="http://schemas.openxmlformats.org/officeDocument/2006/relationships/slideLayout" Target="../slideLayouts/slideLayout2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image" Target="../media/image31.png"/><Relationship Id="rId2" Type="http://schemas.openxmlformats.org/officeDocument/2006/relationships/image" Target="../media/image32.png"/><Relationship Id="rId3" Type="http://schemas.openxmlformats.org/officeDocument/2006/relationships/image" Target="../media/image33.png"/><Relationship Id="rId4" Type="http://schemas.openxmlformats.org/officeDocument/2006/relationships/slideLayout" Target="../slideLayouts/slideLayout2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image" Target="../media/image34.png"/><Relationship Id="rId2" Type="http://schemas.openxmlformats.org/officeDocument/2006/relationships/image" Target="../media/image35.png"/><Relationship Id="rId3" Type="http://schemas.openxmlformats.org/officeDocument/2006/relationships/image" Target="../media/image36.png"/><Relationship Id="rId4" Type="http://schemas.openxmlformats.org/officeDocument/2006/relationships/slideLayout" Target="../slideLayouts/slideLayout2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image" Target="../media/image37.png"/><Relationship Id="rId2" Type="http://schemas.openxmlformats.org/officeDocument/2006/relationships/slideLayout" Target="../slideLayouts/slideLayout2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image" Target="../media/image38.jpeg"/><Relationship Id="rId2" Type="http://schemas.openxmlformats.org/officeDocument/2006/relationships/slideLayout" Target="../slideLayouts/slideLayout2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image" Target="../media/image39.png"/><Relationship Id="rId2" Type="http://schemas.openxmlformats.org/officeDocument/2006/relationships/slideLayout" Target="../slideLayouts/slideLayout2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image" Target="../media/image40.png"/><Relationship Id="rId2" Type="http://schemas.openxmlformats.org/officeDocument/2006/relationships/slideLayout" Target="../slideLayouts/slideLayout2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image" Target="../media/image41.jpeg"/><Relationship Id="rId2" Type="http://schemas.openxmlformats.org/officeDocument/2006/relationships/slideLayout" Target="../slideLayouts/slideLayout2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image" Target="../media/image42.jpeg"/><Relationship Id="rId2" Type="http://schemas.openxmlformats.org/officeDocument/2006/relationships/slideLayout" Target="../slideLayouts/slideLayout2.xml"/>
</Relationships>
</file>

<file path=ppt/slides/_rels/slide39.xml.rels><?xml version="1.0" encoding="UTF-8"?>
<Relationships xmlns="http://schemas.openxmlformats.org/package/2006/relationships"><Relationship Id="rId1" Type="http://schemas.openxmlformats.org/officeDocument/2006/relationships/image" Target="../media/image43.png"/><Relationship Id="rId2" Type="http://schemas.openxmlformats.org/officeDocument/2006/relationships/image" Target="../media/image44.png"/><Relationship Id="rId3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itre 1"/>
          <p:cNvSpPr txBox="1"/>
          <p:nvPr/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ctr">
              <a:lnSpc>
                <a:spcPct val="90000"/>
              </a:lnSpc>
            </a:pPr>
            <a:r>
              <a:rPr b="0" lang="fr-FR" sz="6000" spc="-1" strike="noStrike">
                <a:solidFill>
                  <a:srgbClr val="000000"/>
                </a:solidFill>
                <a:latin typeface="Calibri Light"/>
              </a:rPr>
              <a:t>Lecteur Portable Radio Internet</a:t>
            </a:r>
            <a:endParaRPr b="0" lang="fr-FR" sz="60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2" name="Sous-titre 2"/>
          <p:cNvSpPr txBox="1"/>
          <p:nvPr/>
        </p:nvSpPr>
        <p:spPr>
          <a:xfrm>
            <a:off x="1523880" y="3602160"/>
            <a:ext cx="9143640" cy="165528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p>
            <a:pPr algn="ctr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fr-FR" sz="2400" spc="-1" strike="noStrike">
                <a:solidFill>
                  <a:srgbClr val="000000"/>
                </a:solidFill>
                <a:latin typeface="Calibri"/>
              </a:rPr>
              <a:t>©Laurent MURA</a:t>
            </a:r>
            <a:endParaRPr b="0" lang="fr-FR" sz="2400" spc="-1" strike="noStrike">
              <a:latin typeface="Arial"/>
            </a:endParaRPr>
          </a:p>
          <a:p>
            <a:pPr algn="ctr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endParaRPr b="0" lang="fr-FR" sz="2400" spc="-1" strike="noStrike">
              <a:latin typeface="Arial"/>
            </a:endParaRPr>
          </a:p>
          <a:p>
            <a:pPr algn="ctr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1" lang="fr-FR" sz="2400" spc="-1" strike="noStrike">
                <a:solidFill>
                  <a:srgbClr val="70ad47"/>
                </a:solidFill>
                <a:latin typeface="Calibri"/>
              </a:rPr>
              <a:t>Partie 1: Mise en œuvre</a:t>
            </a:r>
            <a:endParaRPr b="0" lang="fr-FR" sz="2400" spc="-1" strike="noStrike">
              <a:latin typeface="Arial"/>
            </a:endParaRPr>
          </a:p>
          <a:p>
            <a:pPr algn="ctr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1" lang="fr-FR" sz="2400" spc="-1" strike="noStrike">
                <a:solidFill>
                  <a:srgbClr val="70ad47"/>
                </a:solidFill>
                <a:latin typeface="Calibri"/>
              </a:rPr>
              <a:t>Partie 2: Traitement des données audio</a:t>
            </a:r>
            <a:endParaRPr b="0" lang="fr-FR" sz="2400" spc="-1" strike="noStrike">
              <a:latin typeface="Arial"/>
            </a:endParaRPr>
          </a:p>
        </p:txBody>
      </p:sp>
      <p:sp>
        <p:nvSpPr>
          <p:cNvPr id="43" name="Espace réservé du numéro de diapositive 3"/>
          <p:cNvSpPr txBox="1"/>
          <p:nvPr/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r">
              <a:lnSpc>
                <a:spcPct val="100000"/>
              </a:lnSpc>
            </a:pPr>
            <a:fld id="{787C2D1F-C391-42E4-9657-E05F1F8F5576}" type="slidenum">
              <a:rPr b="0" lang="fr-FR" sz="1200" spc="-1" strike="noStrike">
                <a:solidFill>
                  <a:srgbClr val="8b8b8b"/>
                </a:solidFill>
                <a:latin typeface="Calibri"/>
              </a:rPr>
              <a:t>1</a:t>
            </a:fld>
            <a:endParaRPr b="0" lang="fr-FR" sz="12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itre 1"/>
          <p:cNvSpPr txBox="1"/>
          <p:nvPr/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ctr">
              <a:lnSpc>
                <a:spcPct val="90000"/>
              </a:lnSpc>
            </a:pPr>
            <a:r>
              <a:rPr b="1" lang="fr-FR" sz="6000" spc="-1" strike="noStrike">
                <a:solidFill>
                  <a:srgbClr val="70ad47"/>
                </a:solidFill>
                <a:latin typeface="Calibri Light"/>
              </a:rPr>
              <a:t>Partie 1:</a:t>
            </a:r>
            <a:br/>
            <a:r>
              <a:rPr b="1" lang="fr-FR" sz="6000" spc="-1" strike="noStrike">
                <a:solidFill>
                  <a:srgbClr val="70ad47"/>
                </a:solidFill>
                <a:latin typeface="Calibri Light"/>
              </a:rPr>
              <a:t>Mise en œuvre</a:t>
            </a:r>
            <a:endParaRPr b="0" lang="fr-FR" sz="60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5" name="Sous-titre 2"/>
          <p:cNvSpPr txBox="1"/>
          <p:nvPr/>
        </p:nvSpPr>
        <p:spPr>
          <a:xfrm>
            <a:off x="1523880" y="3602160"/>
            <a:ext cx="9143640" cy="165528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p>
            <a:pPr algn="ctr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fr-FR" sz="2400" spc="-1" strike="noStrike">
                <a:solidFill>
                  <a:srgbClr val="000000"/>
                </a:solidFill>
                <a:latin typeface="Calibri"/>
              </a:rPr>
              <a:t>©Laurent MURA</a:t>
            </a:r>
            <a:endParaRPr b="0" lang="fr-FR" sz="2400" spc="-1" strike="noStrike">
              <a:latin typeface="Arial"/>
            </a:endParaRPr>
          </a:p>
        </p:txBody>
      </p:sp>
      <p:sp>
        <p:nvSpPr>
          <p:cNvPr id="46" name="Espace réservé du numéro de diapositive 3"/>
          <p:cNvSpPr txBox="1"/>
          <p:nvPr/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r">
              <a:lnSpc>
                <a:spcPct val="100000"/>
              </a:lnSpc>
            </a:pPr>
            <a:fld id="{F7CC2D45-EB4B-4DD2-BA71-8648AFB9F218}" type="slidenum">
              <a:rPr b="0" lang="fr-FR" sz="1200" spc="-1" strike="noStrike">
                <a:solidFill>
                  <a:srgbClr val="8b8b8b"/>
                </a:solidFill>
                <a:latin typeface="Calibri"/>
              </a:rPr>
              <a:t>1</a:t>
            </a:fld>
            <a:endParaRPr b="0" lang="fr-FR" sz="12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re 1"/>
          <p:cNvSpPr txBox="1"/>
          <p:nvPr/>
        </p:nvSpPr>
        <p:spPr>
          <a:xfrm>
            <a:off x="0" y="0"/>
            <a:ext cx="12191760" cy="101232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ctr">
              <a:lnSpc>
                <a:spcPct val="90000"/>
              </a:lnSpc>
            </a:pPr>
            <a:r>
              <a:rPr b="0" lang="fr-FR" sz="6000" spc="-1" strike="noStrike">
                <a:solidFill>
                  <a:srgbClr val="000000"/>
                </a:solidFill>
                <a:latin typeface="Calibri Light"/>
              </a:rPr>
              <a:t>Lecteur portable de radio internet</a:t>
            </a:r>
            <a:endParaRPr b="0" lang="fr-FR" sz="60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8" name="Sous-titre 2"/>
          <p:cNvSpPr txBox="1"/>
          <p:nvPr/>
        </p:nvSpPr>
        <p:spPr>
          <a:xfrm>
            <a:off x="867240" y="1239480"/>
            <a:ext cx="9143640" cy="457812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p>
            <a:pPr algn="just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fr-FR" sz="2400" spc="-1" strike="noStrike">
                <a:solidFill>
                  <a:srgbClr val="000000"/>
                </a:solidFill>
                <a:latin typeface="Calibri"/>
              </a:rPr>
              <a:t>Nécessité d’avoir selon les critères :</a:t>
            </a:r>
            <a:endParaRPr b="0" lang="fr-FR" sz="2400" spc="-1" strike="noStrike">
              <a:latin typeface="Arial"/>
            </a:endParaRPr>
          </a:p>
          <a:p>
            <a:pPr algn="just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fr-FR" sz="2400" spc="-1" strike="noStrike">
                <a:solidFill>
                  <a:srgbClr val="000000"/>
                </a:solidFill>
                <a:latin typeface="Calibri"/>
              </a:rPr>
              <a:t>-- Autonomie/consommation: microcontrôleur (pas de nano-ordinateur)</a:t>
            </a:r>
            <a:endParaRPr b="0" lang="fr-FR" sz="2400" spc="-1" strike="noStrike">
              <a:latin typeface="Arial"/>
            </a:endParaRPr>
          </a:p>
          <a:p>
            <a:pPr algn="just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fr-FR" sz="2400" spc="-1" strike="noStrike">
                <a:solidFill>
                  <a:srgbClr val="000000"/>
                </a:solidFill>
                <a:latin typeface="Calibri"/>
              </a:rPr>
              <a:t>-- Portabilité:</a:t>
            </a:r>
            <a:endParaRPr b="0" lang="fr-FR" sz="2400" spc="-1" strike="noStrike">
              <a:latin typeface="Arial"/>
            </a:endParaRPr>
          </a:p>
          <a:p>
            <a:pPr algn="just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fr-FR" sz="2400" spc="-1" strike="noStrike">
                <a:solidFill>
                  <a:srgbClr val="000000"/>
                </a:solidFill>
                <a:latin typeface="Calibri"/>
              </a:rPr>
              <a:t>	</a:t>
            </a:r>
            <a:r>
              <a:rPr b="0" lang="fr-FR" sz="2400" spc="-1" strike="noStrike">
                <a:solidFill>
                  <a:srgbClr val="000000"/>
                </a:solidFill>
                <a:latin typeface="Calibri"/>
              </a:rPr>
              <a:t>-- microcontrôleur avec wifi</a:t>
            </a:r>
            <a:endParaRPr b="0" lang="fr-FR" sz="2400" spc="-1" strike="noStrike">
              <a:latin typeface="Arial"/>
            </a:endParaRPr>
          </a:p>
          <a:p>
            <a:pPr algn="just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fr-FR" sz="2400" spc="-1" strike="noStrike">
                <a:solidFill>
                  <a:srgbClr val="000000"/>
                </a:solidFill>
                <a:latin typeface="Calibri"/>
              </a:rPr>
              <a:t>	</a:t>
            </a:r>
            <a:r>
              <a:rPr b="0" lang="fr-FR" sz="2400" spc="-1" strike="noStrike">
                <a:solidFill>
                  <a:srgbClr val="000000"/>
                </a:solidFill>
                <a:latin typeface="Calibri"/>
              </a:rPr>
              <a:t>-- chip « tout en un » pour gestion audio</a:t>
            </a:r>
            <a:endParaRPr b="0" lang="fr-FR" sz="2400" spc="-1" strike="noStrike">
              <a:latin typeface="Arial"/>
            </a:endParaRPr>
          </a:p>
          <a:p>
            <a:pPr algn="just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fr-FR" sz="2400" spc="-1" strike="noStrike">
                <a:solidFill>
                  <a:srgbClr val="000000"/>
                </a:solidFill>
                <a:latin typeface="Calibri"/>
              </a:rPr>
              <a:t>	</a:t>
            </a:r>
            <a:r>
              <a:rPr b="0" lang="fr-FR" sz="2400" spc="-1" strike="noStrike">
                <a:solidFill>
                  <a:srgbClr val="000000"/>
                </a:solidFill>
                <a:latin typeface="Calibri"/>
              </a:rPr>
              <a:t>-- taille réduite</a:t>
            </a:r>
            <a:endParaRPr b="0" lang="fr-FR" sz="2400" spc="-1" strike="noStrike">
              <a:latin typeface="Arial"/>
            </a:endParaRPr>
          </a:p>
          <a:p>
            <a:pPr algn="just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fr-FR" sz="2400" spc="-1" strike="noStrike">
                <a:solidFill>
                  <a:srgbClr val="000000"/>
                </a:solidFill>
                <a:latin typeface="Calibri"/>
              </a:rPr>
              <a:t>-- Accessibilité aux fonctions</a:t>
            </a:r>
            <a:endParaRPr b="0" lang="fr-FR" sz="2400" spc="-1" strike="noStrike">
              <a:latin typeface="Arial"/>
            </a:endParaRPr>
          </a:p>
          <a:p>
            <a:pPr algn="ctr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endParaRPr b="0" lang="fr-FR" sz="2400" spc="-1" strike="noStrike">
              <a:latin typeface="Arial"/>
            </a:endParaRPr>
          </a:p>
        </p:txBody>
      </p:sp>
      <p:sp>
        <p:nvSpPr>
          <p:cNvPr id="49" name="Espace réservé du numéro de diapositive 3"/>
          <p:cNvSpPr txBox="1"/>
          <p:nvPr/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r">
              <a:lnSpc>
                <a:spcPct val="100000"/>
              </a:lnSpc>
            </a:pPr>
            <a:fld id="{FC2F833B-2E71-473E-B5B4-91F160F24E0A}" type="slidenum">
              <a:rPr b="0" lang="fr-FR" sz="1200" spc="-1" strike="noStrike">
                <a:solidFill>
                  <a:srgbClr val="8b8b8b"/>
                </a:solidFill>
                <a:latin typeface="Calibri"/>
              </a:rPr>
              <a:t>3</a:t>
            </a:fld>
            <a:endParaRPr b="0" lang="fr-FR" sz="12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itre 1"/>
          <p:cNvSpPr txBox="1"/>
          <p:nvPr/>
        </p:nvSpPr>
        <p:spPr>
          <a:xfrm>
            <a:off x="0" y="0"/>
            <a:ext cx="12191760" cy="101232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ctr">
              <a:lnSpc>
                <a:spcPct val="90000"/>
              </a:lnSpc>
            </a:pPr>
            <a:r>
              <a:rPr b="0" lang="fr-FR" sz="6000" spc="-1" strike="noStrike">
                <a:solidFill>
                  <a:srgbClr val="000000"/>
                </a:solidFill>
                <a:latin typeface="Calibri Light"/>
              </a:rPr>
              <a:t>Lecteur portable de radio internet</a:t>
            </a:r>
            <a:endParaRPr b="0" lang="fr-FR" sz="60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Sous-titre 2"/>
          <p:cNvSpPr txBox="1"/>
          <p:nvPr/>
        </p:nvSpPr>
        <p:spPr>
          <a:xfrm>
            <a:off x="867240" y="1239480"/>
            <a:ext cx="9143640" cy="457812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p>
            <a:pPr algn="just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fr-FR" sz="2400" spc="-1" strike="noStrike">
                <a:solidFill>
                  <a:srgbClr val="000000"/>
                </a:solidFill>
                <a:latin typeface="Calibri"/>
              </a:rPr>
              <a:t>Nécessité d’avoir selon les critères :</a:t>
            </a:r>
            <a:endParaRPr b="0" lang="fr-FR" sz="2400" spc="-1" strike="noStrike">
              <a:latin typeface="Arial"/>
            </a:endParaRPr>
          </a:p>
          <a:p>
            <a:pPr algn="just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fr-FR" sz="2400" spc="-1" strike="noStrike">
                <a:solidFill>
                  <a:srgbClr val="000000"/>
                </a:solidFill>
                <a:latin typeface="Calibri"/>
              </a:rPr>
              <a:t>-- Autonomie/consommation: </a:t>
            </a:r>
            <a:r>
              <a:rPr b="0" lang="fr-FR" sz="2400" spc="-1" strike="noStrike">
                <a:solidFill>
                  <a:srgbClr val="000000"/>
                </a:solidFill>
                <a:latin typeface="Wingdings"/>
              </a:rPr>
              <a:t></a:t>
            </a:r>
            <a:r>
              <a:rPr b="0" lang="fr-FR" sz="24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1" lang="fr-FR" sz="2400" spc="-1" strike="noStrike">
                <a:solidFill>
                  <a:srgbClr val="ff0000"/>
                </a:solidFill>
                <a:latin typeface="Calibri"/>
              </a:rPr>
              <a:t>batterie USB ou LiPo rechargeable </a:t>
            </a:r>
            <a:endParaRPr b="0" lang="fr-FR" sz="2400" spc="-1" strike="noStrike">
              <a:latin typeface="Arial"/>
            </a:endParaRPr>
          </a:p>
          <a:p>
            <a:pPr algn="just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fr-FR" sz="2400" spc="-1" strike="noStrike">
                <a:solidFill>
                  <a:srgbClr val="000000"/>
                </a:solidFill>
                <a:latin typeface="Calibri"/>
              </a:rPr>
              <a:t>-- Portabilité:</a:t>
            </a:r>
            <a:endParaRPr b="0" lang="fr-FR" sz="2400" spc="-1" strike="noStrike">
              <a:latin typeface="Arial"/>
            </a:endParaRPr>
          </a:p>
          <a:p>
            <a:pPr algn="just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fr-FR" sz="2400" spc="-1" strike="noStrike">
                <a:solidFill>
                  <a:srgbClr val="000000"/>
                </a:solidFill>
                <a:latin typeface="Calibri"/>
              </a:rPr>
              <a:t>	</a:t>
            </a:r>
            <a:r>
              <a:rPr b="0" lang="fr-FR" sz="2400" spc="-1" strike="noStrike">
                <a:solidFill>
                  <a:srgbClr val="000000"/>
                </a:solidFill>
                <a:latin typeface="Calibri"/>
              </a:rPr>
              <a:t>-- microcontrôleur avec wifi </a:t>
            </a:r>
            <a:r>
              <a:rPr b="0" lang="fr-FR" sz="2400" spc="-1" strike="noStrike">
                <a:solidFill>
                  <a:srgbClr val="000000"/>
                </a:solidFill>
                <a:latin typeface="Wingdings"/>
              </a:rPr>
              <a:t></a:t>
            </a:r>
            <a:r>
              <a:rPr b="1" lang="fr-FR" sz="2400" spc="-1" strike="noStrike">
                <a:solidFill>
                  <a:srgbClr val="ff0000"/>
                </a:solidFill>
                <a:latin typeface="Calibri"/>
              </a:rPr>
              <a:t> ESP32 de Espressif</a:t>
            </a:r>
            <a:endParaRPr b="0" lang="fr-FR" sz="2400" spc="-1" strike="noStrike">
              <a:latin typeface="Arial"/>
            </a:endParaRPr>
          </a:p>
          <a:p>
            <a:pPr algn="just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fr-FR" sz="2400" spc="-1" strike="noStrike">
                <a:solidFill>
                  <a:srgbClr val="000000"/>
                </a:solidFill>
                <a:latin typeface="Calibri"/>
              </a:rPr>
              <a:t>	</a:t>
            </a:r>
            <a:r>
              <a:rPr b="0" lang="fr-FR" sz="2400" spc="-1" strike="noStrike">
                <a:solidFill>
                  <a:srgbClr val="000000"/>
                </a:solidFill>
                <a:latin typeface="Calibri"/>
              </a:rPr>
              <a:t>-- chip « tout en un » pour gestion audio </a:t>
            </a:r>
            <a:r>
              <a:rPr b="0" lang="fr-FR" sz="2400" spc="-1" strike="noStrike">
                <a:solidFill>
                  <a:srgbClr val="000000"/>
                </a:solidFill>
                <a:latin typeface="Wingdings"/>
              </a:rPr>
              <a:t></a:t>
            </a:r>
            <a:r>
              <a:rPr b="0" lang="fr-FR" sz="24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1" lang="fr-FR" sz="2400" spc="-1" strike="noStrike">
                <a:solidFill>
                  <a:srgbClr val="ff0000"/>
                </a:solidFill>
                <a:latin typeface="Calibri"/>
              </a:rPr>
              <a:t>VS1053 de VLSI</a:t>
            </a:r>
            <a:endParaRPr b="0" lang="fr-FR" sz="2400" spc="-1" strike="noStrike">
              <a:latin typeface="Arial"/>
            </a:endParaRPr>
          </a:p>
          <a:p>
            <a:pPr algn="just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1" lang="fr-FR" sz="2400" spc="-1" strike="noStrike">
                <a:solidFill>
                  <a:srgbClr val="ff0000"/>
                </a:solidFill>
                <a:latin typeface="Calibri"/>
              </a:rPr>
              <a:t>	</a:t>
            </a:r>
            <a:r>
              <a:rPr b="0" lang="fr-FR" sz="2400" spc="-1" strike="noStrike">
                <a:solidFill>
                  <a:srgbClr val="000000"/>
                </a:solidFill>
                <a:latin typeface="Calibri"/>
              </a:rPr>
              <a:t>-- taille réduite </a:t>
            </a:r>
            <a:r>
              <a:rPr b="0" lang="fr-FR" sz="2400" spc="-1" strike="noStrike">
                <a:solidFill>
                  <a:srgbClr val="000000"/>
                </a:solidFill>
                <a:latin typeface="Wingdings"/>
              </a:rPr>
              <a:t></a:t>
            </a:r>
            <a:r>
              <a:rPr b="0" lang="fr-FR" sz="24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1" i="1" lang="fr-FR" sz="2400" spc="-1" strike="noStrike">
                <a:solidFill>
                  <a:srgbClr val="ff0000"/>
                </a:solidFill>
                <a:latin typeface="Calibri"/>
              </a:rPr>
              <a:t>selon solutions fournies par fabricants</a:t>
            </a:r>
            <a:endParaRPr b="0" lang="fr-FR" sz="2400" spc="-1" strike="noStrike">
              <a:latin typeface="Arial"/>
            </a:endParaRPr>
          </a:p>
          <a:p>
            <a:pPr algn="just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fr-FR" sz="2400" spc="-1" strike="noStrike">
                <a:solidFill>
                  <a:srgbClr val="000000"/>
                </a:solidFill>
                <a:latin typeface="Calibri"/>
              </a:rPr>
              <a:t>-- Accessibilité aux fonctions </a:t>
            </a:r>
            <a:r>
              <a:rPr b="0" lang="fr-FR" sz="2400" spc="-1" strike="noStrike">
                <a:solidFill>
                  <a:srgbClr val="000000"/>
                </a:solidFill>
                <a:latin typeface="Wingdings"/>
              </a:rPr>
              <a:t></a:t>
            </a:r>
            <a:r>
              <a:rPr b="0" lang="fr-FR" sz="24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1" lang="fr-FR" sz="2400" spc="-1" strike="noStrike">
                <a:solidFill>
                  <a:srgbClr val="ff0000"/>
                </a:solidFill>
                <a:latin typeface="Calibri"/>
              </a:rPr>
              <a:t>depuis le téléphone</a:t>
            </a:r>
            <a:endParaRPr b="0" lang="fr-FR" sz="2400" spc="-1" strike="noStrike">
              <a:latin typeface="Arial"/>
            </a:endParaRPr>
          </a:p>
          <a:p>
            <a:pPr algn="just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endParaRPr b="0" lang="fr-FR" sz="2400" spc="-1" strike="noStrike">
              <a:latin typeface="Arial"/>
            </a:endParaRPr>
          </a:p>
          <a:p>
            <a:pPr algn="ctr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endParaRPr b="0" lang="fr-FR" sz="2400" spc="-1" strike="noStrike">
              <a:latin typeface="Arial"/>
            </a:endParaRPr>
          </a:p>
        </p:txBody>
      </p:sp>
      <p:pic>
        <p:nvPicPr>
          <p:cNvPr id="52" name="Picture 3" descr=""/>
          <p:cNvPicPr/>
          <p:nvPr/>
        </p:nvPicPr>
        <p:blipFill>
          <a:blip r:embed="rId1"/>
          <a:srcRect l="5113" t="18479" r="0" b="27543"/>
          <a:stretch/>
        </p:blipFill>
        <p:spPr>
          <a:xfrm>
            <a:off x="3289320" y="4429440"/>
            <a:ext cx="5613120" cy="2377800"/>
          </a:xfrm>
          <a:prstGeom prst="rect">
            <a:avLst/>
          </a:prstGeom>
          <a:ln w="0">
            <a:noFill/>
          </a:ln>
        </p:spPr>
      </p:pic>
      <p:sp>
        <p:nvSpPr>
          <p:cNvPr id="53" name="Espace réservé du numéro de diapositive 4"/>
          <p:cNvSpPr txBox="1"/>
          <p:nvPr/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r">
              <a:lnSpc>
                <a:spcPct val="100000"/>
              </a:lnSpc>
            </a:pPr>
            <a:fld id="{D23A42F4-C285-4811-8D4D-E6658B069A88}" type="slidenum">
              <a:rPr b="0" lang="fr-FR" sz="1200" spc="-1" strike="noStrike">
                <a:solidFill>
                  <a:srgbClr val="8b8b8b"/>
                </a:solidFill>
                <a:latin typeface="Calibri"/>
              </a:rPr>
              <a:t>4</a:t>
            </a:fld>
            <a:endParaRPr b="0" lang="fr-FR" sz="12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Titre 1"/>
          <p:cNvSpPr txBox="1"/>
          <p:nvPr/>
        </p:nvSpPr>
        <p:spPr>
          <a:xfrm>
            <a:off x="0" y="0"/>
            <a:ext cx="12191760" cy="101232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ctr">
              <a:lnSpc>
                <a:spcPct val="90000"/>
              </a:lnSpc>
            </a:pPr>
            <a:r>
              <a:rPr b="0" lang="fr-FR" sz="6000" spc="-1" strike="noStrike">
                <a:solidFill>
                  <a:srgbClr val="000000"/>
                </a:solidFill>
                <a:latin typeface="Calibri Light"/>
              </a:rPr>
              <a:t>Lecteur portable de radio internet</a:t>
            </a:r>
            <a:endParaRPr b="0" lang="fr-FR" sz="6000" spc="-1" strike="noStrike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55" name="Picture 2" descr=""/>
          <p:cNvPicPr/>
          <p:nvPr/>
        </p:nvPicPr>
        <p:blipFill>
          <a:blip r:embed="rId1"/>
          <a:srcRect l="0" t="0" r="0" b="11223"/>
          <a:stretch/>
        </p:blipFill>
        <p:spPr>
          <a:xfrm>
            <a:off x="-4680" y="940320"/>
            <a:ext cx="2999880" cy="5952600"/>
          </a:xfrm>
          <a:prstGeom prst="rect">
            <a:avLst/>
          </a:prstGeom>
          <a:ln w="0">
            <a:noFill/>
          </a:ln>
        </p:spPr>
      </p:pic>
      <p:pic>
        <p:nvPicPr>
          <p:cNvPr id="56" name="Picture 3" descr=""/>
          <p:cNvPicPr/>
          <p:nvPr/>
        </p:nvPicPr>
        <p:blipFill>
          <a:blip r:embed="rId2"/>
          <a:srcRect l="0" t="0" r="0" b="11223"/>
          <a:stretch/>
        </p:blipFill>
        <p:spPr>
          <a:xfrm>
            <a:off x="3031560" y="940320"/>
            <a:ext cx="3009600" cy="5952600"/>
          </a:xfrm>
          <a:prstGeom prst="rect">
            <a:avLst/>
          </a:prstGeom>
          <a:ln w="0">
            <a:noFill/>
          </a:ln>
        </p:spPr>
      </p:pic>
      <p:pic>
        <p:nvPicPr>
          <p:cNvPr id="57" name="Picture 4" descr=""/>
          <p:cNvPicPr/>
          <p:nvPr/>
        </p:nvPicPr>
        <p:blipFill>
          <a:blip r:embed="rId3"/>
          <a:srcRect l="0" t="0" r="0" b="11365"/>
          <a:stretch/>
        </p:blipFill>
        <p:spPr>
          <a:xfrm>
            <a:off x="6107400" y="940320"/>
            <a:ext cx="3009600" cy="5943240"/>
          </a:xfrm>
          <a:prstGeom prst="rect">
            <a:avLst/>
          </a:prstGeom>
          <a:ln w="0">
            <a:noFill/>
          </a:ln>
        </p:spPr>
      </p:pic>
      <p:pic>
        <p:nvPicPr>
          <p:cNvPr id="58" name="Picture 5" descr=""/>
          <p:cNvPicPr/>
          <p:nvPr/>
        </p:nvPicPr>
        <p:blipFill>
          <a:blip r:embed="rId4"/>
          <a:srcRect l="0" t="0" r="0" b="11899"/>
          <a:stretch/>
        </p:blipFill>
        <p:spPr>
          <a:xfrm>
            <a:off x="9185760" y="933480"/>
            <a:ext cx="3028680" cy="5924160"/>
          </a:xfrm>
          <a:prstGeom prst="rect">
            <a:avLst/>
          </a:prstGeom>
          <a:ln w="0">
            <a:noFill/>
          </a:ln>
        </p:spPr>
      </p:pic>
      <p:sp>
        <p:nvSpPr>
          <p:cNvPr id="59" name="Espace réservé du numéro de diapositive 2"/>
          <p:cNvSpPr txBox="1"/>
          <p:nvPr/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r">
              <a:lnSpc>
                <a:spcPct val="100000"/>
              </a:lnSpc>
            </a:pPr>
            <a:fld id="{5EB6BD74-2AF5-45C5-8827-CD1C2F5E0000}" type="slidenum">
              <a:rPr b="0" lang="fr-FR" sz="1200" spc="-1" strike="noStrike">
                <a:solidFill>
                  <a:srgbClr val="8b8b8b"/>
                </a:solidFill>
                <a:latin typeface="Calibri"/>
              </a:rPr>
              <a:t>4</a:t>
            </a:fld>
            <a:endParaRPr b="0" lang="fr-FR" sz="12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itre 1"/>
          <p:cNvSpPr txBox="1"/>
          <p:nvPr/>
        </p:nvSpPr>
        <p:spPr>
          <a:xfrm>
            <a:off x="0" y="0"/>
            <a:ext cx="12191760" cy="101232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ctr">
              <a:lnSpc>
                <a:spcPct val="90000"/>
              </a:lnSpc>
            </a:pPr>
            <a:r>
              <a:rPr b="0" lang="fr-FR" sz="6000" spc="-1" strike="noStrike">
                <a:solidFill>
                  <a:srgbClr val="000000"/>
                </a:solidFill>
                <a:latin typeface="Calibri Light"/>
              </a:rPr>
              <a:t>Lecteur portable de radio internet</a:t>
            </a:r>
            <a:endParaRPr b="0" lang="fr-FR" sz="60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1" name="Sous-titre 2"/>
          <p:cNvSpPr txBox="1"/>
          <p:nvPr/>
        </p:nvSpPr>
        <p:spPr>
          <a:xfrm>
            <a:off x="867240" y="1239480"/>
            <a:ext cx="10645200" cy="540648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4000"/>
          </a:bodyPr>
          <a:p>
            <a:pPr algn="just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fr-FR" sz="2400" spc="-1" strike="noStrike">
                <a:solidFill>
                  <a:srgbClr val="000000"/>
                </a:solidFill>
                <a:latin typeface="Calibri"/>
              </a:rPr>
              <a:t>Solution: une carte </a:t>
            </a:r>
            <a:r>
              <a:rPr b="1" lang="fr-FR" sz="2400" spc="-1" strike="noStrike">
                <a:solidFill>
                  <a:srgbClr val="ff0000"/>
                </a:solidFill>
                <a:latin typeface="Calibri"/>
              </a:rPr>
              <a:t>microcontrôleur</a:t>
            </a:r>
            <a:r>
              <a:rPr b="0" lang="fr-FR" sz="2400" spc="-1" strike="noStrike">
                <a:solidFill>
                  <a:srgbClr val="000000"/>
                </a:solidFill>
                <a:latin typeface="Calibri"/>
              </a:rPr>
              <a:t> et une carte </a:t>
            </a:r>
            <a:r>
              <a:rPr b="1" lang="fr-FR" sz="2400" spc="-1" strike="noStrike">
                <a:solidFill>
                  <a:srgbClr val="ff0000"/>
                </a:solidFill>
                <a:latin typeface="Calibri"/>
              </a:rPr>
              <a:t>CoDec</a:t>
            </a:r>
            <a:endParaRPr b="0" lang="fr-FR" sz="2400" spc="-1" strike="noStrike">
              <a:latin typeface="Arial"/>
            </a:endParaRPr>
          </a:p>
          <a:p>
            <a:pPr algn="just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fr-FR" sz="2400" spc="-1" strike="noStrike">
                <a:solidFill>
                  <a:srgbClr val="000000"/>
                </a:solidFill>
                <a:latin typeface="Calibri"/>
              </a:rPr>
              <a:t>	</a:t>
            </a:r>
            <a:r>
              <a:rPr b="0" lang="fr-FR" sz="2400" spc="-1" strike="noStrike">
                <a:solidFill>
                  <a:srgbClr val="000000"/>
                </a:solidFill>
                <a:latin typeface="Calibri"/>
              </a:rPr>
              <a:t>	</a:t>
            </a:r>
            <a:r>
              <a:rPr b="0" lang="fr-FR" sz="2400" spc="-1" strike="noStrike">
                <a:solidFill>
                  <a:srgbClr val="000000"/>
                </a:solidFill>
                <a:latin typeface="Calibri"/>
              </a:rPr>
              <a:t>	</a:t>
            </a:r>
            <a:r>
              <a:rPr b="0" lang="fr-FR" sz="2400" spc="-1" strike="noStrike">
                <a:solidFill>
                  <a:srgbClr val="000000"/>
                </a:solidFill>
                <a:latin typeface="Calibri"/>
              </a:rPr>
              <a:t>Version peu coûteuse: </a:t>
            </a:r>
            <a:r>
              <a:rPr b="0" lang="fr-FR" sz="2400" spc="-1" strike="noStrike">
                <a:solidFill>
                  <a:srgbClr val="000000"/>
                </a:solidFill>
                <a:latin typeface="Calibri"/>
              </a:rPr>
              <a:t>	</a:t>
            </a:r>
            <a:r>
              <a:rPr b="0" lang="fr-FR" sz="2400" spc="-1" strike="noStrike">
                <a:solidFill>
                  <a:srgbClr val="000000"/>
                </a:solidFill>
                <a:latin typeface="Calibri"/>
              </a:rPr>
              <a:t>	</a:t>
            </a:r>
            <a:r>
              <a:rPr b="0" lang="fr-FR" sz="2400" spc="-1" strike="noStrike">
                <a:solidFill>
                  <a:srgbClr val="000000"/>
                </a:solidFill>
                <a:latin typeface="Calibri"/>
              </a:rPr>
              <a:t>        Version Adafruit:</a:t>
            </a:r>
            <a:endParaRPr b="0" lang="fr-FR" sz="2400" spc="-1" strike="noStrike">
              <a:latin typeface="Arial"/>
            </a:endParaRPr>
          </a:p>
          <a:p>
            <a:pPr algn="just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fr-FR" sz="2400" spc="-1" strike="noStrike">
                <a:solidFill>
                  <a:srgbClr val="000000"/>
                </a:solidFill>
                <a:latin typeface="Calibri"/>
              </a:rPr>
              <a:t>Carte microcontrôleur:</a:t>
            </a:r>
            <a:r>
              <a:rPr b="0" lang="fr-FR" sz="2400" spc="-1" strike="noStrike">
                <a:solidFill>
                  <a:srgbClr val="000000"/>
                </a:solidFill>
                <a:latin typeface="Calibri"/>
              </a:rPr>
              <a:t>	</a:t>
            </a:r>
            <a:r>
              <a:rPr b="0" lang="fr-FR" sz="2400" spc="-1" strike="noStrike">
                <a:solidFill>
                  <a:srgbClr val="000000"/>
                </a:solidFill>
                <a:latin typeface="Calibri"/>
              </a:rPr>
              <a:t>	</a:t>
            </a:r>
            <a:r>
              <a:rPr b="0" lang="fr-FR" sz="2400" spc="-1" strike="noStrike">
                <a:solidFill>
                  <a:srgbClr val="000000"/>
                </a:solidFill>
                <a:latin typeface="Calibri"/>
              </a:rPr>
              <a:t>4 euros</a:t>
            </a:r>
            <a:r>
              <a:rPr b="0" lang="fr-FR" sz="2400" spc="-1" strike="noStrike">
                <a:solidFill>
                  <a:srgbClr val="000000"/>
                </a:solidFill>
                <a:latin typeface="Calibri"/>
              </a:rPr>
              <a:t>	</a:t>
            </a:r>
            <a:r>
              <a:rPr b="0" lang="fr-FR" sz="2400" spc="-1" strike="noStrike">
                <a:solidFill>
                  <a:srgbClr val="000000"/>
                </a:solidFill>
                <a:latin typeface="Calibri"/>
              </a:rPr>
              <a:t>	</a:t>
            </a:r>
            <a:r>
              <a:rPr b="0" lang="fr-FR" sz="2400" spc="-1" strike="noStrike">
                <a:solidFill>
                  <a:srgbClr val="000000"/>
                </a:solidFill>
                <a:latin typeface="Calibri"/>
              </a:rPr>
              <a:t>	</a:t>
            </a:r>
            <a:r>
              <a:rPr b="0" lang="fr-FR" sz="2400" spc="-1" strike="noStrike">
                <a:solidFill>
                  <a:srgbClr val="000000"/>
                </a:solidFill>
                <a:latin typeface="Calibri"/>
              </a:rPr>
              <a:t>	</a:t>
            </a:r>
            <a:r>
              <a:rPr b="0" lang="fr-FR" sz="2400" spc="-1" strike="noStrike">
                <a:solidFill>
                  <a:srgbClr val="000000"/>
                </a:solidFill>
                <a:latin typeface="Calibri"/>
              </a:rPr>
              <a:t>21 euros</a:t>
            </a:r>
            <a:endParaRPr b="0" lang="fr-FR" sz="2400" spc="-1" strike="noStrike">
              <a:latin typeface="Arial"/>
            </a:endParaRPr>
          </a:p>
          <a:p>
            <a:pPr algn="just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fr-FR" sz="2400" spc="-1" strike="noStrike">
                <a:solidFill>
                  <a:srgbClr val="000000"/>
                </a:solidFill>
                <a:latin typeface="Calibri"/>
              </a:rPr>
              <a:t>Carte CoDec:</a:t>
            </a:r>
            <a:r>
              <a:rPr b="0" lang="fr-FR" sz="2400" spc="-1" strike="noStrike">
                <a:solidFill>
                  <a:srgbClr val="000000"/>
                </a:solidFill>
                <a:latin typeface="Calibri"/>
              </a:rPr>
              <a:t>	</a:t>
            </a:r>
            <a:r>
              <a:rPr b="0" lang="fr-FR" sz="2400" spc="-1" strike="noStrike">
                <a:solidFill>
                  <a:srgbClr val="000000"/>
                </a:solidFill>
                <a:latin typeface="Calibri"/>
              </a:rPr>
              <a:t>	</a:t>
            </a:r>
            <a:r>
              <a:rPr b="0" lang="fr-FR" sz="2400" spc="-1" strike="noStrike">
                <a:solidFill>
                  <a:srgbClr val="000000"/>
                </a:solidFill>
                <a:latin typeface="Calibri"/>
              </a:rPr>
              <a:t>	</a:t>
            </a:r>
            <a:r>
              <a:rPr b="0" lang="fr-FR" sz="2400" spc="-1" strike="noStrike">
                <a:solidFill>
                  <a:srgbClr val="000000"/>
                </a:solidFill>
                <a:latin typeface="Calibri"/>
              </a:rPr>
              <a:t>6 euros</a:t>
            </a:r>
            <a:r>
              <a:rPr b="0" lang="fr-FR" sz="2400" spc="-1" strike="noStrike">
                <a:solidFill>
                  <a:srgbClr val="000000"/>
                </a:solidFill>
                <a:latin typeface="Calibri"/>
              </a:rPr>
              <a:t>	</a:t>
            </a:r>
            <a:r>
              <a:rPr b="0" lang="fr-FR" sz="2400" spc="-1" strike="noStrike">
                <a:solidFill>
                  <a:srgbClr val="000000"/>
                </a:solidFill>
                <a:latin typeface="Calibri"/>
              </a:rPr>
              <a:t>	</a:t>
            </a:r>
            <a:r>
              <a:rPr b="0" lang="fr-FR" sz="2400" spc="-1" strike="noStrike">
                <a:solidFill>
                  <a:srgbClr val="000000"/>
                </a:solidFill>
                <a:latin typeface="Calibri"/>
              </a:rPr>
              <a:t>	</a:t>
            </a:r>
            <a:r>
              <a:rPr b="0" lang="fr-FR" sz="2400" spc="-1" strike="noStrike">
                <a:solidFill>
                  <a:srgbClr val="000000"/>
                </a:solidFill>
                <a:latin typeface="Calibri"/>
              </a:rPr>
              <a:t>	</a:t>
            </a:r>
            <a:r>
              <a:rPr b="0" lang="fr-FR" sz="2400" spc="-1" strike="noStrike">
                <a:solidFill>
                  <a:srgbClr val="000000"/>
                </a:solidFill>
                <a:latin typeface="Calibri"/>
              </a:rPr>
              <a:t>19 euros</a:t>
            </a:r>
            <a:endParaRPr b="0" lang="fr-FR" sz="2400" spc="-1" strike="noStrike">
              <a:latin typeface="Arial"/>
            </a:endParaRPr>
          </a:p>
          <a:p>
            <a:pPr algn="just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endParaRPr b="0" lang="fr-FR" sz="2400" spc="-1" strike="noStrike">
              <a:latin typeface="Arial"/>
            </a:endParaRPr>
          </a:p>
          <a:p>
            <a:pPr algn="just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fr-FR" sz="2400" spc="-1" strike="noStrike" u="sng">
                <a:solidFill>
                  <a:srgbClr val="0563c1"/>
                </a:solidFill>
                <a:uFillTx/>
                <a:latin typeface="Calibri"/>
                <a:hlinkClick r:id="rId1"/>
              </a:rPr>
              <a:t>https://www.mouser.fr/ProductDetail/Adafruit/3619?qs=rrS6PyfT74fEa3nFmXI0bA%3D%3D&amp;srsltid=AfmBOoq8WoWSatt3LLF9nXiD7sepzqOwNT_YLJH_Wyr8d5aiG0GK8bJr</a:t>
            </a:r>
            <a:endParaRPr b="0" lang="fr-FR" sz="2400" spc="-1" strike="noStrike">
              <a:latin typeface="Arial"/>
            </a:endParaRPr>
          </a:p>
          <a:p>
            <a:pPr algn="just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fr-FR" sz="2400" spc="-1" strike="noStrike" u="sng">
                <a:solidFill>
                  <a:srgbClr val="0563c1"/>
                </a:solidFill>
                <a:uFillTx/>
                <a:latin typeface="Calibri"/>
                <a:hlinkClick r:id="rId2"/>
              </a:rPr>
              <a:t>https://www.mouser.fr/ProductDetail/Adafruit/3357?qs=kDLX0qXlrbJCuAl%2F2KHZUg%3D%3D</a:t>
            </a:r>
            <a:endParaRPr b="0" lang="fr-FR" sz="2400" spc="-1" strike="noStrike">
              <a:latin typeface="Arial"/>
            </a:endParaRPr>
          </a:p>
          <a:p>
            <a:pPr algn="just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endParaRPr b="0" lang="fr-FR" sz="2400" spc="-1" strike="noStrike">
              <a:latin typeface="Arial"/>
            </a:endParaRPr>
          </a:p>
          <a:p>
            <a:pPr algn="just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1" lang="fr-FR" sz="2400" spc="-1" strike="noStrike">
                <a:solidFill>
                  <a:srgbClr val="00b050"/>
                </a:solidFill>
                <a:latin typeface="Calibri"/>
              </a:rPr>
              <a:t>Avantages Adafruit:</a:t>
            </a:r>
            <a:endParaRPr b="0" lang="fr-FR" sz="2400" spc="-1" strike="noStrike">
              <a:latin typeface="Arial"/>
            </a:endParaRPr>
          </a:p>
          <a:p>
            <a:pPr algn="just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fr-FR" sz="2400" spc="-1" strike="noStrike">
                <a:solidFill>
                  <a:srgbClr val="000000"/>
                </a:solidFill>
                <a:latin typeface="Calibri"/>
              </a:rPr>
              <a:t>-- carte SD </a:t>
            </a:r>
            <a:r>
              <a:rPr b="0" lang="fr-FR" sz="2400" spc="-1" strike="noStrike">
                <a:solidFill>
                  <a:srgbClr val="000000"/>
                </a:solidFill>
                <a:latin typeface="Wingdings"/>
              </a:rPr>
              <a:t></a:t>
            </a:r>
            <a:r>
              <a:rPr b="0" lang="fr-FR" sz="2400" spc="-1" strike="noStrike">
                <a:solidFill>
                  <a:srgbClr val="000000"/>
                </a:solidFill>
                <a:latin typeface="Calibri"/>
              </a:rPr>
              <a:t> lecteur/baladeur de vos propres musiques</a:t>
            </a:r>
            <a:endParaRPr b="0" lang="fr-FR" sz="2400" spc="-1" strike="noStrike">
              <a:latin typeface="Arial"/>
            </a:endParaRPr>
          </a:p>
          <a:p>
            <a:pPr algn="just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fr-FR" sz="2400" spc="-1" strike="noStrike">
                <a:solidFill>
                  <a:srgbClr val="000000"/>
                </a:solidFill>
                <a:latin typeface="Calibri"/>
              </a:rPr>
              <a:t>-- connecteur pour pile LiPo avec recharge par USB (système autonome)</a:t>
            </a:r>
            <a:endParaRPr b="0" lang="fr-FR" sz="2400" spc="-1" strike="noStrike">
              <a:latin typeface="Arial"/>
            </a:endParaRPr>
          </a:p>
          <a:p>
            <a:pPr algn="just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fr-FR" sz="2400" spc="-1" strike="noStrike">
                <a:solidFill>
                  <a:srgbClr val="000000"/>
                </a:solidFill>
                <a:latin typeface="Calibri"/>
              </a:rPr>
              <a:t>-- les cartes s’empilent</a:t>
            </a:r>
            <a:endParaRPr b="0" lang="fr-FR" sz="2400" spc="-1" strike="noStrike">
              <a:latin typeface="Arial"/>
            </a:endParaRPr>
          </a:p>
          <a:p>
            <a:pPr algn="just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fr-FR" sz="2400" spc="-1" strike="noStrike">
                <a:solidFill>
                  <a:srgbClr val="000000"/>
                </a:solidFill>
                <a:latin typeface="Calibri"/>
              </a:rPr>
              <a:t>-- qualité de fabrication</a:t>
            </a:r>
            <a:endParaRPr b="0" lang="fr-FR" sz="2400" spc="-1" strike="noStrike">
              <a:latin typeface="Arial"/>
            </a:endParaRPr>
          </a:p>
          <a:p>
            <a:pPr algn="just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i="1" lang="fr-FR" sz="2400" spc="-1" strike="noStrike">
                <a:solidFill>
                  <a:srgbClr val="000000"/>
                </a:solidFill>
                <a:latin typeface="Calibri"/>
              </a:rPr>
              <a:t>-- obliger de passer par des fournisseurs reconnus au niveau de l’UHA !</a:t>
            </a:r>
            <a:endParaRPr b="0" lang="fr-FR" sz="2400" spc="-1" strike="noStrike">
              <a:latin typeface="Arial"/>
            </a:endParaRPr>
          </a:p>
        </p:txBody>
      </p:sp>
      <p:sp>
        <p:nvSpPr>
          <p:cNvPr id="62" name="Espace réservé du numéro de diapositive 3"/>
          <p:cNvSpPr txBox="1"/>
          <p:nvPr/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r">
              <a:lnSpc>
                <a:spcPct val="100000"/>
              </a:lnSpc>
            </a:pPr>
            <a:fld id="{E5F17A2B-5EAA-414A-8F4A-B8ECBD692E61}" type="slidenum">
              <a:rPr b="0" lang="fr-FR" sz="1200" spc="-1" strike="noStrike">
                <a:solidFill>
                  <a:srgbClr val="8b8b8b"/>
                </a:solidFill>
                <a:latin typeface="Calibri"/>
              </a:rPr>
              <a:t>6</a:t>
            </a:fld>
            <a:endParaRPr b="0" lang="fr-FR" sz="12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Image 4" descr=""/>
          <p:cNvPicPr/>
          <p:nvPr/>
        </p:nvPicPr>
        <p:blipFill>
          <a:blip r:embed="rId1"/>
          <a:stretch/>
        </p:blipFill>
        <p:spPr>
          <a:xfrm>
            <a:off x="6485040" y="0"/>
            <a:ext cx="5706360" cy="6857640"/>
          </a:xfrm>
          <a:prstGeom prst="rect">
            <a:avLst/>
          </a:prstGeom>
          <a:ln w="0">
            <a:noFill/>
          </a:ln>
        </p:spPr>
      </p:pic>
      <p:pic>
        <p:nvPicPr>
          <p:cNvPr id="64" name="Slide1" descr="Angled shot of an Assembled Adafruit HUZZAH32 – ESP32 Feather Board - with Stacking Headers"/>
          <p:cNvPicPr/>
          <p:nvPr/>
        </p:nvPicPr>
        <p:blipFill>
          <a:blip r:embed="rId2"/>
          <a:srcRect l="21631" t="21743" r="23261" b="19041"/>
          <a:stretch/>
        </p:blipFill>
        <p:spPr>
          <a:xfrm>
            <a:off x="1621440" y="499680"/>
            <a:ext cx="3352680" cy="2700360"/>
          </a:xfrm>
          <a:prstGeom prst="rect">
            <a:avLst/>
          </a:prstGeom>
          <a:ln w="0">
            <a:noFill/>
          </a:ln>
        </p:spPr>
      </p:pic>
      <p:pic>
        <p:nvPicPr>
          <p:cNvPr id="65" name="Picture 3" descr=""/>
          <p:cNvPicPr/>
          <p:nvPr/>
        </p:nvPicPr>
        <p:blipFill>
          <a:blip r:embed="rId3"/>
          <a:srcRect l="5113" t="18479" r="0" b="27543"/>
          <a:stretch/>
        </p:blipFill>
        <p:spPr>
          <a:xfrm>
            <a:off x="110520" y="3657600"/>
            <a:ext cx="6374160" cy="2700360"/>
          </a:xfrm>
          <a:prstGeom prst="rect">
            <a:avLst/>
          </a:prstGeom>
          <a:ln w="0">
            <a:noFill/>
          </a:ln>
        </p:spPr>
      </p:pic>
      <p:sp>
        <p:nvSpPr>
          <p:cNvPr id="66" name="Espace réservé du numéro de diapositive 1"/>
          <p:cNvSpPr txBox="1"/>
          <p:nvPr/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r">
              <a:lnSpc>
                <a:spcPct val="100000"/>
              </a:lnSpc>
            </a:pPr>
            <a:fld id="{839C0E85-E4CA-4CE0-9EDF-05526F693BDF}" type="slidenum">
              <a:rPr b="0" lang="fr-FR" sz="1200" spc="-1" strike="noStrike">
                <a:solidFill>
                  <a:srgbClr val="8b8b8b"/>
                </a:solidFill>
                <a:latin typeface="Calibri"/>
              </a:rPr>
              <a:t>6</a:t>
            </a:fld>
            <a:endParaRPr b="0" lang="fr-FR" sz="12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Titre 1"/>
          <p:cNvSpPr txBox="1"/>
          <p:nvPr/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rmAutofit/>
          </a:bodyPr>
          <a:p>
            <a:pPr algn="ctr">
              <a:lnSpc>
                <a:spcPct val="90000"/>
              </a:lnSpc>
            </a:pPr>
            <a:r>
              <a:rPr b="0" lang="fr-FR" sz="6000" spc="-1" strike="noStrike">
                <a:solidFill>
                  <a:srgbClr val="000000"/>
                </a:solidFill>
                <a:latin typeface="Calibri Light"/>
              </a:rPr>
              <a:t>CoDec </a:t>
            </a:r>
            <a:r>
              <a:rPr b="0" lang="fr-FR" sz="6000" spc="-1" strike="noStrike">
                <a:solidFill>
                  <a:srgbClr val="000000"/>
                </a:solidFill>
                <a:latin typeface="Wingdings"/>
              </a:rPr>
              <a:t></a:t>
            </a:r>
            <a:r>
              <a:rPr b="0" lang="fr-FR" sz="6000" spc="-1" strike="noStrike">
                <a:solidFill>
                  <a:srgbClr val="000000"/>
                </a:solidFill>
                <a:latin typeface="Calibri Light"/>
              </a:rPr>
              <a:t>Co-Dec:</a:t>
            </a:r>
            <a:br/>
            <a:r>
              <a:rPr b="0" lang="fr-FR" sz="6000" spc="-1" strike="noStrike">
                <a:solidFill>
                  <a:srgbClr val="00b050"/>
                </a:solidFill>
                <a:latin typeface="Calibri Light"/>
              </a:rPr>
              <a:t>Compresser-Décompresser</a:t>
            </a:r>
            <a:br/>
            <a:r>
              <a:rPr b="0" lang="fr-FR" sz="6000" spc="-1" strike="noStrike">
                <a:solidFill>
                  <a:srgbClr val="00b050"/>
                </a:solidFill>
                <a:latin typeface="Calibri Light"/>
              </a:rPr>
              <a:t>Coder-Décoder</a:t>
            </a:r>
            <a:endParaRPr b="0" lang="fr-FR" sz="60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8" name="Sous-titre 2"/>
          <p:cNvSpPr txBox="1"/>
          <p:nvPr/>
        </p:nvSpPr>
        <p:spPr>
          <a:xfrm>
            <a:off x="1523880" y="3602160"/>
            <a:ext cx="9143640" cy="290268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p>
            <a:pPr algn="ctr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endParaRPr b="0" lang="fr-FR" sz="3200" spc="-1" strike="noStrike">
              <a:latin typeface="Arial"/>
            </a:endParaRPr>
          </a:p>
          <a:p>
            <a:pPr algn="ctr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fr-FR" sz="2400" spc="-1" strike="noStrike">
                <a:solidFill>
                  <a:srgbClr val="000000"/>
                </a:solidFill>
                <a:latin typeface="Calibri"/>
              </a:rPr>
              <a:t>CoDec VS1053 de VLSI:</a:t>
            </a:r>
            <a:endParaRPr b="0" lang="fr-FR" sz="2400" spc="-1" strike="noStrike">
              <a:latin typeface="Arial"/>
            </a:endParaRPr>
          </a:p>
          <a:p>
            <a:pPr algn="ctr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fr-FR" sz="2400" spc="-1" strike="noStrike" u="sng">
                <a:solidFill>
                  <a:srgbClr val="0563c1"/>
                </a:solidFill>
                <a:uFillTx/>
                <a:latin typeface="Calibri"/>
                <a:hlinkClick r:id="rId1"/>
              </a:rPr>
              <a:t>https://www.vlsi.fi/en/products/vs1053.html</a:t>
            </a:r>
            <a:endParaRPr b="0" lang="fr-FR" sz="2400" spc="-1" strike="noStrike">
              <a:latin typeface="Arial"/>
            </a:endParaRPr>
          </a:p>
          <a:p>
            <a:pPr algn="ctr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1" lang="fr-FR" sz="2400" spc="-1" strike="noStrike">
                <a:solidFill>
                  <a:srgbClr val="000000"/>
                </a:solidFill>
                <a:latin typeface="Calibri"/>
              </a:rPr>
              <a:t>Applications:</a:t>
            </a:r>
            <a:endParaRPr b="0" lang="fr-FR" sz="2400" spc="-1" strike="noStrike">
              <a:latin typeface="Arial"/>
            </a:endParaRPr>
          </a:p>
          <a:p>
            <a:pPr algn="ctr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fr-FR" sz="2400" spc="-1" strike="noStrike">
                <a:solidFill>
                  <a:srgbClr val="000000"/>
                </a:solidFill>
                <a:latin typeface="Calibri"/>
              </a:rPr>
              <a:t>-- smartphone</a:t>
            </a:r>
            <a:endParaRPr b="0" lang="fr-FR" sz="2400" spc="-1" strike="noStrike">
              <a:latin typeface="Arial"/>
            </a:endParaRPr>
          </a:p>
          <a:p>
            <a:pPr algn="ctr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fr-FR" sz="2400" spc="-1" strike="noStrike">
                <a:solidFill>
                  <a:srgbClr val="000000"/>
                </a:solidFill>
                <a:latin typeface="Calibri"/>
              </a:rPr>
              <a:t>-- baladeur audio</a:t>
            </a:r>
            <a:endParaRPr b="0" lang="fr-FR" sz="2400" spc="-1" strike="noStrike">
              <a:latin typeface="Arial"/>
            </a:endParaRPr>
          </a:p>
          <a:p>
            <a:pPr algn="ctr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fr-FR" sz="2400" spc="-1" strike="noStrike">
                <a:solidFill>
                  <a:srgbClr val="000000"/>
                </a:solidFill>
                <a:latin typeface="Calibri"/>
              </a:rPr>
              <a:t>-- streamer</a:t>
            </a:r>
            <a:endParaRPr b="0" lang="fr-FR" sz="2400" spc="-1" strike="noStrike">
              <a:latin typeface="Arial"/>
            </a:endParaRPr>
          </a:p>
          <a:p>
            <a:pPr algn="ctr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endParaRPr b="0" lang="fr-FR" sz="2400" spc="-1" strike="noStrike">
              <a:latin typeface="Arial"/>
            </a:endParaRPr>
          </a:p>
        </p:txBody>
      </p:sp>
      <p:sp>
        <p:nvSpPr>
          <p:cNvPr id="69" name="Espace réservé du numéro de diapositive 3"/>
          <p:cNvSpPr txBox="1"/>
          <p:nvPr/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r">
              <a:lnSpc>
                <a:spcPct val="100000"/>
              </a:lnSpc>
            </a:pPr>
            <a:fld id="{891E86D3-64B2-42C4-8634-9AED79AA0746}" type="slidenum">
              <a:rPr b="0" lang="fr-FR" sz="1200" spc="-1" strike="noStrike">
                <a:solidFill>
                  <a:srgbClr val="8b8b8b"/>
                </a:solidFill>
                <a:latin typeface="Calibri"/>
              </a:rPr>
              <a:t>8</a:t>
            </a:fld>
            <a:endParaRPr b="0" lang="fr-FR" sz="12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ZoneTexte 8"/>
          <p:cNvSpPr/>
          <p:nvPr/>
        </p:nvSpPr>
        <p:spPr>
          <a:xfrm>
            <a:off x="105120" y="892800"/>
            <a:ext cx="11981160" cy="398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</a:pPr>
            <a:r>
              <a:rPr b="0" lang="fr-FR" sz="3200" spc="-1" strike="noStrike">
                <a:solidFill>
                  <a:srgbClr val="000000"/>
                </a:solidFill>
                <a:latin typeface="Calibri"/>
              </a:rPr>
              <a:t>VS1053b is based on a proprietary digital signal processor, VS_DSP. It contains all the code and data memory needed for Ogg Vorbis, MP3, AAC, WMA and WAV PCM + ADPCM audio decoding and a MIDI synthesizer, together with serial interfaces, a multirate stereo audio DAC and analog output amplifiers and filters. Also PCM/ADPCM audio encoding is supported using a microphone amplifier and/or line-level inputs and a stereo A/D converter. With software plugins the chip can also decode lossless FLAC.</a:t>
            </a:r>
            <a:endParaRPr b="0" lang="fr-FR" sz="3200" spc="-1" strike="noStrike">
              <a:latin typeface="Arial"/>
            </a:endParaRPr>
          </a:p>
        </p:txBody>
      </p:sp>
      <p:sp>
        <p:nvSpPr>
          <p:cNvPr id="71" name="Espace réservé du numéro de diapositive 1"/>
          <p:cNvSpPr txBox="1"/>
          <p:nvPr/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r">
              <a:lnSpc>
                <a:spcPct val="100000"/>
              </a:lnSpc>
            </a:pPr>
            <a:fld id="{16E1DA35-9F5D-4854-9F9A-20744AAFC1B6}" type="slidenum">
              <a:rPr b="0" lang="fr-FR" sz="1200" spc="-1" strike="noStrike">
                <a:solidFill>
                  <a:srgbClr val="8b8b8b"/>
                </a:solidFill>
                <a:latin typeface="Calibri"/>
              </a:rPr>
              <a:t>8</a:t>
            </a:fld>
            <a:endParaRPr b="0" lang="fr-FR" sz="12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re 1"/>
          <p:cNvSpPr txBox="1"/>
          <p:nvPr/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3" name="Sous-titre 2"/>
          <p:cNvSpPr txBox="1"/>
          <p:nvPr/>
        </p:nvSpPr>
        <p:spPr>
          <a:xfrm>
            <a:off x="1523880" y="3602160"/>
            <a:ext cx="9143640" cy="165528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p>
            <a:pPr algn="ctr"/>
            <a:endParaRPr b="0" lang="fr-FR" sz="3200" spc="-1" strike="noStrike">
              <a:latin typeface="Arial"/>
            </a:endParaRPr>
          </a:p>
        </p:txBody>
      </p:sp>
      <p:pic>
        <p:nvPicPr>
          <p:cNvPr id="74" name="Image 5" descr=""/>
          <p:cNvPicPr/>
          <p:nvPr/>
        </p:nvPicPr>
        <p:blipFill>
          <a:blip r:embed="rId1"/>
          <a:stretch/>
        </p:blipFill>
        <p:spPr>
          <a:xfrm>
            <a:off x="741600" y="0"/>
            <a:ext cx="10708560" cy="6857640"/>
          </a:xfrm>
          <a:prstGeom prst="rect">
            <a:avLst/>
          </a:prstGeom>
          <a:ln w="0">
            <a:noFill/>
          </a:ln>
        </p:spPr>
      </p:pic>
      <p:sp>
        <p:nvSpPr>
          <p:cNvPr id="75" name="Rectangle 6"/>
          <p:cNvSpPr/>
          <p:nvPr/>
        </p:nvSpPr>
        <p:spPr>
          <a:xfrm>
            <a:off x="300600" y="2316240"/>
            <a:ext cx="637920" cy="7275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76" name="Espace réservé du numéro de diapositive 3"/>
          <p:cNvSpPr txBox="1"/>
          <p:nvPr/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r">
              <a:lnSpc>
                <a:spcPct val="100000"/>
              </a:lnSpc>
            </a:pPr>
            <a:fld id="{943D4558-E8B4-433C-9B20-FCAC5E932F41}" type="slidenum">
              <a:rPr b="0" lang="fr-FR" sz="1200" spc="-1" strike="noStrike">
                <a:solidFill>
                  <a:srgbClr val="8b8b8b"/>
                </a:solidFill>
                <a:latin typeface="Calibri"/>
              </a:rPr>
              <a:t>8</a:t>
            </a:fld>
            <a:endParaRPr b="0" lang="fr-FR" sz="12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Titre 1"/>
          <p:cNvSpPr txBox="1"/>
          <p:nvPr/>
        </p:nvSpPr>
        <p:spPr>
          <a:xfrm>
            <a:off x="0" y="518400"/>
            <a:ext cx="12191760" cy="101232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rmAutofit fontScale="54000"/>
          </a:bodyPr>
          <a:p>
            <a:pPr algn="ctr">
              <a:lnSpc>
                <a:spcPct val="90000"/>
              </a:lnSpc>
            </a:pPr>
            <a:r>
              <a:rPr b="0" lang="fr-FR" sz="6000" spc="-1" strike="noStrike">
                <a:solidFill>
                  <a:srgbClr val="000000"/>
                </a:solidFill>
                <a:latin typeface="Calibri Light"/>
              </a:rPr>
              <a:t>Communication entre uC et CoDec:</a:t>
            </a:r>
            <a:br/>
            <a:r>
              <a:rPr b="0" lang="fr-FR" sz="6000" spc="-1" strike="noStrike">
                <a:solidFill>
                  <a:srgbClr val="000000"/>
                </a:solidFill>
                <a:latin typeface="Calibri Light"/>
              </a:rPr>
              <a:t>SPI</a:t>
            </a:r>
            <a:endParaRPr b="0" lang="fr-FR" sz="60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8" name="ZoneTexte 11"/>
          <p:cNvSpPr/>
          <p:nvPr/>
        </p:nvSpPr>
        <p:spPr>
          <a:xfrm>
            <a:off x="3047400" y="1616400"/>
            <a:ext cx="609660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fr-FR" sz="1800" spc="-1" strike="noStrike" u="sng">
                <a:solidFill>
                  <a:srgbClr val="0563c1"/>
                </a:solidFill>
                <a:uFillTx/>
                <a:latin typeface="Calibri"/>
                <a:hlinkClick r:id="rId1"/>
              </a:rPr>
              <a:t>https://fr.wikipedia.org/wiki/Serial_Peripheral_Interface</a:t>
            </a:r>
            <a:endParaRPr b="0" lang="fr-FR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fr-FR" sz="1800" spc="-1" strike="noStrike">
              <a:latin typeface="Arial"/>
            </a:endParaRPr>
          </a:p>
        </p:txBody>
      </p:sp>
      <p:pic>
        <p:nvPicPr>
          <p:cNvPr id="79" name="Image 6" descr=""/>
          <p:cNvPicPr/>
          <p:nvPr/>
        </p:nvPicPr>
        <p:blipFill>
          <a:blip r:embed="rId2"/>
          <a:stretch/>
        </p:blipFill>
        <p:spPr>
          <a:xfrm>
            <a:off x="5658840" y="2078640"/>
            <a:ext cx="6454800" cy="5121000"/>
          </a:xfrm>
          <a:prstGeom prst="rect">
            <a:avLst/>
          </a:prstGeom>
          <a:ln w="0">
            <a:noFill/>
          </a:ln>
        </p:spPr>
      </p:pic>
      <p:pic>
        <p:nvPicPr>
          <p:cNvPr id="80" name="Image 13" descr=""/>
          <p:cNvPicPr/>
          <p:nvPr/>
        </p:nvPicPr>
        <p:blipFill>
          <a:blip r:embed="rId3"/>
          <a:stretch/>
        </p:blipFill>
        <p:spPr>
          <a:xfrm>
            <a:off x="267120" y="2567520"/>
            <a:ext cx="5391720" cy="3514680"/>
          </a:xfrm>
          <a:prstGeom prst="rect">
            <a:avLst/>
          </a:prstGeom>
          <a:ln w="0">
            <a:noFill/>
          </a:ln>
        </p:spPr>
      </p:pic>
      <p:sp>
        <p:nvSpPr>
          <p:cNvPr id="81" name="Espace réservé du numéro de diapositive 1"/>
          <p:cNvSpPr txBox="1"/>
          <p:nvPr/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r">
              <a:lnSpc>
                <a:spcPct val="100000"/>
              </a:lnSpc>
            </a:pPr>
            <a:fld id="{F33B236B-27B2-4A0F-ACD1-32AB4D5F863B}" type="slidenum">
              <a:rPr b="0" lang="fr-FR" sz="1200" spc="-1" strike="noStrike">
                <a:solidFill>
                  <a:srgbClr val="8b8b8b"/>
                </a:solidFill>
                <a:latin typeface="Calibri"/>
              </a:rPr>
              <a:t>11</a:t>
            </a:fld>
            <a:endParaRPr b="0" lang="fr-FR" sz="12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Image 2" descr=""/>
          <p:cNvPicPr/>
          <p:nvPr/>
        </p:nvPicPr>
        <p:blipFill>
          <a:blip r:embed="rId1"/>
          <a:stretch/>
        </p:blipFill>
        <p:spPr>
          <a:xfrm>
            <a:off x="1485360" y="109080"/>
            <a:ext cx="9221040" cy="6639480"/>
          </a:xfrm>
          <a:prstGeom prst="rect">
            <a:avLst/>
          </a:prstGeom>
          <a:ln w="0">
            <a:noFill/>
          </a:ln>
        </p:spPr>
      </p:pic>
      <p:sp>
        <p:nvSpPr>
          <p:cNvPr id="83" name="Espace réservé du numéro de diapositive 1"/>
          <p:cNvSpPr txBox="1"/>
          <p:nvPr/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r">
              <a:lnSpc>
                <a:spcPct val="100000"/>
              </a:lnSpc>
            </a:pPr>
            <a:fld id="{96167CB8-6A92-47A2-BFF0-938E4481A60A}" type="slidenum">
              <a:rPr b="0" lang="fr-FR" sz="1200" spc="-1" strike="noStrike">
                <a:solidFill>
                  <a:srgbClr val="8b8b8b"/>
                </a:solidFill>
                <a:latin typeface="Calibri"/>
              </a:rPr>
              <a:t>11</a:t>
            </a:fld>
            <a:endParaRPr b="0" lang="fr-FR" sz="12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Image 8" descr=""/>
          <p:cNvPicPr/>
          <p:nvPr/>
        </p:nvPicPr>
        <p:blipFill>
          <a:blip r:embed="rId1"/>
          <a:srcRect l="0" t="40626" r="66924" b="34587"/>
          <a:stretch/>
        </p:blipFill>
        <p:spPr>
          <a:xfrm>
            <a:off x="53280" y="716760"/>
            <a:ext cx="3541680" cy="1699560"/>
          </a:xfrm>
          <a:prstGeom prst="rect">
            <a:avLst/>
          </a:prstGeom>
          <a:ln w="0">
            <a:noFill/>
          </a:ln>
        </p:spPr>
      </p:pic>
      <p:sp>
        <p:nvSpPr>
          <p:cNvPr id="85" name="Titre 1"/>
          <p:cNvSpPr txBox="1"/>
          <p:nvPr/>
        </p:nvSpPr>
        <p:spPr>
          <a:xfrm>
            <a:off x="0" y="518400"/>
            <a:ext cx="12191760" cy="101232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rmAutofit fontScale="54000"/>
          </a:bodyPr>
          <a:p>
            <a:pPr algn="ctr">
              <a:lnSpc>
                <a:spcPct val="90000"/>
              </a:lnSpc>
            </a:pPr>
            <a:r>
              <a:rPr b="0" lang="fr-FR" sz="6000" spc="-1" strike="noStrike">
                <a:solidFill>
                  <a:srgbClr val="000000"/>
                </a:solidFill>
                <a:latin typeface="Calibri Light"/>
              </a:rPr>
              <a:t>Communication entre uC et CoDec:</a:t>
            </a:r>
            <a:br/>
            <a:r>
              <a:rPr b="0" lang="fr-FR" sz="6000" spc="-1" strike="noStrike">
                <a:solidFill>
                  <a:srgbClr val="000000"/>
                </a:solidFill>
                <a:latin typeface="Calibri Light"/>
              </a:rPr>
              <a:t>SPI</a:t>
            </a:r>
            <a:endParaRPr b="0" lang="fr-FR" sz="6000" spc="-1" strike="noStrike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86" name="Image 10" descr=""/>
          <p:cNvPicPr/>
          <p:nvPr/>
        </p:nvPicPr>
        <p:blipFill>
          <a:blip r:embed="rId2"/>
          <a:stretch/>
        </p:blipFill>
        <p:spPr>
          <a:xfrm>
            <a:off x="1463760" y="2505960"/>
            <a:ext cx="9545040" cy="3724560"/>
          </a:xfrm>
          <a:prstGeom prst="rect">
            <a:avLst/>
          </a:prstGeom>
          <a:ln w="0">
            <a:noFill/>
          </a:ln>
        </p:spPr>
      </p:pic>
      <p:sp>
        <p:nvSpPr>
          <p:cNvPr id="87" name="ZoneTexte 14"/>
          <p:cNvSpPr/>
          <p:nvPr/>
        </p:nvSpPr>
        <p:spPr>
          <a:xfrm>
            <a:off x="3648600" y="1493280"/>
            <a:ext cx="8664840" cy="100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2000" spc="-1" strike="noStrike">
                <a:solidFill>
                  <a:srgbClr val="ff0000"/>
                </a:solidFill>
                <a:latin typeface="Calibri"/>
              </a:rPr>
              <a:t>The SPI Bus - which was originally used in some Motorola devices - has been used for both VS1053b’s Serial Data Interface SDI (Chapters 7.3 and 9.4) and Serial Control Interface SCI (Chapters 7.4 and 9.5).</a:t>
            </a:r>
            <a:endParaRPr b="0" lang="fr-FR" sz="2000" spc="-1" strike="noStrike">
              <a:latin typeface="Arial"/>
            </a:endParaRPr>
          </a:p>
        </p:txBody>
      </p:sp>
      <p:sp>
        <p:nvSpPr>
          <p:cNvPr id="88" name="ZoneTexte 15"/>
          <p:cNvSpPr/>
          <p:nvPr/>
        </p:nvSpPr>
        <p:spPr>
          <a:xfrm>
            <a:off x="218520" y="6314400"/>
            <a:ext cx="11754360" cy="39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</a:pPr>
            <a:r>
              <a:rPr b="1" lang="fr-FR" sz="2000" spc="-1" strike="noStrike">
                <a:solidFill>
                  <a:srgbClr val="000000"/>
                </a:solidFill>
                <a:latin typeface="Calibri"/>
              </a:rPr>
              <a:t>The DREQ pin/signal is used to signal if VS1053b’s 2048-byte FIFO is capable of receiving data</a:t>
            </a:r>
            <a:endParaRPr b="0" lang="fr-FR" sz="2000" spc="-1" strike="noStrike">
              <a:latin typeface="Arial"/>
            </a:endParaRPr>
          </a:p>
        </p:txBody>
      </p:sp>
      <p:sp>
        <p:nvSpPr>
          <p:cNvPr id="89" name="Espace réservé du numéro de diapositive 1"/>
          <p:cNvSpPr txBox="1"/>
          <p:nvPr/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r">
              <a:lnSpc>
                <a:spcPct val="100000"/>
              </a:lnSpc>
            </a:pPr>
            <a:fld id="{1E3EDF3F-883C-4C33-A71C-721AF87B9DE9}" type="slidenum">
              <a:rPr b="0" lang="fr-FR" sz="1200" spc="-1" strike="noStrike">
                <a:solidFill>
                  <a:srgbClr val="8b8b8b"/>
                </a:solidFill>
                <a:latin typeface="Calibri"/>
              </a:rPr>
              <a:t>13</a:t>
            </a:fld>
            <a:endParaRPr b="0" lang="fr-FR" sz="12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ZoneTexte 1"/>
          <p:cNvSpPr/>
          <p:nvPr/>
        </p:nvSpPr>
        <p:spPr>
          <a:xfrm>
            <a:off x="288720" y="0"/>
            <a:ext cx="11614320" cy="173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</a:pPr>
            <a:r>
              <a:rPr b="1" lang="fr-FR" sz="5400" spc="-1" strike="noStrike">
                <a:solidFill>
                  <a:srgbClr val="ff0000"/>
                </a:solidFill>
                <a:latin typeface="Calibri"/>
              </a:rPr>
              <a:t>LAB 1:</a:t>
            </a:r>
            <a:endParaRPr b="0" lang="fr-FR" sz="54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1" lang="fr-FR" sz="5400" spc="-1" strike="noStrike">
                <a:solidFill>
                  <a:srgbClr val="ff0000"/>
                </a:solidFill>
                <a:latin typeface="Calibri"/>
              </a:rPr>
              <a:t>Affectation des broches du SPI</a:t>
            </a:r>
            <a:endParaRPr b="0" lang="fr-FR" sz="5400" spc="-1" strike="noStrike">
              <a:latin typeface="Arial"/>
            </a:endParaRPr>
          </a:p>
        </p:txBody>
      </p:sp>
      <p:sp>
        <p:nvSpPr>
          <p:cNvPr id="91" name="ZoneTexte 2"/>
          <p:cNvSpPr/>
          <p:nvPr/>
        </p:nvSpPr>
        <p:spPr>
          <a:xfrm>
            <a:off x="79200" y="3699360"/>
            <a:ext cx="12045240" cy="82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fr-FR" sz="2400" spc="-1" strike="noStrike">
                <a:solidFill>
                  <a:srgbClr val="0070c0"/>
                </a:solidFill>
                <a:latin typeface="Calibri"/>
              </a:rPr>
              <a:t>Compléter le tableau suivant en vous aidant des diapositives précédentes et des 3 suivantes:</a:t>
            </a:r>
            <a:endParaRPr b="0" lang="fr-FR" sz="2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fr-FR" sz="2400" spc="-1" strike="noStrike">
              <a:latin typeface="Arial"/>
            </a:endParaRPr>
          </a:p>
        </p:txBody>
      </p:sp>
      <p:graphicFrame>
        <p:nvGraphicFramePr>
          <p:cNvPr id="92" name="Tableau 5"/>
          <p:cNvGraphicFramePr/>
          <p:nvPr/>
        </p:nvGraphicFramePr>
        <p:xfrm>
          <a:off x="2825280" y="4506120"/>
          <a:ext cx="6540840" cy="1968480"/>
        </p:xfrm>
        <a:graphic>
          <a:graphicData uri="http://schemas.openxmlformats.org/drawingml/2006/table">
            <a:tbl>
              <a:tblPr/>
              <a:tblGrid>
                <a:gridCol w="3270240"/>
                <a:gridCol w="3270600"/>
              </a:tblGrid>
              <a:tr h="426600">
                <a:tc>
                  <a:txBody>
                    <a:bodyPr lIns="68400" rIns="68400" tIns="0" bIns="0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fr-FR" sz="1400" spc="-1" strike="noStrike">
                          <a:solidFill>
                            <a:srgbClr val="0070c0"/>
                          </a:solidFill>
                          <a:latin typeface="Times New Roman"/>
                          <a:ea typeface="Times New Roman"/>
                        </a:rPr>
                        <a:t>Carte Adafruit Music Maker FeatherWing</a:t>
                      </a:r>
                      <a:endParaRPr b="0" lang="fr-FR" sz="14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68400" rIns="68400" tIns="0" bIns="0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fr-FR" sz="1400" spc="-1" strike="noStrike">
                          <a:solidFill>
                            <a:srgbClr val="0070c0"/>
                          </a:solidFill>
                          <a:latin typeface="Times New Roman"/>
                          <a:ea typeface="Times New Roman"/>
                        </a:rPr>
                        <a:t>Carte Adafruit HUZZAH32</a:t>
                      </a:r>
                      <a:endParaRPr b="0" lang="fr-FR" sz="14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281160">
                <a:tc>
                  <a:txBody>
                    <a:bodyPr lIns="68400" rIns="68400" tIns="0" bIns="0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fr-FR" sz="1400" spc="-1" strike="noStrike">
                          <a:solidFill>
                            <a:srgbClr val="0070c0"/>
                          </a:solidFill>
                          <a:latin typeface="Times New Roman"/>
                          <a:ea typeface="Times New Roman"/>
                        </a:rPr>
                        <a:t>MISO</a:t>
                      </a:r>
                      <a:endParaRPr b="0" lang="fr-FR" sz="14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68400" rIns="68400" tIns="0" bIns="0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fr-FR" sz="1400" spc="-1" strike="noStrike">
                          <a:solidFill>
                            <a:srgbClr val="0070c0"/>
                          </a:solidFill>
                          <a:latin typeface="Times New Roman"/>
                          <a:ea typeface="Times New Roman"/>
                        </a:rPr>
                        <a:t> </a:t>
                      </a:r>
                      <a:endParaRPr b="0" lang="fr-FR" sz="14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281160">
                <a:tc>
                  <a:txBody>
                    <a:bodyPr lIns="68400" rIns="68400" tIns="0" bIns="0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fr-FR" sz="1400" spc="-1" strike="noStrike">
                          <a:solidFill>
                            <a:srgbClr val="0070c0"/>
                          </a:solidFill>
                          <a:latin typeface="Times New Roman"/>
                          <a:ea typeface="Times New Roman"/>
                        </a:rPr>
                        <a:t>MOSI</a:t>
                      </a:r>
                      <a:endParaRPr b="0" lang="fr-FR" sz="14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68400" rIns="68400" tIns="0" bIns="0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fr-FR" sz="1400" spc="-1" strike="noStrike">
                          <a:solidFill>
                            <a:srgbClr val="0070c0"/>
                          </a:solidFill>
                          <a:latin typeface="Times New Roman"/>
                          <a:ea typeface="Times New Roman"/>
                        </a:rPr>
                        <a:t> </a:t>
                      </a:r>
                      <a:endParaRPr b="0" lang="fr-FR" sz="14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281160">
                <a:tc>
                  <a:txBody>
                    <a:bodyPr lIns="68400" rIns="68400" tIns="0" bIns="0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fr-FR" sz="1400" spc="-1" strike="noStrike">
                          <a:solidFill>
                            <a:srgbClr val="0070c0"/>
                          </a:solidFill>
                          <a:latin typeface="Times New Roman"/>
                          <a:ea typeface="Times New Roman"/>
                        </a:rPr>
                        <a:t>SCK</a:t>
                      </a:r>
                      <a:endParaRPr b="0" lang="fr-FR" sz="14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68400" rIns="68400" tIns="0" bIns="0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fr-FR" sz="1400" spc="-1" strike="noStrike">
                          <a:solidFill>
                            <a:srgbClr val="0070c0"/>
                          </a:solidFill>
                          <a:latin typeface="Times New Roman"/>
                          <a:ea typeface="Times New Roman"/>
                        </a:rPr>
                        <a:t> </a:t>
                      </a:r>
                      <a:endParaRPr b="0" lang="fr-FR" sz="14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281160">
                <a:tc>
                  <a:txBody>
                    <a:bodyPr lIns="68400" rIns="68400" tIns="0" bIns="0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fr-FR" sz="1400" spc="-1" strike="noStrike">
                          <a:solidFill>
                            <a:srgbClr val="0070c0"/>
                          </a:solidFill>
                          <a:latin typeface="Times New Roman"/>
                          <a:ea typeface="Times New Roman"/>
                        </a:rPr>
                        <a:t>MP3CS</a:t>
                      </a:r>
                      <a:endParaRPr b="0" lang="fr-FR" sz="14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68400" rIns="68400" tIns="0" bIns="0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fr-FR" sz="1400" spc="-1" strike="noStrike">
                          <a:solidFill>
                            <a:srgbClr val="0070c0"/>
                          </a:solidFill>
                          <a:latin typeface="Times New Roman"/>
                          <a:ea typeface="Times New Roman"/>
                        </a:rPr>
                        <a:t>32 </a:t>
                      </a:r>
                      <a:endParaRPr b="0" lang="fr-FR" sz="14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281160">
                <a:tc>
                  <a:txBody>
                    <a:bodyPr lIns="68400" rIns="68400" tIns="0" bIns="0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fr-FR" sz="1400" spc="-1" strike="noStrike">
                          <a:solidFill>
                            <a:srgbClr val="0070c0"/>
                          </a:solidFill>
                          <a:latin typeface="Times New Roman"/>
                          <a:ea typeface="Times New Roman"/>
                        </a:rPr>
                        <a:t>DREQ</a:t>
                      </a:r>
                      <a:endParaRPr b="0" lang="fr-FR" sz="14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68400" rIns="68400" tIns="0" bIns="0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fr-FR" sz="1400" spc="-1" strike="noStrike">
                          <a:solidFill>
                            <a:srgbClr val="0070c0"/>
                          </a:solidFill>
                          <a:latin typeface="Times New Roman"/>
                          <a:ea typeface="Times New Roman"/>
                        </a:rPr>
                        <a:t>15 </a:t>
                      </a:r>
                      <a:endParaRPr b="0" lang="fr-FR" sz="14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281160">
                <a:tc>
                  <a:txBody>
                    <a:bodyPr lIns="68400" rIns="68400" tIns="0" bIns="0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fr-FR" sz="1400" spc="-1" strike="noStrike">
                          <a:solidFill>
                            <a:srgbClr val="0070c0"/>
                          </a:solidFill>
                          <a:latin typeface="Times New Roman"/>
                          <a:ea typeface="Times New Roman"/>
                        </a:rPr>
                        <a:t>XDCS</a:t>
                      </a:r>
                      <a:endParaRPr b="0" lang="fr-FR" sz="14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68400" rIns="68400" tIns="0" bIns="0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fr-FR" sz="1400" spc="-1" strike="noStrike">
                          <a:solidFill>
                            <a:srgbClr val="0070c0"/>
                          </a:solidFill>
                          <a:latin typeface="Times New Roman"/>
                          <a:ea typeface="Times New Roman"/>
                        </a:rPr>
                        <a:t>33 </a:t>
                      </a:r>
                      <a:endParaRPr b="0" lang="fr-FR" sz="14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93" name="Espace réservé du numéro de diapositive 3"/>
          <p:cNvSpPr txBox="1"/>
          <p:nvPr/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r">
              <a:lnSpc>
                <a:spcPct val="100000"/>
              </a:lnSpc>
            </a:pPr>
            <a:fld id="{8FB71122-9171-44EF-9A63-16EE4E0B9FBE}" type="slidenum">
              <a:rPr b="0" lang="fr-FR" sz="1200" spc="-1" strike="noStrike">
                <a:solidFill>
                  <a:srgbClr val="8b8b8b"/>
                </a:solidFill>
                <a:latin typeface="Calibri"/>
              </a:rPr>
              <a:t>13</a:t>
            </a:fld>
            <a:endParaRPr b="0" lang="fr-FR" sz="12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Image 5" descr=""/>
          <p:cNvPicPr/>
          <p:nvPr/>
        </p:nvPicPr>
        <p:blipFill>
          <a:blip r:embed="rId1"/>
          <a:stretch/>
        </p:blipFill>
        <p:spPr>
          <a:xfrm>
            <a:off x="342000" y="3622680"/>
            <a:ext cx="3431880" cy="2345760"/>
          </a:xfrm>
          <a:prstGeom prst="rect">
            <a:avLst/>
          </a:prstGeom>
          <a:ln w="0">
            <a:noFill/>
          </a:ln>
        </p:spPr>
      </p:pic>
      <p:graphicFrame>
        <p:nvGraphicFramePr>
          <p:cNvPr id="95" name="Tableau 7"/>
          <p:cNvGraphicFramePr/>
          <p:nvPr/>
        </p:nvGraphicFramePr>
        <p:xfrm>
          <a:off x="5302080" y="1620720"/>
          <a:ext cx="6388200" cy="0"/>
        </p:xfrm>
        <a:graphic>
          <a:graphicData uri="http://schemas.openxmlformats.org/drawingml/2006/table">
            <a:tbl>
              <a:tblPr/>
              <a:tblGrid>
                <a:gridCol w="3193920"/>
                <a:gridCol w="3194640"/>
              </a:tblGrid>
              <a:tr h="0">
                <a:tc>
                  <a:txBody>
                    <a:bodyPr lIns="68400" rIns="68400" tIns="0" bIns="0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fr-FR" sz="12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Carte Adafruit Music Maker FeatherWing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68400" rIns="68400" tIns="0" bIns="0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fr-FR" sz="12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Carte Adafruit HUZZAH32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0">
                <a:tc>
                  <a:txBody>
                    <a:bodyPr lIns="68400" rIns="68400" tIns="0" bIns="0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fr-FR" sz="12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MISO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68400" rIns="68400" tIns="0" bIns="0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fr-FR" sz="12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 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0">
                <a:tc>
                  <a:txBody>
                    <a:bodyPr lIns="68400" rIns="68400" tIns="0" bIns="0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fr-FR" sz="12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MOSI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68400" rIns="68400" tIns="0" bIns="0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fr-FR" sz="12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 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0">
                <a:tc>
                  <a:txBody>
                    <a:bodyPr lIns="68400" rIns="68400" tIns="0" bIns="0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fr-FR" sz="12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SCK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68400" rIns="68400" tIns="0" bIns="0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fr-FR" sz="12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 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0">
                <a:tc>
                  <a:txBody>
                    <a:bodyPr lIns="68400" rIns="68400" tIns="0" bIns="0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fr-FR" sz="12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MP3CS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68400" rIns="68400" tIns="0" bIns="0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fr-FR" sz="12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 </a:t>
                      </a:r>
                      <a:r>
                        <a:rPr b="0" lang="fr-FR" sz="12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32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0">
                <a:tc>
                  <a:txBody>
                    <a:bodyPr lIns="68400" rIns="68400" tIns="0" bIns="0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fr-FR" sz="12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DREQ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68400" rIns="68400" tIns="0" bIns="0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fr-FR" sz="12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15 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0">
                <a:tc>
                  <a:txBody>
                    <a:bodyPr lIns="68400" rIns="68400" tIns="0" bIns="0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fr-FR" sz="12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XDCS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68400" rIns="68400" tIns="0" bIns="0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fr-FR" sz="12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33 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96" name="Image 8" descr=""/>
          <p:cNvPicPr/>
          <p:nvPr/>
        </p:nvPicPr>
        <p:blipFill>
          <a:blip r:embed="rId2"/>
          <a:srcRect l="0" t="40626" r="66924" b="34587"/>
          <a:stretch/>
        </p:blipFill>
        <p:spPr>
          <a:xfrm>
            <a:off x="232200" y="1526760"/>
            <a:ext cx="3541680" cy="1699560"/>
          </a:xfrm>
          <a:prstGeom prst="rect">
            <a:avLst/>
          </a:prstGeom>
          <a:ln w="0">
            <a:noFill/>
          </a:ln>
        </p:spPr>
      </p:pic>
      <p:sp>
        <p:nvSpPr>
          <p:cNvPr id="97" name="Titre 1"/>
          <p:cNvSpPr txBox="1"/>
          <p:nvPr/>
        </p:nvSpPr>
        <p:spPr>
          <a:xfrm>
            <a:off x="0" y="518400"/>
            <a:ext cx="12191760" cy="101232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rmAutofit fontScale="54000"/>
          </a:bodyPr>
          <a:p>
            <a:pPr algn="ctr">
              <a:lnSpc>
                <a:spcPct val="90000"/>
              </a:lnSpc>
            </a:pPr>
            <a:r>
              <a:rPr b="0" lang="fr-FR" sz="6000" spc="-1" strike="noStrike">
                <a:solidFill>
                  <a:srgbClr val="000000"/>
                </a:solidFill>
                <a:latin typeface="Calibri Light"/>
              </a:rPr>
              <a:t>Communication entre uC et CoDec:</a:t>
            </a:r>
            <a:br/>
            <a:r>
              <a:rPr b="0" lang="fr-FR" sz="6000" spc="-1" strike="noStrike">
                <a:solidFill>
                  <a:srgbClr val="000000"/>
                </a:solidFill>
                <a:latin typeface="Calibri Light"/>
              </a:rPr>
              <a:t>SPI</a:t>
            </a:r>
            <a:endParaRPr b="0" lang="fr-FR" sz="6000" spc="-1" strike="noStrike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98" name="Picture 3" descr=""/>
          <p:cNvPicPr/>
          <p:nvPr/>
        </p:nvPicPr>
        <p:blipFill>
          <a:blip r:embed="rId3"/>
          <a:srcRect l="5113" t="18479" r="0" b="27543"/>
          <a:stretch/>
        </p:blipFill>
        <p:spPr>
          <a:xfrm>
            <a:off x="5302080" y="3062520"/>
            <a:ext cx="6374160" cy="2700360"/>
          </a:xfrm>
          <a:prstGeom prst="rect">
            <a:avLst/>
          </a:prstGeom>
          <a:ln w="0">
            <a:noFill/>
          </a:ln>
        </p:spPr>
      </p:pic>
      <p:sp>
        <p:nvSpPr>
          <p:cNvPr id="99" name="Espace réservé du numéro de diapositive 1"/>
          <p:cNvSpPr txBox="1"/>
          <p:nvPr/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r">
              <a:lnSpc>
                <a:spcPct val="100000"/>
              </a:lnSpc>
            </a:pPr>
            <a:fld id="{E90C043C-CAE0-4DC2-9637-6AADCDDEEEF7}" type="slidenum">
              <a:rPr b="0" lang="fr-FR" sz="1200" spc="-1" strike="noStrike">
                <a:solidFill>
                  <a:srgbClr val="8b8b8b"/>
                </a:solidFill>
                <a:latin typeface="Calibri"/>
              </a:rPr>
              <a:t>15</a:t>
            </a:fld>
            <a:endParaRPr b="0" lang="fr-FR" sz="12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Image 5" descr=""/>
          <p:cNvPicPr/>
          <p:nvPr/>
        </p:nvPicPr>
        <p:blipFill>
          <a:blip r:embed="rId1"/>
          <a:stretch/>
        </p:blipFill>
        <p:spPr>
          <a:xfrm>
            <a:off x="513720" y="742680"/>
            <a:ext cx="3431880" cy="2345760"/>
          </a:xfrm>
          <a:prstGeom prst="rect">
            <a:avLst/>
          </a:prstGeom>
          <a:ln w="0">
            <a:noFill/>
          </a:ln>
        </p:spPr>
      </p:pic>
      <p:graphicFrame>
        <p:nvGraphicFramePr>
          <p:cNvPr id="101" name="Tableau 7"/>
          <p:cNvGraphicFramePr/>
          <p:nvPr/>
        </p:nvGraphicFramePr>
        <p:xfrm>
          <a:off x="5590440" y="1386360"/>
          <a:ext cx="6388200" cy="0"/>
        </p:xfrm>
        <a:graphic>
          <a:graphicData uri="http://schemas.openxmlformats.org/drawingml/2006/table">
            <a:tbl>
              <a:tblPr/>
              <a:tblGrid>
                <a:gridCol w="3193920"/>
                <a:gridCol w="3194640"/>
              </a:tblGrid>
              <a:tr h="0">
                <a:tc>
                  <a:txBody>
                    <a:bodyPr lIns="68400" rIns="68400" tIns="0" bIns="0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fr-FR" sz="12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Carte Adafruit Music Maker FeatherWing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68400" rIns="68400" tIns="0" bIns="0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fr-FR" sz="12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Carte Adafruit HUZZAH32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0">
                <a:tc>
                  <a:txBody>
                    <a:bodyPr lIns="68400" rIns="68400" tIns="0" bIns="0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fr-FR" sz="12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MISO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68400" rIns="68400" tIns="0" bIns="0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fr-FR" sz="12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 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0">
                <a:tc>
                  <a:txBody>
                    <a:bodyPr lIns="68400" rIns="68400" tIns="0" bIns="0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fr-FR" sz="12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MOSI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68400" rIns="68400" tIns="0" bIns="0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fr-FR" sz="12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 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0">
                <a:tc>
                  <a:txBody>
                    <a:bodyPr lIns="68400" rIns="68400" tIns="0" bIns="0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fr-FR" sz="12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SCK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68400" rIns="68400" tIns="0" bIns="0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fr-FR" sz="12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 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0">
                <a:tc>
                  <a:txBody>
                    <a:bodyPr lIns="68400" rIns="68400" tIns="0" bIns="0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fr-FR" sz="12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MP3CS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68400" rIns="68400" tIns="0" bIns="0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fr-FR" sz="12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32 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216000">
                <a:tc>
                  <a:txBody>
                    <a:bodyPr lIns="68400" rIns="68400" tIns="0" bIns="0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fr-FR" sz="12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DREQ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68400" rIns="68400" tIns="0" bIns="0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fr-FR" sz="12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15 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0">
                <a:tc>
                  <a:txBody>
                    <a:bodyPr lIns="68400" rIns="68400" tIns="0" bIns="0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fr-FR" sz="12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XDCS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68400" rIns="68400" tIns="0" bIns="0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fr-FR" sz="12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33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02" name="Titre 1"/>
          <p:cNvSpPr txBox="1"/>
          <p:nvPr/>
        </p:nvSpPr>
        <p:spPr>
          <a:xfrm>
            <a:off x="0" y="518400"/>
            <a:ext cx="12191760" cy="101232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rmAutofit fontScale="54000"/>
          </a:bodyPr>
          <a:p>
            <a:pPr algn="ctr">
              <a:lnSpc>
                <a:spcPct val="90000"/>
              </a:lnSpc>
            </a:pPr>
            <a:r>
              <a:rPr b="0" lang="fr-FR" sz="6000" spc="-1" strike="noStrike">
                <a:solidFill>
                  <a:srgbClr val="000000"/>
                </a:solidFill>
                <a:latin typeface="Calibri Light"/>
              </a:rPr>
              <a:t>Communication entre uC et CoDec:</a:t>
            </a:r>
            <a:br/>
            <a:r>
              <a:rPr b="0" lang="fr-FR" sz="6000" spc="-1" strike="noStrike">
                <a:solidFill>
                  <a:srgbClr val="000000"/>
                </a:solidFill>
                <a:latin typeface="Calibri Light"/>
              </a:rPr>
              <a:t>SPI</a:t>
            </a:r>
            <a:endParaRPr b="0" lang="fr-FR" sz="6000" spc="-1" strike="noStrike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103" name="Picture 2" descr=""/>
          <p:cNvPicPr/>
          <p:nvPr/>
        </p:nvPicPr>
        <p:blipFill>
          <a:blip r:embed="rId2"/>
          <a:stretch/>
        </p:blipFill>
        <p:spPr>
          <a:xfrm>
            <a:off x="165960" y="2666520"/>
            <a:ext cx="11872440" cy="4132800"/>
          </a:xfrm>
          <a:prstGeom prst="rect">
            <a:avLst/>
          </a:prstGeom>
          <a:ln w="0">
            <a:noFill/>
          </a:ln>
        </p:spPr>
      </p:pic>
      <p:sp>
        <p:nvSpPr>
          <p:cNvPr id="104" name="Espace réservé du numéro de diapositive 1"/>
          <p:cNvSpPr txBox="1"/>
          <p:nvPr/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r">
              <a:lnSpc>
                <a:spcPct val="100000"/>
              </a:lnSpc>
            </a:pPr>
            <a:fld id="{0160DC8E-1422-41E9-898D-16A6E2AEE0D1}" type="slidenum">
              <a:rPr b="0" lang="fr-FR" sz="1200" spc="-1" strike="noStrike">
                <a:solidFill>
                  <a:srgbClr val="8b8b8b"/>
                </a:solidFill>
                <a:latin typeface="Calibri"/>
              </a:rPr>
              <a:t>16</a:t>
            </a:fld>
            <a:endParaRPr b="0" lang="fr-FR" sz="12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Image 9" descr=""/>
          <p:cNvPicPr/>
          <p:nvPr/>
        </p:nvPicPr>
        <p:blipFill>
          <a:blip r:embed="rId1"/>
          <a:srcRect l="4127" t="32332" r="34669" b="31041"/>
          <a:stretch/>
        </p:blipFill>
        <p:spPr>
          <a:xfrm rot="10800000">
            <a:off x="4793400" y="91440"/>
            <a:ext cx="7247160" cy="3337200"/>
          </a:xfrm>
          <a:prstGeom prst="rect">
            <a:avLst/>
          </a:prstGeom>
          <a:ln w="0">
            <a:noFill/>
          </a:ln>
        </p:spPr>
      </p:pic>
      <p:pic>
        <p:nvPicPr>
          <p:cNvPr id="106" name="Image 11" descr=""/>
          <p:cNvPicPr/>
          <p:nvPr/>
        </p:nvPicPr>
        <p:blipFill>
          <a:blip r:embed="rId2"/>
          <a:srcRect l="15187" t="28470" r="15984" b="29369"/>
          <a:stretch/>
        </p:blipFill>
        <p:spPr>
          <a:xfrm>
            <a:off x="5086440" y="3485880"/>
            <a:ext cx="6900840" cy="3253320"/>
          </a:xfrm>
          <a:prstGeom prst="rect">
            <a:avLst/>
          </a:prstGeom>
          <a:ln w="0">
            <a:noFill/>
          </a:ln>
        </p:spPr>
      </p:pic>
      <p:sp>
        <p:nvSpPr>
          <p:cNvPr id="107" name="ZoneTexte 12"/>
          <p:cNvSpPr/>
          <p:nvPr/>
        </p:nvSpPr>
        <p:spPr>
          <a:xfrm>
            <a:off x="83520" y="5374800"/>
            <a:ext cx="4795200" cy="11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</a:pPr>
            <a:r>
              <a:rPr b="0" lang="fr-FR" sz="1800" spc="-1" strike="noStrike" u="sng">
                <a:solidFill>
                  <a:srgbClr val="0563c1"/>
                </a:solidFill>
                <a:uFillTx/>
                <a:latin typeface="Calibri"/>
                <a:hlinkClick r:id="rId3"/>
              </a:rPr>
              <a:t>https://learn.adafruit.com/adafruit-music-maker-featherwing</a:t>
            </a:r>
            <a:endParaRPr b="0" lang="fr-FR" sz="18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fr-FR" sz="18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fr-FR" sz="1800" spc="-1" strike="noStrike" u="sng">
                <a:solidFill>
                  <a:srgbClr val="0563c1"/>
                </a:solidFill>
                <a:uFillTx/>
                <a:latin typeface="Calibri"/>
                <a:hlinkClick r:id="rId4"/>
              </a:rPr>
              <a:t>https://learn.adafruit.com/adafruit-huzzah32-esp32-feather</a:t>
            </a:r>
            <a:endParaRPr b="0" lang="fr-FR" sz="18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fr-FR" sz="1800" spc="-1" strike="noStrike">
              <a:latin typeface="Arial"/>
            </a:endParaRPr>
          </a:p>
        </p:txBody>
      </p:sp>
      <p:pic>
        <p:nvPicPr>
          <p:cNvPr id="108" name="Picture 3" descr=""/>
          <p:cNvPicPr/>
          <p:nvPr/>
        </p:nvPicPr>
        <p:blipFill>
          <a:blip r:embed="rId5"/>
          <a:srcRect l="5113" t="18479" r="23908" b="27543"/>
          <a:stretch/>
        </p:blipFill>
        <p:spPr>
          <a:xfrm>
            <a:off x="83520" y="2583360"/>
            <a:ext cx="4768200" cy="2700360"/>
          </a:xfrm>
          <a:prstGeom prst="rect">
            <a:avLst/>
          </a:prstGeom>
          <a:ln w="0">
            <a:noFill/>
          </a:ln>
        </p:spPr>
      </p:pic>
      <p:pic>
        <p:nvPicPr>
          <p:cNvPr id="109" name="Image 6" descr=""/>
          <p:cNvPicPr/>
          <p:nvPr/>
        </p:nvPicPr>
        <p:blipFill>
          <a:blip r:embed="rId6"/>
          <a:stretch/>
        </p:blipFill>
        <p:spPr>
          <a:xfrm>
            <a:off x="605880" y="48600"/>
            <a:ext cx="3431880" cy="2345760"/>
          </a:xfrm>
          <a:prstGeom prst="rect">
            <a:avLst/>
          </a:prstGeom>
          <a:ln w="0">
            <a:noFill/>
          </a:ln>
        </p:spPr>
      </p:pic>
      <p:sp>
        <p:nvSpPr>
          <p:cNvPr id="110" name="Espace réservé du numéro de diapositive 1"/>
          <p:cNvSpPr txBox="1"/>
          <p:nvPr/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r">
              <a:lnSpc>
                <a:spcPct val="100000"/>
              </a:lnSpc>
            </a:pPr>
            <a:fld id="{0A79D571-ACD0-4C79-9F15-430345223009}" type="slidenum">
              <a:rPr b="0" lang="fr-FR" sz="1200" spc="-1" strike="noStrike">
                <a:solidFill>
                  <a:srgbClr val="8b8b8b"/>
                </a:solidFill>
                <a:latin typeface="Calibri"/>
              </a:rPr>
              <a:t>16</a:t>
            </a:fld>
            <a:endParaRPr b="0" lang="fr-FR" sz="12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1" name="Tableau 7"/>
          <p:cNvGraphicFramePr/>
          <p:nvPr/>
        </p:nvGraphicFramePr>
        <p:xfrm>
          <a:off x="5302080" y="1531080"/>
          <a:ext cx="6388200" cy="0"/>
        </p:xfrm>
        <a:graphic>
          <a:graphicData uri="http://schemas.openxmlformats.org/drawingml/2006/table">
            <a:tbl>
              <a:tblPr/>
              <a:tblGrid>
                <a:gridCol w="3193920"/>
                <a:gridCol w="3194640"/>
              </a:tblGrid>
              <a:tr h="0">
                <a:tc>
                  <a:txBody>
                    <a:bodyPr lIns="68400" rIns="68400" tIns="0" bIns="0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fr-FR" sz="12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Carte Adafruit Music Maker FeatherWing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68400" rIns="68400" tIns="0" bIns="0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fr-FR" sz="12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Carte Adafruit HUZZAH32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0">
                <a:tc>
                  <a:txBody>
                    <a:bodyPr lIns="68400" rIns="68400" tIns="0" bIns="0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fr-FR" sz="12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MISO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68400" rIns="68400" tIns="0" bIns="0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fr-FR" sz="12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 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0">
                <a:tc>
                  <a:txBody>
                    <a:bodyPr lIns="68400" rIns="68400" tIns="0" bIns="0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fr-FR" sz="12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MOSI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68400" rIns="68400" tIns="0" bIns="0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fr-FR" sz="12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 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0">
                <a:tc>
                  <a:txBody>
                    <a:bodyPr lIns="68400" rIns="68400" tIns="0" bIns="0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fr-FR" sz="12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SCK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68400" rIns="68400" tIns="0" bIns="0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fr-FR" sz="12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 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0">
                <a:tc>
                  <a:txBody>
                    <a:bodyPr lIns="68400" rIns="68400" tIns="0" bIns="0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fr-FR" sz="12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MP3CS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68400" rIns="68400" tIns="0" bIns="0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fr-FR" sz="12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32 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0">
                <a:tc>
                  <a:txBody>
                    <a:bodyPr lIns="68400" rIns="68400" tIns="0" bIns="0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fr-FR" sz="12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DREQ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68400" rIns="68400" tIns="0" bIns="0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fr-FR" sz="12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15 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0">
                <a:tc>
                  <a:txBody>
                    <a:bodyPr lIns="68400" rIns="68400" tIns="0" bIns="0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fr-FR" sz="12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XDCS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68400" rIns="68400" tIns="0" bIns="0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fr-FR" sz="12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 </a:t>
                      </a:r>
                      <a:r>
                        <a:rPr b="0" lang="fr-FR" sz="12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33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12" name="Titre 1"/>
          <p:cNvSpPr txBox="1"/>
          <p:nvPr/>
        </p:nvSpPr>
        <p:spPr>
          <a:xfrm>
            <a:off x="0" y="518400"/>
            <a:ext cx="12191760" cy="101232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rmAutofit fontScale="54000"/>
          </a:bodyPr>
          <a:p>
            <a:pPr algn="ctr">
              <a:lnSpc>
                <a:spcPct val="90000"/>
              </a:lnSpc>
            </a:pPr>
            <a:r>
              <a:rPr b="0" lang="fr-FR" sz="6000" spc="-1" strike="noStrike">
                <a:solidFill>
                  <a:srgbClr val="000000"/>
                </a:solidFill>
                <a:latin typeface="Calibri Light"/>
              </a:rPr>
              <a:t>Communication entre uC et CoDec:</a:t>
            </a:r>
            <a:br/>
            <a:r>
              <a:rPr b="0" lang="fr-FR" sz="6000" spc="-1" strike="noStrike">
                <a:solidFill>
                  <a:srgbClr val="000000"/>
                </a:solidFill>
                <a:latin typeface="Calibri Light"/>
              </a:rPr>
              <a:t>SPI</a:t>
            </a:r>
            <a:endParaRPr b="0" lang="fr-FR" sz="60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3" name="ZoneTexte 1"/>
          <p:cNvSpPr/>
          <p:nvPr/>
        </p:nvSpPr>
        <p:spPr>
          <a:xfrm>
            <a:off x="0" y="2900880"/>
            <a:ext cx="12191760" cy="350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</a:pPr>
            <a:r>
              <a:rPr b="0" lang="fr-FR" sz="3200" spc="-1" strike="noStrike">
                <a:solidFill>
                  <a:srgbClr val="000000"/>
                </a:solidFill>
                <a:latin typeface="Calibri"/>
              </a:rPr>
              <a:t>Pour obtenir les broches SPI par défaut:</a:t>
            </a:r>
            <a:endParaRPr b="0" lang="fr-FR" sz="32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fr-FR" sz="3200" spc="-1" strike="noStrike" u="sng">
                <a:solidFill>
                  <a:srgbClr val="0563c1"/>
                </a:solidFill>
                <a:uFillTx/>
                <a:latin typeface="Calibri"/>
                <a:hlinkClick r:id="rId1"/>
              </a:rPr>
              <a:t>https://randomnerdtutorials.com/esp32-spi-communication-arduino/</a:t>
            </a:r>
            <a:endParaRPr b="0" lang="fr-FR" sz="32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fr-FR" sz="32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fr-FR" sz="3200" spc="-1" strike="noStrike">
                <a:solidFill>
                  <a:srgbClr val="000000"/>
                </a:solidFill>
                <a:latin typeface="Calibri"/>
              </a:rPr>
              <a:t>Pour obtenir plus d’informations sur les SPI de l’ESP32:</a:t>
            </a:r>
            <a:endParaRPr b="0" lang="fr-FR" sz="32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fr-FR" sz="3200" spc="-1" strike="noStrike" u="sng">
                <a:solidFill>
                  <a:srgbClr val="0563c1"/>
                </a:solidFill>
                <a:uFillTx/>
                <a:latin typeface="Calibri"/>
                <a:hlinkClick r:id="rId2"/>
              </a:rPr>
              <a:t>https://www.upesy.fr/blogs/tutorials/esp32-pinout-reference-gpio-pins-ultimate-guide?srsltid=AfmBOoog4QbajouE7kpkN39bSrHdPFI1Wg8MqOmevvoJx6wIFJ3thAn7#d214c856d4bbbb57ec95bb70f7022</a:t>
            </a:r>
            <a:endParaRPr b="0" lang="fr-FR" sz="32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fr-FR" sz="32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fr-FR" sz="3200" spc="-1" strike="noStrike">
              <a:latin typeface="Arial"/>
            </a:endParaRPr>
          </a:p>
        </p:txBody>
      </p:sp>
      <p:sp>
        <p:nvSpPr>
          <p:cNvPr id="114" name="Espace réservé du numéro de diapositive 2"/>
          <p:cNvSpPr txBox="1"/>
          <p:nvPr/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r">
              <a:lnSpc>
                <a:spcPct val="100000"/>
              </a:lnSpc>
            </a:pPr>
            <a:fld id="{84E7834E-5E24-4AFB-86F4-B667CCB839D2}" type="slidenum">
              <a:rPr b="0" lang="fr-FR" sz="1200" spc="-1" strike="noStrike">
                <a:solidFill>
                  <a:srgbClr val="8b8b8b"/>
                </a:solidFill>
                <a:latin typeface="Calibri"/>
              </a:rPr>
              <a:t>18</a:t>
            </a:fld>
            <a:endParaRPr b="0" lang="fr-FR" sz="12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Titre 1"/>
          <p:cNvSpPr txBox="1"/>
          <p:nvPr/>
        </p:nvSpPr>
        <p:spPr>
          <a:xfrm>
            <a:off x="0" y="0"/>
            <a:ext cx="12191760" cy="101232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rmAutofit/>
          </a:bodyPr>
          <a:p>
            <a:pPr algn="ctr">
              <a:lnSpc>
                <a:spcPct val="90000"/>
              </a:lnSpc>
            </a:pPr>
            <a:r>
              <a:rPr b="0" lang="fr-FR" sz="6000" spc="-1" strike="noStrike">
                <a:solidFill>
                  <a:srgbClr val="000000"/>
                </a:solidFill>
                <a:latin typeface="Calibri Light"/>
              </a:rPr>
              <a:t>Initialisation des communications</a:t>
            </a:r>
            <a:endParaRPr b="0" lang="fr-FR" sz="60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6" name="ZoneTexte 4"/>
          <p:cNvSpPr/>
          <p:nvPr/>
        </p:nvSpPr>
        <p:spPr>
          <a:xfrm>
            <a:off x="107640" y="1144080"/>
            <a:ext cx="11976480" cy="5302440"/>
          </a:xfrm>
          <a:prstGeom prst="rect">
            <a:avLst/>
          </a:prstGeom>
          <a:noFill/>
          <a:ln w="7620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fr-FR" sz="1800" spc="-1" strike="noStrike">
                <a:solidFill>
                  <a:srgbClr val="00979d"/>
                </a:solidFill>
                <a:latin typeface="Consolas"/>
              </a:rPr>
              <a:t>void</a:t>
            </a:r>
            <a:r>
              <a:rPr b="0" lang="fr-FR" sz="1800" spc="-1" strike="noStrike">
                <a:solidFill>
                  <a:srgbClr val="4e5b61"/>
                </a:solidFill>
                <a:latin typeface="Consolas"/>
              </a:rPr>
              <a:t> </a:t>
            </a:r>
            <a:r>
              <a:rPr b="0" lang="fr-FR" sz="1800" spc="-1" strike="noStrike">
                <a:solidFill>
                  <a:srgbClr val="d35400"/>
                </a:solidFill>
                <a:latin typeface="Consolas"/>
              </a:rPr>
              <a:t>setup</a:t>
            </a:r>
            <a:r>
              <a:rPr b="0" lang="fr-FR" sz="1800" spc="-1" strike="noStrike">
                <a:solidFill>
                  <a:srgbClr val="434f54"/>
                </a:solidFill>
                <a:latin typeface="Consolas"/>
              </a:rPr>
              <a:t>()</a:t>
            </a:r>
            <a:r>
              <a:rPr b="0" lang="fr-FR" sz="1800" spc="-1" strike="noStrike">
                <a:solidFill>
                  <a:srgbClr val="4e5b61"/>
                </a:solidFill>
                <a:latin typeface="Consolas"/>
              </a:rPr>
              <a:t> </a:t>
            </a:r>
            <a:r>
              <a:rPr b="0" lang="fr-FR" sz="1800" spc="-1" strike="noStrike">
                <a:solidFill>
                  <a:srgbClr val="434f54"/>
                </a:solidFill>
                <a:latin typeface="Consolas"/>
              </a:rPr>
              <a:t>{</a:t>
            </a:r>
            <a:endParaRPr b="0" lang="fr-FR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br/>
            <a:r>
              <a:rPr b="0" lang="fr-FR" sz="1800" spc="-1" strike="noStrike">
                <a:solidFill>
                  <a:srgbClr val="4e5b61"/>
                </a:solidFill>
                <a:latin typeface="Consolas"/>
              </a:rPr>
              <a:t>  </a:t>
            </a:r>
            <a:r>
              <a:rPr b="0" lang="fr-FR" sz="1800" spc="-1" strike="noStrike">
                <a:solidFill>
                  <a:srgbClr val="d35400"/>
                </a:solidFill>
                <a:latin typeface="Consolas"/>
              </a:rPr>
              <a:t>delay</a:t>
            </a:r>
            <a:r>
              <a:rPr b="0" lang="fr-FR" sz="1800" spc="-1" strike="noStrike">
                <a:solidFill>
                  <a:srgbClr val="434f54"/>
                </a:solidFill>
                <a:latin typeface="Consolas"/>
              </a:rPr>
              <a:t>(</a:t>
            </a:r>
            <a:r>
              <a:rPr b="0" lang="fr-FR" sz="1800" spc="-1" strike="noStrike">
                <a:solidFill>
                  <a:srgbClr val="005c5f"/>
                </a:solidFill>
                <a:latin typeface="Consolas"/>
              </a:rPr>
              <a:t>2000</a:t>
            </a:r>
            <a:r>
              <a:rPr b="0" lang="fr-FR" sz="1800" spc="-1" strike="noStrike">
                <a:solidFill>
                  <a:srgbClr val="434f54"/>
                </a:solidFill>
                <a:latin typeface="Consolas"/>
              </a:rPr>
              <a:t>)</a:t>
            </a:r>
            <a:r>
              <a:rPr b="0" lang="fr-FR" sz="1800" spc="-1" strike="noStrike">
                <a:solidFill>
                  <a:srgbClr val="4e5b61"/>
                </a:solidFill>
                <a:latin typeface="Consolas"/>
              </a:rPr>
              <a:t>;</a:t>
            </a:r>
            <a:r>
              <a:rPr b="0" lang="fr-FR" sz="1800" spc="-1" strike="noStrike">
                <a:solidFill>
                  <a:srgbClr val="95a5a6"/>
                </a:solidFill>
                <a:latin typeface="Consolas"/>
              </a:rPr>
              <a:t> // Temps pour démarrage alimentation...</a:t>
            </a:r>
            <a:endParaRPr b="0" lang="fr-FR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br/>
            <a:r>
              <a:rPr b="0" lang="fr-FR" sz="1800" spc="-1" strike="noStrike">
                <a:solidFill>
                  <a:srgbClr val="4e5b61"/>
                </a:solidFill>
                <a:latin typeface="Consolas"/>
              </a:rPr>
              <a:t>  </a:t>
            </a:r>
            <a:r>
              <a:rPr b="0" lang="fr-FR" sz="1800" spc="-1" strike="noStrike">
                <a:solidFill>
                  <a:srgbClr val="d35400"/>
                </a:solidFill>
                <a:latin typeface="Consolas"/>
              </a:rPr>
              <a:t>Serial</a:t>
            </a:r>
            <a:r>
              <a:rPr b="0" lang="fr-FR" sz="1800" spc="-1" strike="noStrike">
                <a:solidFill>
                  <a:srgbClr val="4e5b61"/>
                </a:solidFill>
                <a:latin typeface="Consolas"/>
              </a:rPr>
              <a:t>.</a:t>
            </a:r>
            <a:r>
              <a:rPr b="0" lang="fr-FR" sz="1800" spc="-1" strike="noStrike">
                <a:solidFill>
                  <a:srgbClr val="d35400"/>
                </a:solidFill>
                <a:latin typeface="Consolas"/>
              </a:rPr>
              <a:t>begin</a:t>
            </a:r>
            <a:r>
              <a:rPr b="0" lang="fr-FR" sz="1800" spc="-1" strike="noStrike">
                <a:solidFill>
                  <a:srgbClr val="434f54"/>
                </a:solidFill>
                <a:latin typeface="Consolas"/>
              </a:rPr>
              <a:t>(</a:t>
            </a:r>
            <a:r>
              <a:rPr b="0" lang="fr-FR" sz="1800" spc="-1" strike="noStrike">
                <a:solidFill>
                  <a:srgbClr val="005c5f"/>
                </a:solidFill>
                <a:latin typeface="Consolas"/>
              </a:rPr>
              <a:t>115200</a:t>
            </a:r>
            <a:r>
              <a:rPr b="0" lang="fr-FR" sz="1800" spc="-1" strike="noStrike">
                <a:solidFill>
                  <a:srgbClr val="434f54"/>
                </a:solidFill>
                <a:latin typeface="Consolas"/>
              </a:rPr>
              <a:t>)</a:t>
            </a:r>
            <a:r>
              <a:rPr b="0" lang="fr-FR" sz="1800" spc="-1" strike="noStrike">
                <a:solidFill>
                  <a:srgbClr val="4e5b61"/>
                </a:solidFill>
                <a:latin typeface="Consolas"/>
              </a:rPr>
              <a:t>;</a:t>
            </a:r>
            <a:endParaRPr b="0" lang="fr-FR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br/>
            <a:r>
              <a:rPr b="0" lang="fr-FR" sz="1800" spc="-1" strike="noStrike">
                <a:solidFill>
                  <a:srgbClr val="4e5b61"/>
                </a:solidFill>
                <a:latin typeface="Consolas"/>
              </a:rPr>
              <a:t>  </a:t>
            </a:r>
            <a:r>
              <a:rPr b="0" lang="fr-FR" sz="1800" spc="-1" strike="noStrike">
                <a:solidFill>
                  <a:srgbClr val="d35400"/>
                </a:solidFill>
                <a:latin typeface="Consolas"/>
              </a:rPr>
              <a:t>Serial</a:t>
            </a:r>
            <a:r>
              <a:rPr b="0" lang="fr-FR" sz="1800" spc="-1" strike="noStrike">
                <a:solidFill>
                  <a:srgbClr val="4e5b61"/>
                </a:solidFill>
                <a:latin typeface="Consolas"/>
              </a:rPr>
              <a:t>.</a:t>
            </a:r>
            <a:r>
              <a:rPr b="0" lang="fr-FR" sz="1800" spc="-1" strike="noStrike">
                <a:solidFill>
                  <a:srgbClr val="d35400"/>
                </a:solidFill>
                <a:latin typeface="Consolas"/>
              </a:rPr>
              <a:t>println</a:t>
            </a:r>
            <a:r>
              <a:rPr b="0" lang="fr-FR" sz="1800" spc="-1" strike="noStrike">
                <a:solidFill>
                  <a:srgbClr val="434f54"/>
                </a:solidFill>
                <a:latin typeface="Consolas"/>
              </a:rPr>
              <a:t>(</a:t>
            </a:r>
            <a:r>
              <a:rPr b="0" lang="fr-FR" sz="1800" spc="-1" strike="noStrike">
                <a:solidFill>
                  <a:srgbClr val="005c5f"/>
                </a:solidFill>
                <a:latin typeface="Consolas"/>
              </a:rPr>
              <a:t>"\n\n============== Radio WiFi =============="</a:t>
            </a:r>
            <a:r>
              <a:rPr b="0" lang="fr-FR" sz="1800" spc="-1" strike="noStrike">
                <a:solidFill>
                  <a:srgbClr val="434f54"/>
                </a:solidFill>
                <a:latin typeface="Consolas"/>
              </a:rPr>
              <a:t>)</a:t>
            </a:r>
            <a:r>
              <a:rPr b="0" lang="fr-FR" sz="1800" spc="-1" strike="noStrike">
                <a:solidFill>
                  <a:srgbClr val="4e5b61"/>
                </a:solidFill>
                <a:latin typeface="Consolas"/>
              </a:rPr>
              <a:t>;</a:t>
            </a:r>
            <a:endParaRPr b="0" lang="fr-FR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800" spc="-1" strike="noStrike">
                <a:solidFill>
                  <a:srgbClr val="4e5b61"/>
                </a:solidFill>
                <a:latin typeface="Consolas"/>
              </a:rPr>
              <a:t>  </a:t>
            </a:r>
            <a:r>
              <a:rPr b="0" lang="fr-FR" sz="1800" spc="-1" strike="noStrike">
                <a:solidFill>
                  <a:srgbClr val="d35400"/>
                </a:solidFill>
                <a:latin typeface="Consolas"/>
              </a:rPr>
              <a:t>Serial</a:t>
            </a:r>
            <a:r>
              <a:rPr b="0" lang="fr-FR" sz="1800" spc="-1" strike="noStrike">
                <a:solidFill>
                  <a:srgbClr val="4e5b61"/>
                </a:solidFill>
                <a:latin typeface="Consolas"/>
              </a:rPr>
              <a:t>.</a:t>
            </a:r>
            <a:r>
              <a:rPr b="0" lang="fr-FR" sz="1800" spc="-1" strike="noStrike">
                <a:solidFill>
                  <a:srgbClr val="d35400"/>
                </a:solidFill>
                <a:latin typeface="Consolas"/>
              </a:rPr>
              <a:t>println</a:t>
            </a:r>
            <a:r>
              <a:rPr b="0" lang="fr-FR" sz="1800" spc="-1" strike="noStrike">
                <a:solidFill>
                  <a:srgbClr val="434f54"/>
                </a:solidFill>
                <a:latin typeface="Consolas"/>
              </a:rPr>
              <a:t>(</a:t>
            </a:r>
            <a:r>
              <a:rPr b="0" lang="fr-FR" sz="1800" spc="-1" strike="noStrike">
                <a:solidFill>
                  <a:srgbClr val="005c5f"/>
                </a:solidFill>
                <a:latin typeface="Consolas"/>
              </a:rPr>
              <a:t>""</a:t>
            </a:r>
            <a:r>
              <a:rPr b="0" lang="fr-FR" sz="1800" spc="-1" strike="noStrike">
                <a:solidFill>
                  <a:srgbClr val="434f54"/>
                </a:solidFill>
                <a:latin typeface="Consolas"/>
              </a:rPr>
              <a:t>)</a:t>
            </a:r>
            <a:r>
              <a:rPr b="0" lang="fr-FR" sz="1800" spc="-1" strike="noStrike">
                <a:solidFill>
                  <a:srgbClr val="4e5b61"/>
                </a:solidFill>
                <a:latin typeface="Consolas"/>
              </a:rPr>
              <a:t>;</a:t>
            </a:r>
            <a:endParaRPr b="0" lang="fr-FR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br/>
            <a:r>
              <a:rPr b="0" lang="fr-FR" sz="1800" spc="-1" strike="noStrike">
                <a:solidFill>
                  <a:srgbClr val="4e5b61"/>
                </a:solidFill>
                <a:latin typeface="Consolas"/>
              </a:rPr>
              <a:t>  </a:t>
            </a:r>
            <a:r>
              <a:rPr b="0" lang="fr-FR" sz="1800" spc="-1" strike="noStrike">
                <a:solidFill>
                  <a:srgbClr val="4e5b61"/>
                </a:solidFill>
                <a:latin typeface="Consolas"/>
              </a:rPr>
              <a:t>WiFiManager wm;</a:t>
            </a:r>
            <a:endParaRPr b="0" lang="fr-FR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800" spc="-1" strike="noStrike">
                <a:solidFill>
                  <a:srgbClr val="4e5b61"/>
                </a:solidFill>
                <a:latin typeface="Consolas"/>
              </a:rPr>
              <a:t>  </a:t>
            </a:r>
            <a:r>
              <a:rPr b="0" lang="fr-FR" sz="1800" spc="-1" strike="noStrike">
                <a:solidFill>
                  <a:srgbClr val="00979d"/>
                </a:solidFill>
                <a:latin typeface="Consolas"/>
              </a:rPr>
              <a:t>bool</a:t>
            </a:r>
            <a:r>
              <a:rPr b="0" lang="fr-FR" sz="1800" spc="-1" strike="noStrike">
                <a:solidFill>
                  <a:srgbClr val="4e5b61"/>
                </a:solidFill>
                <a:latin typeface="Consolas"/>
              </a:rPr>
              <a:t> res;</a:t>
            </a:r>
            <a:endParaRPr b="0" lang="fr-FR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800" spc="-1" strike="noStrike">
                <a:solidFill>
                  <a:srgbClr val="4e5b61"/>
                </a:solidFill>
                <a:latin typeface="Consolas"/>
              </a:rPr>
              <a:t>  </a:t>
            </a:r>
            <a:r>
              <a:rPr b="0" lang="fr-FR" sz="1800" spc="-1" strike="noStrike">
                <a:solidFill>
                  <a:srgbClr val="4e5b61"/>
                </a:solidFill>
                <a:latin typeface="Consolas"/>
              </a:rPr>
              <a:t>res = </a:t>
            </a:r>
            <a:r>
              <a:rPr b="0" lang="fr-FR" sz="1800" spc="-1" strike="noStrike">
                <a:solidFill>
                  <a:srgbClr val="d35400"/>
                </a:solidFill>
                <a:latin typeface="Consolas"/>
              </a:rPr>
              <a:t>wm</a:t>
            </a:r>
            <a:r>
              <a:rPr b="0" lang="fr-FR" sz="1800" spc="-1" strike="noStrike">
                <a:solidFill>
                  <a:srgbClr val="4e5b61"/>
                </a:solidFill>
                <a:latin typeface="Consolas"/>
              </a:rPr>
              <a:t>.</a:t>
            </a:r>
            <a:r>
              <a:rPr b="0" lang="fr-FR" sz="1800" spc="-1" strike="noStrike">
                <a:solidFill>
                  <a:srgbClr val="d35400"/>
                </a:solidFill>
                <a:latin typeface="Consolas"/>
              </a:rPr>
              <a:t>autoConnect</a:t>
            </a:r>
            <a:r>
              <a:rPr b="0" lang="fr-FR" sz="1800" spc="-1" strike="noStrike">
                <a:solidFill>
                  <a:srgbClr val="434f54"/>
                </a:solidFill>
                <a:latin typeface="Consolas"/>
              </a:rPr>
              <a:t>(</a:t>
            </a:r>
            <a:r>
              <a:rPr b="0" lang="fr-FR" sz="1800" spc="-1" strike="noStrike">
                <a:solidFill>
                  <a:srgbClr val="005c5f"/>
                </a:solidFill>
                <a:latin typeface="Consolas"/>
              </a:rPr>
              <a:t>"ModuleRadioInternet"</a:t>
            </a:r>
            <a:r>
              <a:rPr b="0" lang="fr-FR" sz="1800" spc="-1" strike="noStrike">
                <a:solidFill>
                  <a:srgbClr val="4e5b61"/>
                </a:solidFill>
                <a:latin typeface="Consolas"/>
              </a:rPr>
              <a:t>,</a:t>
            </a:r>
            <a:r>
              <a:rPr b="0" lang="fr-FR" sz="1800" spc="-1" strike="noStrike">
                <a:solidFill>
                  <a:srgbClr val="005c5f"/>
                </a:solidFill>
                <a:latin typeface="Consolas"/>
              </a:rPr>
              <a:t>"password"</a:t>
            </a:r>
            <a:r>
              <a:rPr b="0" lang="fr-FR" sz="1800" spc="-1" strike="noStrike">
                <a:solidFill>
                  <a:srgbClr val="434f54"/>
                </a:solidFill>
                <a:latin typeface="Consolas"/>
              </a:rPr>
              <a:t>)</a:t>
            </a:r>
            <a:r>
              <a:rPr b="0" lang="fr-FR" sz="1800" spc="-1" strike="noStrike">
                <a:solidFill>
                  <a:srgbClr val="4e5b61"/>
                </a:solidFill>
                <a:latin typeface="Consolas"/>
              </a:rPr>
              <a:t>;</a:t>
            </a:r>
            <a:r>
              <a:rPr b="0" lang="fr-FR" sz="1800" spc="-1" strike="noStrike">
                <a:solidFill>
                  <a:srgbClr val="95a5a6"/>
                </a:solidFill>
                <a:latin typeface="Consolas"/>
              </a:rPr>
              <a:t> // password protected ap</a:t>
            </a:r>
            <a:endParaRPr b="0" lang="fr-FR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800" spc="-1" strike="noStrike">
                <a:solidFill>
                  <a:srgbClr val="4e5b61"/>
                </a:solidFill>
                <a:latin typeface="Consolas"/>
              </a:rPr>
              <a:t>  </a:t>
            </a:r>
            <a:r>
              <a:rPr b="0" lang="fr-FR" sz="1800" spc="-1" strike="noStrike">
                <a:solidFill>
                  <a:srgbClr val="728e00"/>
                </a:solidFill>
                <a:latin typeface="Consolas"/>
              </a:rPr>
              <a:t>if</a:t>
            </a:r>
            <a:r>
              <a:rPr b="0" lang="fr-FR" sz="1800" spc="-1" strike="noStrike">
                <a:solidFill>
                  <a:srgbClr val="434f54"/>
                </a:solidFill>
                <a:latin typeface="Consolas"/>
              </a:rPr>
              <a:t>(</a:t>
            </a:r>
            <a:r>
              <a:rPr b="0" lang="fr-FR" sz="1800" spc="-1" strike="noStrike">
                <a:solidFill>
                  <a:srgbClr val="4e5b61"/>
                </a:solidFill>
                <a:latin typeface="Consolas"/>
              </a:rPr>
              <a:t>!res</a:t>
            </a:r>
            <a:r>
              <a:rPr b="0" lang="fr-FR" sz="1800" spc="-1" strike="noStrike">
                <a:solidFill>
                  <a:srgbClr val="434f54"/>
                </a:solidFill>
                <a:latin typeface="Consolas"/>
              </a:rPr>
              <a:t>)</a:t>
            </a:r>
            <a:r>
              <a:rPr b="0" lang="fr-FR" sz="1800" spc="-1" strike="noStrike">
                <a:solidFill>
                  <a:srgbClr val="4e5b61"/>
                </a:solidFill>
                <a:latin typeface="Consolas"/>
              </a:rPr>
              <a:t> </a:t>
            </a:r>
            <a:r>
              <a:rPr b="0" lang="fr-FR" sz="1800" spc="-1" strike="noStrike">
                <a:solidFill>
                  <a:srgbClr val="434f54"/>
                </a:solidFill>
                <a:latin typeface="Consolas"/>
              </a:rPr>
              <a:t>{</a:t>
            </a:r>
            <a:endParaRPr b="0" lang="fr-FR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800" spc="-1" strike="noStrike">
                <a:solidFill>
                  <a:srgbClr val="4e5b61"/>
                </a:solidFill>
                <a:latin typeface="Consolas"/>
              </a:rPr>
              <a:t>      </a:t>
            </a:r>
            <a:r>
              <a:rPr b="0" lang="fr-FR" sz="1800" spc="-1" strike="noStrike">
                <a:solidFill>
                  <a:srgbClr val="d35400"/>
                </a:solidFill>
                <a:latin typeface="Consolas"/>
              </a:rPr>
              <a:t>Serial</a:t>
            </a:r>
            <a:r>
              <a:rPr b="0" lang="fr-FR" sz="1800" spc="-1" strike="noStrike">
                <a:solidFill>
                  <a:srgbClr val="4e5b61"/>
                </a:solidFill>
                <a:latin typeface="Consolas"/>
              </a:rPr>
              <a:t>.</a:t>
            </a:r>
            <a:r>
              <a:rPr b="0" lang="fr-FR" sz="1800" spc="-1" strike="noStrike">
                <a:solidFill>
                  <a:srgbClr val="d35400"/>
                </a:solidFill>
                <a:latin typeface="Consolas"/>
              </a:rPr>
              <a:t>println</a:t>
            </a:r>
            <a:r>
              <a:rPr b="0" lang="fr-FR" sz="1800" spc="-1" strike="noStrike">
                <a:solidFill>
                  <a:srgbClr val="434f54"/>
                </a:solidFill>
                <a:latin typeface="Consolas"/>
              </a:rPr>
              <a:t>(</a:t>
            </a:r>
            <a:r>
              <a:rPr b="0" lang="fr-FR" sz="1800" spc="-1" strike="noStrike">
                <a:solidFill>
                  <a:srgbClr val="005c5f"/>
                </a:solidFill>
                <a:latin typeface="Consolas"/>
              </a:rPr>
              <a:t>"Connection au WiFi impossible !"</a:t>
            </a:r>
            <a:r>
              <a:rPr b="0" lang="fr-FR" sz="1800" spc="-1" strike="noStrike">
                <a:solidFill>
                  <a:srgbClr val="434f54"/>
                </a:solidFill>
                <a:latin typeface="Consolas"/>
              </a:rPr>
              <a:t>)</a:t>
            </a:r>
            <a:r>
              <a:rPr b="0" lang="fr-FR" sz="1800" spc="-1" strike="noStrike">
                <a:solidFill>
                  <a:srgbClr val="4e5b61"/>
                </a:solidFill>
                <a:latin typeface="Consolas"/>
              </a:rPr>
              <a:t>;</a:t>
            </a:r>
            <a:endParaRPr b="0" lang="fr-FR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800" spc="-1" strike="noStrike">
                <a:solidFill>
                  <a:srgbClr val="4e5b61"/>
                </a:solidFill>
                <a:latin typeface="Consolas"/>
              </a:rPr>
              <a:t>  </a:t>
            </a:r>
            <a:r>
              <a:rPr b="0" lang="fr-FR" sz="1800" spc="-1" strike="noStrike">
                <a:solidFill>
                  <a:srgbClr val="434f54"/>
                </a:solidFill>
                <a:latin typeface="Consolas"/>
              </a:rPr>
              <a:t>}</a:t>
            </a:r>
            <a:endParaRPr b="0" lang="fr-FR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800" spc="-1" strike="noStrike">
                <a:solidFill>
                  <a:srgbClr val="4e5b61"/>
                </a:solidFill>
                <a:latin typeface="Consolas"/>
              </a:rPr>
              <a:t>  </a:t>
            </a:r>
            <a:r>
              <a:rPr b="0" lang="fr-FR" sz="1800" spc="-1" strike="noStrike">
                <a:solidFill>
                  <a:srgbClr val="728e00"/>
                </a:solidFill>
                <a:latin typeface="Consolas"/>
              </a:rPr>
              <a:t>else</a:t>
            </a:r>
            <a:r>
              <a:rPr b="0" lang="fr-FR" sz="1800" spc="-1" strike="noStrike">
                <a:solidFill>
                  <a:srgbClr val="4e5b61"/>
                </a:solidFill>
                <a:latin typeface="Consolas"/>
              </a:rPr>
              <a:t> </a:t>
            </a:r>
            <a:r>
              <a:rPr b="0" lang="fr-FR" sz="1800" spc="-1" strike="noStrike">
                <a:solidFill>
                  <a:srgbClr val="434f54"/>
                </a:solidFill>
                <a:latin typeface="Consolas"/>
              </a:rPr>
              <a:t>{</a:t>
            </a:r>
            <a:endParaRPr b="0" lang="fr-FR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800" spc="-1" strike="noStrike">
                <a:solidFill>
                  <a:srgbClr val="95a5a6"/>
                </a:solidFill>
                <a:latin typeface="Consolas"/>
              </a:rPr>
              <a:t>      </a:t>
            </a:r>
            <a:r>
              <a:rPr b="0" lang="fr-FR" sz="1800" spc="-1" strike="noStrike">
                <a:solidFill>
                  <a:srgbClr val="95a5a6"/>
                </a:solidFill>
                <a:latin typeface="Consolas"/>
              </a:rPr>
              <a:t>//if you get here you have connected to the WiFi    </a:t>
            </a:r>
            <a:endParaRPr b="0" lang="fr-FR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800" spc="-1" strike="noStrike">
                <a:solidFill>
                  <a:srgbClr val="4e5b61"/>
                </a:solidFill>
                <a:latin typeface="Consolas"/>
              </a:rPr>
              <a:t>      </a:t>
            </a:r>
            <a:r>
              <a:rPr b="0" lang="fr-FR" sz="1800" spc="-1" strike="noStrike">
                <a:solidFill>
                  <a:srgbClr val="d35400"/>
                </a:solidFill>
                <a:latin typeface="Consolas"/>
              </a:rPr>
              <a:t>Serial</a:t>
            </a:r>
            <a:r>
              <a:rPr b="0" lang="fr-FR" sz="1800" spc="-1" strike="noStrike">
                <a:solidFill>
                  <a:srgbClr val="4e5b61"/>
                </a:solidFill>
                <a:latin typeface="Consolas"/>
              </a:rPr>
              <a:t>.</a:t>
            </a:r>
            <a:r>
              <a:rPr b="0" lang="fr-FR" sz="1800" spc="-1" strike="noStrike">
                <a:solidFill>
                  <a:srgbClr val="d35400"/>
                </a:solidFill>
                <a:latin typeface="Consolas"/>
              </a:rPr>
              <a:t>println</a:t>
            </a:r>
            <a:r>
              <a:rPr b="0" lang="fr-FR" sz="1800" spc="-1" strike="noStrike">
                <a:solidFill>
                  <a:srgbClr val="434f54"/>
                </a:solidFill>
                <a:latin typeface="Consolas"/>
              </a:rPr>
              <a:t>(</a:t>
            </a:r>
            <a:r>
              <a:rPr b="0" lang="fr-FR" sz="1800" spc="-1" strike="noStrike">
                <a:solidFill>
                  <a:srgbClr val="005c5f"/>
                </a:solidFill>
                <a:latin typeface="Consolas"/>
              </a:rPr>
              <a:t>"Connecté au WiFi !"</a:t>
            </a:r>
            <a:r>
              <a:rPr b="0" lang="fr-FR" sz="1800" spc="-1" strike="noStrike">
                <a:solidFill>
                  <a:srgbClr val="434f54"/>
                </a:solidFill>
                <a:latin typeface="Consolas"/>
              </a:rPr>
              <a:t>)</a:t>
            </a:r>
            <a:r>
              <a:rPr b="0" lang="fr-FR" sz="1800" spc="-1" strike="noStrike">
                <a:solidFill>
                  <a:srgbClr val="4e5b61"/>
                </a:solidFill>
                <a:latin typeface="Consolas"/>
              </a:rPr>
              <a:t>;</a:t>
            </a:r>
            <a:endParaRPr b="0" lang="fr-FR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800" spc="-1" strike="noStrike">
                <a:solidFill>
                  <a:srgbClr val="4e5b61"/>
                </a:solidFill>
                <a:latin typeface="Consolas"/>
              </a:rPr>
              <a:t>  </a:t>
            </a:r>
            <a:r>
              <a:rPr b="0" lang="fr-FR" sz="1800" spc="-1" strike="noStrike">
                <a:solidFill>
                  <a:srgbClr val="434f54"/>
                </a:solidFill>
                <a:latin typeface="Consolas"/>
              </a:rPr>
              <a:t>}</a:t>
            </a:r>
            <a:endParaRPr b="0" lang="fr-FR" sz="1800" spc="-1" strike="noStrike">
              <a:latin typeface="Arial"/>
            </a:endParaRPr>
          </a:p>
        </p:txBody>
      </p:sp>
      <p:sp>
        <p:nvSpPr>
          <p:cNvPr id="117" name="ZoneTexte 11"/>
          <p:cNvSpPr/>
          <p:nvPr/>
        </p:nvSpPr>
        <p:spPr>
          <a:xfrm>
            <a:off x="107640" y="768960"/>
            <a:ext cx="380484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fr-FR" sz="1800" spc="-1" strike="noStrike">
                <a:solidFill>
                  <a:srgbClr val="ff0000"/>
                </a:solidFill>
                <a:latin typeface="Calibri"/>
              </a:rPr>
              <a:t>Programme setup()</a:t>
            </a:r>
            <a:endParaRPr b="0" lang="fr-FR" sz="1800" spc="-1" strike="noStrike">
              <a:latin typeface="Arial"/>
            </a:endParaRPr>
          </a:p>
        </p:txBody>
      </p:sp>
      <p:sp>
        <p:nvSpPr>
          <p:cNvPr id="118" name="Espace réservé du numéro de diapositive 1"/>
          <p:cNvSpPr txBox="1"/>
          <p:nvPr/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r">
              <a:lnSpc>
                <a:spcPct val="100000"/>
              </a:lnSpc>
            </a:pPr>
            <a:fld id="{87B4CD3F-A178-4CEA-B7FC-F563882146F3}" type="slidenum">
              <a:rPr b="0" lang="fr-FR" sz="1200" spc="-1" strike="noStrike">
                <a:solidFill>
                  <a:srgbClr val="8b8b8b"/>
                </a:solidFill>
                <a:latin typeface="Calibri"/>
              </a:rPr>
              <a:t>19</a:t>
            </a:fld>
            <a:endParaRPr b="0" lang="fr-FR" sz="12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Titre 1"/>
          <p:cNvSpPr txBox="1"/>
          <p:nvPr/>
        </p:nvSpPr>
        <p:spPr>
          <a:xfrm>
            <a:off x="0" y="0"/>
            <a:ext cx="12191760" cy="101232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rmAutofit/>
          </a:bodyPr>
          <a:p>
            <a:pPr algn="ctr">
              <a:lnSpc>
                <a:spcPct val="90000"/>
              </a:lnSpc>
            </a:pPr>
            <a:r>
              <a:rPr b="0" lang="fr-FR" sz="6000" spc="-1" strike="noStrike">
                <a:solidFill>
                  <a:srgbClr val="000000"/>
                </a:solidFill>
                <a:latin typeface="Calibri Light"/>
              </a:rPr>
              <a:t>Initialisation des communications</a:t>
            </a:r>
            <a:endParaRPr b="0" lang="fr-FR" sz="60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0" name="ZoneTexte 4"/>
          <p:cNvSpPr/>
          <p:nvPr/>
        </p:nvSpPr>
        <p:spPr>
          <a:xfrm>
            <a:off x="107640" y="1276200"/>
            <a:ext cx="11976480" cy="5028120"/>
          </a:xfrm>
          <a:prstGeom prst="rect">
            <a:avLst/>
          </a:prstGeom>
          <a:noFill/>
          <a:ln w="7620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br/>
            <a:r>
              <a:rPr b="0" lang="fr-FR" sz="1800" spc="-1" strike="noStrike">
                <a:solidFill>
                  <a:srgbClr val="4e5b61"/>
                </a:solidFill>
                <a:latin typeface="Consolas"/>
              </a:rPr>
              <a:t>  </a:t>
            </a:r>
            <a:r>
              <a:rPr b="0" lang="fr-FR" sz="1800" spc="-1" strike="noStrike">
                <a:solidFill>
                  <a:srgbClr val="d35400"/>
                </a:solidFill>
                <a:latin typeface="Consolas"/>
              </a:rPr>
              <a:t>client</a:t>
            </a:r>
            <a:r>
              <a:rPr b="0" lang="fr-FR" sz="1800" spc="-1" strike="noStrike">
                <a:solidFill>
                  <a:srgbClr val="4e5b61"/>
                </a:solidFill>
                <a:latin typeface="Consolas"/>
              </a:rPr>
              <a:t>.</a:t>
            </a:r>
            <a:r>
              <a:rPr b="0" lang="fr-FR" sz="1800" spc="-1" strike="noStrike">
                <a:solidFill>
                  <a:srgbClr val="d35400"/>
                </a:solidFill>
                <a:latin typeface="Consolas"/>
              </a:rPr>
              <a:t>setServer</a:t>
            </a:r>
            <a:r>
              <a:rPr b="0" lang="fr-FR" sz="1800" spc="-1" strike="noStrike">
                <a:solidFill>
                  <a:srgbClr val="434f54"/>
                </a:solidFill>
                <a:latin typeface="Consolas"/>
              </a:rPr>
              <a:t>(</a:t>
            </a:r>
            <a:r>
              <a:rPr b="0" lang="fr-FR" sz="1800" spc="-1" strike="noStrike">
                <a:solidFill>
                  <a:srgbClr val="4e5b61"/>
                </a:solidFill>
                <a:latin typeface="Consolas"/>
              </a:rPr>
              <a:t>mqttServer, mqttPort</a:t>
            </a:r>
            <a:r>
              <a:rPr b="0" lang="fr-FR" sz="1800" spc="-1" strike="noStrike">
                <a:solidFill>
                  <a:srgbClr val="434f54"/>
                </a:solidFill>
                <a:latin typeface="Consolas"/>
              </a:rPr>
              <a:t>)</a:t>
            </a:r>
            <a:r>
              <a:rPr b="0" lang="fr-FR" sz="1800" spc="-1" strike="noStrike">
                <a:solidFill>
                  <a:srgbClr val="4e5b61"/>
                </a:solidFill>
                <a:latin typeface="Consolas"/>
              </a:rPr>
              <a:t>; </a:t>
            </a:r>
            <a:endParaRPr b="0" lang="fr-FR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800" spc="-1" strike="noStrike">
                <a:solidFill>
                  <a:srgbClr val="4e5b61"/>
                </a:solidFill>
                <a:latin typeface="Consolas"/>
              </a:rPr>
              <a:t>  </a:t>
            </a:r>
            <a:r>
              <a:rPr b="0" lang="fr-FR" sz="1800" spc="-1" strike="noStrike">
                <a:solidFill>
                  <a:srgbClr val="d35400"/>
                </a:solidFill>
                <a:latin typeface="Consolas"/>
              </a:rPr>
              <a:t>client</a:t>
            </a:r>
            <a:r>
              <a:rPr b="0" lang="fr-FR" sz="1800" spc="-1" strike="noStrike">
                <a:solidFill>
                  <a:srgbClr val="4e5b61"/>
                </a:solidFill>
                <a:latin typeface="Consolas"/>
              </a:rPr>
              <a:t>.</a:t>
            </a:r>
            <a:r>
              <a:rPr b="0" lang="fr-FR" sz="1800" spc="-1" strike="noStrike">
                <a:solidFill>
                  <a:srgbClr val="d35400"/>
                </a:solidFill>
                <a:latin typeface="Consolas"/>
              </a:rPr>
              <a:t>setCallback</a:t>
            </a:r>
            <a:r>
              <a:rPr b="0" lang="fr-FR" sz="1800" spc="-1" strike="noStrike">
                <a:solidFill>
                  <a:srgbClr val="434f54"/>
                </a:solidFill>
                <a:latin typeface="Consolas"/>
              </a:rPr>
              <a:t>(</a:t>
            </a:r>
            <a:r>
              <a:rPr b="0" lang="fr-FR" sz="1800" spc="-1" strike="noStrike">
                <a:solidFill>
                  <a:srgbClr val="4e5b61"/>
                </a:solidFill>
                <a:latin typeface="Consolas"/>
              </a:rPr>
              <a:t>MQTTcallback</a:t>
            </a:r>
            <a:r>
              <a:rPr b="0" lang="fr-FR" sz="1800" spc="-1" strike="noStrike">
                <a:solidFill>
                  <a:srgbClr val="434f54"/>
                </a:solidFill>
                <a:latin typeface="Consolas"/>
              </a:rPr>
              <a:t>)</a:t>
            </a:r>
            <a:r>
              <a:rPr b="0" lang="fr-FR" sz="1800" spc="-1" strike="noStrike">
                <a:solidFill>
                  <a:srgbClr val="4e5b61"/>
                </a:solidFill>
                <a:latin typeface="Consolas"/>
              </a:rPr>
              <a:t>;</a:t>
            </a:r>
            <a:endParaRPr b="0" lang="fr-FR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800" spc="-1" strike="noStrike">
                <a:solidFill>
                  <a:srgbClr val="4e5b61"/>
                </a:solidFill>
                <a:latin typeface="Consolas"/>
              </a:rPr>
              <a:t>  </a:t>
            </a:r>
            <a:r>
              <a:rPr b="0" lang="fr-FR" sz="1800" spc="-1" strike="noStrike">
                <a:solidFill>
                  <a:srgbClr val="4e5b61"/>
                </a:solidFill>
                <a:latin typeface="Consolas"/>
              </a:rPr>
              <a:t>clientNameWifi = </a:t>
            </a:r>
            <a:r>
              <a:rPr b="0" lang="fr-FR" sz="1800" spc="-1" strike="noStrike">
                <a:solidFill>
                  <a:srgbClr val="005c5f"/>
                </a:solidFill>
                <a:latin typeface="Consolas"/>
              </a:rPr>
              <a:t>"WebRadio_ESP32___"</a:t>
            </a:r>
            <a:r>
              <a:rPr b="0" lang="fr-FR" sz="1800" spc="-1" strike="noStrike">
                <a:solidFill>
                  <a:srgbClr val="4e5b61"/>
                </a:solidFill>
                <a:latin typeface="Consolas"/>
              </a:rPr>
              <a:t> + </a:t>
            </a:r>
            <a:r>
              <a:rPr b="0" lang="fr-FR" sz="1800" spc="-1" strike="noStrike">
                <a:solidFill>
                  <a:srgbClr val="d35400"/>
                </a:solidFill>
                <a:latin typeface="Consolas"/>
              </a:rPr>
              <a:t>String</a:t>
            </a:r>
            <a:r>
              <a:rPr b="0" lang="fr-FR" sz="1800" spc="-1" strike="noStrike">
                <a:solidFill>
                  <a:srgbClr val="434f54"/>
                </a:solidFill>
                <a:latin typeface="Consolas"/>
              </a:rPr>
              <a:t>(</a:t>
            </a:r>
            <a:r>
              <a:rPr b="0" lang="fr-FR" sz="1800" spc="-1" strike="noStrike">
                <a:solidFill>
                  <a:srgbClr val="d35400"/>
                </a:solidFill>
                <a:latin typeface="Consolas"/>
              </a:rPr>
              <a:t>WiFi</a:t>
            </a:r>
            <a:r>
              <a:rPr b="0" lang="fr-FR" sz="1800" spc="-1" strike="noStrike">
                <a:solidFill>
                  <a:srgbClr val="4e5b61"/>
                </a:solidFill>
                <a:latin typeface="Consolas"/>
              </a:rPr>
              <a:t>.</a:t>
            </a:r>
            <a:r>
              <a:rPr b="0" lang="fr-FR" sz="1800" spc="-1" strike="noStrike">
                <a:solidFill>
                  <a:srgbClr val="d35400"/>
                </a:solidFill>
                <a:latin typeface="Consolas"/>
              </a:rPr>
              <a:t>macAddress</a:t>
            </a:r>
            <a:r>
              <a:rPr b="0" lang="fr-FR" sz="1800" spc="-1" strike="noStrike">
                <a:solidFill>
                  <a:srgbClr val="434f54"/>
                </a:solidFill>
                <a:latin typeface="Consolas"/>
              </a:rPr>
              <a:t>())</a:t>
            </a:r>
            <a:r>
              <a:rPr b="0" lang="fr-FR" sz="1800" spc="-1" strike="noStrike">
                <a:solidFill>
                  <a:srgbClr val="4e5b61"/>
                </a:solidFill>
                <a:latin typeface="Consolas"/>
              </a:rPr>
              <a:t>;</a:t>
            </a:r>
            <a:endParaRPr b="0" lang="fr-FR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800" spc="-1" strike="noStrike">
                <a:solidFill>
                  <a:srgbClr val="4e5b61"/>
                </a:solidFill>
                <a:latin typeface="Consolas"/>
              </a:rPr>
              <a:t>  </a:t>
            </a:r>
            <a:r>
              <a:rPr b="0" lang="fr-FR" sz="1800" spc="-1" strike="noStrike">
                <a:solidFill>
                  <a:srgbClr val="d35400"/>
                </a:solidFill>
                <a:latin typeface="Consolas"/>
              </a:rPr>
              <a:t>reconnect</a:t>
            </a:r>
            <a:r>
              <a:rPr b="0" lang="fr-FR" sz="1800" spc="-1" strike="noStrike">
                <a:solidFill>
                  <a:srgbClr val="434f54"/>
                </a:solidFill>
                <a:latin typeface="Consolas"/>
              </a:rPr>
              <a:t>()</a:t>
            </a:r>
            <a:r>
              <a:rPr b="0" lang="fr-FR" sz="1800" spc="-1" strike="noStrike">
                <a:solidFill>
                  <a:srgbClr val="4e5b61"/>
                </a:solidFill>
                <a:latin typeface="Consolas"/>
              </a:rPr>
              <a:t>;</a:t>
            </a:r>
            <a:endParaRPr b="0" lang="fr-FR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800" spc="-1" strike="noStrike">
                <a:solidFill>
                  <a:srgbClr val="4e5b61"/>
                </a:solidFill>
                <a:latin typeface="Consolas"/>
              </a:rPr>
              <a:t>  </a:t>
            </a:r>
            <a:endParaRPr b="0" lang="fr-FR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800" spc="-1" strike="noStrike">
                <a:solidFill>
                  <a:srgbClr val="4e5b61"/>
                </a:solidFill>
                <a:latin typeface="Consolas"/>
              </a:rPr>
              <a:t>  </a:t>
            </a:r>
            <a:r>
              <a:rPr b="0" lang="fr-FR" sz="1800" spc="-1" strike="noStrike">
                <a:solidFill>
                  <a:srgbClr val="d35400"/>
                </a:solidFill>
                <a:latin typeface="Consolas"/>
              </a:rPr>
              <a:t>SPI</a:t>
            </a:r>
            <a:r>
              <a:rPr b="0" lang="fr-FR" sz="1800" spc="-1" strike="noStrike">
                <a:solidFill>
                  <a:srgbClr val="4e5b61"/>
                </a:solidFill>
                <a:latin typeface="Consolas"/>
              </a:rPr>
              <a:t>.</a:t>
            </a:r>
            <a:r>
              <a:rPr b="0" lang="fr-FR" sz="1800" spc="-1" strike="noStrike">
                <a:solidFill>
                  <a:srgbClr val="d35400"/>
                </a:solidFill>
                <a:latin typeface="Consolas"/>
              </a:rPr>
              <a:t>setHwCs</a:t>
            </a:r>
            <a:r>
              <a:rPr b="0" lang="fr-FR" sz="1800" spc="-1" strike="noStrike">
                <a:solidFill>
                  <a:srgbClr val="434f54"/>
                </a:solidFill>
                <a:latin typeface="Consolas"/>
              </a:rPr>
              <a:t>(</a:t>
            </a:r>
            <a:r>
              <a:rPr b="0" lang="fr-FR" sz="1800" spc="-1" strike="noStrike">
                <a:solidFill>
                  <a:srgbClr val="005c5f"/>
                </a:solidFill>
                <a:latin typeface="Consolas"/>
              </a:rPr>
              <a:t>true</a:t>
            </a:r>
            <a:r>
              <a:rPr b="0" lang="fr-FR" sz="1800" spc="-1" strike="noStrike">
                <a:solidFill>
                  <a:srgbClr val="434f54"/>
                </a:solidFill>
                <a:latin typeface="Consolas"/>
              </a:rPr>
              <a:t>)</a:t>
            </a:r>
            <a:r>
              <a:rPr b="0" lang="fr-FR" sz="1800" spc="-1" strike="noStrike">
                <a:solidFill>
                  <a:srgbClr val="4e5b61"/>
                </a:solidFill>
                <a:latin typeface="Consolas"/>
              </a:rPr>
              <a:t>;</a:t>
            </a:r>
            <a:endParaRPr b="0" lang="fr-FR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800" spc="-1" strike="noStrike">
                <a:solidFill>
                  <a:srgbClr val="4e5b61"/>
                </a:solidFill>
                <a:latin typeface="Consolas"/>
              </a:rPr>
              <a:t>  </a:t>
            </a:r>
            <a:r>
              <a:rPr b="0" lang="fr-FR" sz="1800" spc="-1" strike="noStrike">
                <a:solidFill>
                  <a:srgbClr val="d35400"/>
                </a:solidFill>
                <a:latin typeface="Consolas"/>
              </a:rPr>
              <a:t>SPI</a:t>
            </a:r>
            <a:r>
              <a:rPr b="0" lang="fr-FR" sz="1800" spc="-1" strike="noStrike">
                <a:solidFill>
                  <a:srgbClr val="4e5b61"/>
                </a:solidFill>
                <a:latin typeface="Consolas"/>
              </a:rPr>
              <a:t>.</a:t>
            </a:r>
            <a:r>
              <a:rPr b="0" lang="fr-FR" sz="1800" spc="-1" strike="noStrike">
                <a:solidFill>
                  <a:srgbClr val="d35400"/>
                </a:solidFill>
                <a:latin typeface="Consolas"/>
              </a:rPr>
              <a:t>begin</a:t>
            </a:r>
            <a:r>
              <a:rPr b="0" lang="fr-FR" sz="1800" spc="-1" strike="noStrike">
                <a:solidFill>
                  <a:srgbClr val="434f54"/>
                </a:solidFill>
                <a:latin typeface="Consolas"/>
              </a:rPr>
              <a:t>()</a:t>
            </a:r>
            <a:r>
              <a:rPr b="0" lang="fr-FR" sz="1800" spc="-1" strike="noStrike">
                <a:solidFill>
                  <a:srgbClr val="4e5b61"/>
                </a:solidFill>
                <a:latin typeface="Consolas"/>
              </a:rPr>
              <a:t>;</a:t>
            </a:r>
            <a:endParaRPr b="0" lang="fr-FR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800" spc="-1" strike="noStrike">
                <a:solidFill>
                  <a:srgbClr val="4e5b61"/>
                </a:solidFill>
                <a:latin typeface="Consolas"/>
              </a:rPr>
              <a:t>  </a:t>
            </a:r>
            <a:r>
              <a:rPr b="0" lang="fr-FR" sz="1800" spc="-1" strike="noStrike">
                <a:solidFill>
                  <a:srgbClr val="d35400"/>
                </a:solidFill>
                <a:latin typeface="Consolas"/>
              </a:rPr>
              <a:t>delay</a:t>
            </a:r>
            <a:r>
              <a:rPr b="0" lang="fr-FR" sz="1800" spc="-1" strike="noStrike">
                <a:solidFill>
                  <a:srgbClr val="434f54"/>
                </a:solidFill>
                <a:latin typeface="Consolas"/>
              </a:rPr>
              <a:t>(</a:t>
            </a:r>
            <a:r>
              <a:rPr b="0" lang="fr-FR" sz="1800" spc="-1" strike="noStrike">
                <a:solidFill>
                  <a:srgbClr val="005c5f"/>
                </a:solidFill>
                <a:latin typeface="Consolas"/>
              </a:rPr>
              <a:t>1000</a:t>
            </a:r>
            <a:r>
              <a:rPr b="0" lang="fr-FR" sz="1800" spc="-1" strike="noStrike">
                <a:solidFill>
                  <a:srgbClr val="434f54"/>
                </a:solidFill>
                <a:latin typeface="Consolas"/>
              </a:rPr>
              <a:t>)</a:t>
            </a:r>
            <a:r>
              <a:rPr b="0" lang="fr-FR" sz="1800" spc="-1" strike="noStrike">
                <a:solidFill>
                  <a:srgbClr val="4e5b61"/>
                </a:solidFill>
                <a:latin typeface="Consolas"/>
              </a:rPr>
              <a:t>;</a:t>
            </a:r>
            <a:r>
              <a:rPr b="0" lang="fr-FR" sz="1800" spc="-1" strike="noStrike">
                <a:solidFill>
                  <a:srgbClr val="95a5a6"/>
                </a:solidFill>
                <a:latin typeface="Consolas"/>
              </a:rPr>
              <a:t> // Temps pour établissement SPI...</a:t>
            </a:r>
            <a:endParaRPr b="0" lang="fr-FR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800" spc="-1" strike="noStrike">
                <a:solidFill>
                  <a:srgbClr val="4e5b61"/>
                </a:solidFill>
                <a:latin typeface="Consolas"/>
              </a:rPr>
              <a:t>  </a:t>
            </a:r>
            <a:endParaRPr b="0" lang="fr-FR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800" spc="-1" strike="noStrike">
                <a:solidFill>
                  <a:srgbClr val="4e5b61"/>
                </a:solidFill>
                <a:latin typeface="Consolas"/>
              </a:rPr>
              <a:t>  </a:t>
            </a:r>
            <a:r>
              <a:rPr b="0" lang="fr-FR" sz="1800" spc="-1" strike="noStrike">
                <a:solidFill>
                  <a:srgbClr val="728e00"/>
                </a:solidFill>
                <a:latin typeface="Consolas"/>
              </a:rPr>
              <a:t>if</a:t>
            </a:r>
            <a:r>
              <a:rPr b="0" lang="fr-FR" sz="1800" spc="-1" strike="noStrike">
                <a:solidFill>
                  <a:srgbClr val="4e5b61"/>
                </a:solidFill>
                <a:latin typeface="Consolas"/>
              </a:rPr>
              <a:t> </a:t>
            </a:r>
            <a:r>
              <a:rPr b="0" lang="fr-FR" sz="1800" spc="-1" strike="noStrike">
                <a:solidFill>
                  <a:srgbClr val="434f54"/>
                </a:solidFill>
                <a:latin typeface="Consolas"/>
              </a:rPr>
              <a:t>(</a:t>
            </a:r>
            <a:r>
              <a:rPr b="0" lang="fr-FR" sz="1800" spc="-1" strike="noStrike">
                <a:solidFill>
                  <a:srgbClr val="4e5b61"/>
                </a:solidFill>
                <a:latin typeface="Consolas"/>
              </a:rPr>
              <a:t>!</a:t>
            </a:r>
            <a:r>
              <a:rPr b="0" lang="fr-FR" sz="1800" spc="-1" strike="noStrike">
                <a:solidFill>
                  <a:srgbClr val="d35400"/>
                </a:solidFill>
                <a:latin typeface="Consolas"/>
              </a:rPr>
              <a:t>stream</a:t>
            </a:r>
            <a:r>
              <a:rPr b="0" lang="fr-FR" sz="1800" spc="-1" strike="noStrike">
                <a:solidFill>
                  <a:srgbClr val="4e5b61"/>
                </a:solidFill>
                <a:latin typeface="Consolas"/>
              </a:rPr>
              <a:t>.</a:t>
            </a:r>
            <a:r>
              <a:rPr b="0" lang="fr-FR" sz="1800" spc="-1" strike="noStrike">
                <a:solidFill>
                  <a:srgbClr val="d35400"/>
                </a:solidFill>
                <a:latin typeface="Consolas"/>
              </a:rPr>
              <a:t>startDecoder</a:t>
            </a:r>
            <a:r>
              <a:rPr b="0" lang="fr-FR" sz="1800" spc="-1" strike="noStrike">
                <a:solidFill>
                  <a:srgbClr val="434f54"/>
                </a:solidFill>
                <a:latin typeface="Consolas"/>
              </a:rPr>
              <a:t>(</a:t>
            </a:r>
            <a:r>
              <a:rPr b="0" lang="fr-FR" sz="1800" spc="-1" strike="noStrike">
                <a:solidFill>
                  <a:srgbClr val="4e5b61"/>
                </a:solidFill>
                <a:latin typeface="Consolas"/>
              </a:rPr>
              <a:t>VS1053_CS, VS1053_DCS, VS1053_DREQ</a:t>
            </a:r>
            <a:r>
              <a:rPr b="0" lang="fr-FR" sz="1800" spc="-1" strike="noStrike">
                <a:solidFill>
                  <a:srgbClr val="434f54"/>
                </a:solidFill>
                <a:latin typeface="Consolas"/>
              </a:rPr>
              <a:t>)</a:t>
            </a:r>
            <a:r>
              <a:rPr b="0" lang="fr-FR" sz="1800" spc="-1" strike="noStrike">
                <a:solidFill>
                  <a:srgbClr val="4e5b61"/>
                </a:solidFill>
                <a:latin typeface="Consolas"/>
              </a:rPr>
              <a:t> || !</a:t>
            </a:r>
            <a:r>
              <a:rPr b="0" lang="fr-FR" sz="1800" spc="-1" strike="noStrike">
                <a:solidFill>
                  <a:srgbClr val="d35400"/>
                </a:solidFill>
                <a:latin typeface="Consolas"/>
              </a:rPr>
              <a:t>stream</a:t>
            </a:r>
            <a:r>
              <a:rPr b="0" lang="fr-FR" sz="1800" spc="-1" strike="noStrike">
                <a:solidFill>
                  <a:srgbClr val="4e5b61"/>
                </a:solidFill>
                <a:latin typeface="Consolas"/>
              </a:rPr>
              <a:t>.</a:t>
            </a:r>
            <a:r>
              <a:rPr b="0" lang="fr-FR" sz="1800" spc="-1" strike="noStrike">
                <a:solidFill>
                  <a:srgbClr val="d35400"/>
                </a:solidFill>
                <a:latin typeface="Consolas"/>
              </a:rPr>
              <a:t>isChipConnected</a:t>
            </a:r>
            <a:r>
              <a:rPr b="0" lang="fr-FR" sz="1800" spc="-1" strike="noStrike">
                <a:solidFill>
                  <a:srgbClr val="434f54"/>
                </a:solidFill>
                <a:latin typeface="Consolas"/>
              </a:rPr>
              <a:t>())</a:t>
            </a:r>
            <a:endParaRPr b="0" lang="fr-FR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800" spc="-1" strike="noStrike">
                <a:solidFill>
                  <a:srgbClr val="4e5b61"/>
                </a:solidFill>
                <a:latin typeface="Consolas"/>
              </a:rPr>
              <a:t>    </a:t>
            </a:r>
            <a:r>
              <a:rPr b="0" lang="fr-FR" sz="1800" spc="-1" strike="noStrike">
                <a:solidFill>
                  <a:srgbClr val="434f54"/>
                </a:solidFill>
                <a:latin typeface="Consolas"/>
              </a:rPr>
              <a:t>{</a:t>
            </a:r>
            <a:endParaRPr b="0" lang="fr-FR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800" spc="-1" strike="noStrike">
                <a:solidFill>
                  <a:srgbClr val="4e5b61"/>
                </a:solidFill>
                <a:latin typeface="Consolas"/>
              </a:rPr>
              <a:t>        </a:t>
            </a:r>
            <a:r>
              <a:rPr b="0" lang="fr-FR" sz="1800" spc="-1" strike="noStrike">
                <a:solidFill>
                  <a:srgbClr val="d35400"/>
                </a:solidFill>
                <a:latin typeface="Consolas"/>
              </a:rPr>
              <a:t>Serial</a:t>
            </a:r>
            <a:r>
              <a:rPr b="0" lang="fr-FR" sz="1800" spc="-1" strike="noStrike">
                <a:solidFill>
                  <a:srgbClr val="4e5b61"/>
                </a:solidFill>
                <a:latin typeface="Consolas"/>
              </a:rPr>
              <a:t>.</a:t>
            </a:r>
            <a:r>
              <a:rPr b="0" lang="fr-FR" sz="1800" spc="-1" strike="noStrike">
                <a:solidFill>
                  <a:srgbClr val="d35400"/>
                </a:solidFill>
                <a:latin typeface="Consolas"/>
              </a:rPr>
              <a:t>println</a:t>
            </a:r>
            <a:r>
              <a:rPr b="0" lang="fr-FR" sz="1800" spc="-1" strike="noStrike">
                <a:solidFill>
                  <a:srgbClr val="434f54"/>
                </a:solidFill>
                <a:latin typeface="Consolas"/>
              </a:rPr>
              <a:t>(</a:t>
            </a:r>
            <a:r>
              <a:rPr b="0" lang="fr-FR" sz="1800" spc="-1" strike="noStrike">
                <a:solidFill>
                  <a:srgbClr val="005c5f"/>
                </a:solidFill>
                <a:latin typeface="Consolas"/>
              </a:rPr>
              <a:t>"Décodage impossible !"</a:t>
            </a:r>
            <a:r>
              <a:rPr b="0" lang="fr-FR" sz="1800" spc="-1" strike="noStrike">
                <a:solidFill>
                  <a:srgbClr val="434f54"/>
                </a:solidFill>
                <a:latin typeface="Consolas"/>
              </a:rPr>
              <a:t>)</a:t>
            </a:r>
            <a:r>
              <a:rPr b="0" lang="fr-FR" sz="1800" spc="-1" strike="noStrike">
                <a:solidFill>
                  <a:srgbClr val="4e5b61"/>
                </a:solidFill>
                <a:latin typeface="Consolas"/>
              </a:rPr>
              <a:t>;</a:t>
            </a:r>
            <a:endParaRPr b="0" lang="fr-FR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800" spc="-1" strike="noStrike">
                <a:solidFill>
                  <a:srgbClr val="4e5b61"/>
                </a:solidFill>
                <a:latin typeface="Consolas"/>
              </a:rPr>
              <a:t>        </a:t>
            </a:r>
            <a:r>
              <a:rPr b="0" lang="fr-FR" sz="1800" spc="-1" strike="noStrike">
                <a:solidFill>
                  <a:srgbClr val="728e00"/>
                </a:solidFill>
                <a:latin typeface="Consolas"/>
              </a:rPr>
              <a:t>while</a:t>
            </a:r>
            <a:r>
              <a:rPr b="0" lang="fr-FR" sz="1800" spc="-1" strike="noStrike">
                <a:solidFill>
                  <a:srgbClr val="4e5b61"/>
                </a:solidFill>
                <a:latin typeface="Consolas"/>
              </a:rPr>
              <a:t> </a:t>
            </a:r>
            <a:r>
              <a:rPr b="0" lang="fr-FR" sz="1800" spc="-1" strike="noStrike">
                <a:solidFill>
                  <a:srgbClr val="434f54"/>
                </a:solidFill>
                <a:latin typeface="Consolas"/>
              </a:rPr>
              <a:t>(</a:t>
            </a:r>
            <a:r>
              <a:rPr b="0" lang="fr-FR" sz="1800" spc="-1" strike="noStrike">
                <a:solidFill>
                  <a:srgbClr val="005c5f"/>
                </a:solidFill>
                <a:latin typeface="Consolas"/>
              </a:rPr>
              <a:t>1</a:t>
            </a:r>
            <a:r>
              <a:rPr b="0" lang="fr-FR" sz="1800" spc="-1" strike="noStrike">
                <a:solidFill>
                  <a:srgbClr val="434f54"/>
                </a:solidFill>
                <a:latin typeface="Consolas"/>
              </a:rPr>
              <a:t>)</a:t>
            </a:r>
            <a:r>
              <a:rPr b="0" lang="fr-FR" sz="1800" spc="-1" strike="noStrike">
                <a:solidFill>
                  <a:srgbClr val="4e5b61"/>
                </a:solidFill>
                <a:latin typeface="Consolas"/>
              </a:rPr>
              <a:t> </a:t>
            </a:r>
            <a:r>
              <a:rPr b="0" lang="fr-FR" sz="1800" spc="-1" strike="noStrike">
                <a:solidFill>
                  <a:srgbClr val="d35400"/>
                </a:solidFill>
                <a:latin typeface="Consolas"/>
              </a:rPr>
              <a:t>delay</a:t>
            </a:r>
            <a:r>
              <a:rPr b="0" lang="fr-FR" sz="1800" spc="-1" strike="noStrike">
                <a:solidFill>
                  <a:srgbClr val="434f54"/>
                </a:solidFill>
                <a:latin typeface="Consolas"/>
              </a:rPr>
              <a:t>(</a:t>
            </a:r>
            <a:r>
              <a:rPr b="0" lang="fr-FR" sz="1800" spc="-1" strike="noStrike">
                <a:solidFill>
                  <a:srgbClr val="005c5f"/>
                </a:solidFill>
                <a:latin typeface="Consolas"/>
              </a:rPr>
              <a:t>100</a:t>
            </a:r>
            <a:r>
              <a:rPr b="0" lang="fr-FR" sz="1800" spc="-1" strike="noStrike">
                <a:solidFill>
                  <a:srgbClr val="434f54"/>
                </a:solidFill>
                <a:latin typeface="Consolas"/>
              </a:rPr>
              <a:t>)</a:t>
            </a:r>
            <a:r>
              <a:rPr b="0" lang="fr-FR" sz="1800" spc="-1" strike="noStrike">
                <a:solidFill>
                  <a:srgbClr val="4e5b61"/>
                </a:solidFill>
                <a:latin typeface="Consolas"/>
              </a:rPr>
              <a:t>;</a:t>
            </a:r>
            <a:endParaRPr b="0" lang="fr-FR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800" spc="-1" strike="noStrike">
                <a:solidFill>
                  <a:srgbClr val="4e5b61"/>
                </a:solidFill>
                <a:latin typeface="Consolas"/>
              </a:rPr>
              <a:t>    </a:t>
            </a:r>
            <a:r>
              <a:rPr b="0" lang="fr-FR" sz="1800" spc="-1" strike="noStrike">
                <a:solidFill>
                  <a:srgbClr val="434f54"/>
                </a:solidFill>
                <a:latin typeface="Consolas"/>
              </a:rPr>
              <a:t>}</a:t>
            </a:r>
            <a:r>
              <a:rPr b="0" lang="fr-FR" sz="1800" spc="-1" strike="noStrike">
                <a:solidFill>
                  <a:srgbClr val="4e5b61"/>
                </a:solidFill>
                <a:latin typeface="Consolas"/>
              </a:rPr>
              <a:t>;</a:t>
            </a:r>
            <a:endParaRPr b="0" lang="fr-FR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fr-FR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800" spc="-1" strike="noStrike">
                <a:solidFill>
                  <a:srgbClr val="d35400"/>
                </a:solidFill>
                <a:latin typeface="Consolas"/>
              </a:rPr>
              <a:t>  </a:t>
            </a:r>
            <a:r>
              <a:rPr b="0" lang="fr-FR" sz="1800" spc="-1" strike="noStrike">
                <a:solidFill>
                  <a:srgbClr val="d35400"/>
                </a:solidFill>
                <a:latin typeface="Consolas"/>
              </a:rPr>
              <a:t>Serial</a:t>
            </a:r>
            <a:r>
              <a:rPr b="0" lang="fr-FR" sz="1800" spc="-1" strike="noStrike">
                <a:solidFill>
                  <a:srgbClr val="4e5b61"/>
                </a:solidFill>
                <a:latin typeface="Consolas"/>
              </a:rPr>
              <a:t>.</a:t>
            </a:r>
            <a:r>
              <a:rPr b="0" lang="fr-FR" sz="1800" spc="-1" strike="noStrike">
                <a:solidFill>
                  <a:srgbClr val="d35400"/>
                </a:solidFill>
                <a:latin typeface="Consolas"/>
              </a:rPr>
              <a:t>println</a:t>
            </a:r>
            <a:r>
              <a:rPr b="0" lang="fr-FR" sz="1800" spc="-1" strike="noStrike">
                <a:solidFill>
                  <a:srgbClr val="434f54"/>
                </a:solidFill>
                <a:latin typeface="Consolas"/>
              </a:rPr>
              <a:t>(</a:t>
            </a:r>
            <a:r>
              <a:rPr b="0" lang="fr-FR" sz="1800" spc="-1" strike="noStrike">
                <a:solidFill>
                  <a:srgbClr val="005c5f"/>
                </a:solidFill>
                <a:latin typeface="Consolas"/>
              </a:rPr>
              <a:t>"SPI fonctionnel !"</a:t>
            </a:r>
            <a:r>
              <a:rPr b="0" lang="fr-FR" sz="1800" spc="-1" strike="noStrike">
                <a:solidFill>
                  <a:srgbClr val="434f54"/>
                </a:solidFill>
                <a:latin typeface="Consolas"/>
              </a:rPr>
              <a:t>)</a:t>
            </a:r>
            <a:r>
              <a:rPr b="0" lang="fr-FR" sz="1800" spc="-1" strike="noStrike">
                <a:solidFill>
                  <a:srgbClr val="4e5b61"/>
                </a:solidFill>
                <a:latin typeface="Consolas"/>
              </a:rPr>
              <a:t>;</a:t>
            </a:r>
            <a:endParaRPr b="0" lang="fr-FR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fr-FR" sz="1800" spc="-1" strike="noStrike">
              <a:latin typeface="Arial"/>
            </a:endParaRPr>
          </a:p>
        </p:txBody>
      </p:sp>
      <p:sp>
        <p:nvSpPr>
          <p:cNvPr id="121" name="ZoneTexte 5"/>
          <p:cNvSpPr/>
          <p:nvPr/>
        </p:nvSpPr>
        <p:spPr>
          <a:xfrm>
            <a:off x="107640" y="906840"/>
            <a:ext cx="380484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fr-FR" sz="1800" spc="-1" strike="noStrike">
                <a:solidFill>
                  <a:srgbClr val="ff0000"/>
                </a:solidFill>
                <a:latin typeface="Calibri"/>
              </a:rPr>
              <a:t>Programme setup()</a:t>
            </a:r>
            <a:endParaRPr b="0" lang="fr-FR" sz="1800" spc="-1" strike="noStrike">
              <a:latin typeface="Arial"/>
            </a:endParaRPr>
          </a:p>
        </p:txBody>
      </p:sp>
      <p:sp>
        <p:nvSpPr>
          <p:cNvPr id="122" name="Espace réservé du numéro de diapositive 1"/>
          <p:cNvSpPr txBox="1"/>
          <p:nvPr/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r">
              <a:lnSpc>
                <a:spcPct val="100000"/>
              </a:lnSpc>
            </a:pPr>
            <a:fld id="{C9750629-FAA3-410A-BACB-EA6B6F56A04B}" type="slidenum">
              <a:rPr b="0" lang="fr-FR" sz="1200" spc="-1" strike="noStrike">
                <a:solidFill>
                  <a:srgbClr val="8b8b8b"/>
                </a:solidFill>
                <a:latin typeface="Calibri"/>
              </a:rPr>
              <a:t>20</a:t>
            </a:fld>
            <a:endParaRPr b="0" lang="fr-FR" sz="12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Titre 1"/>
          <p:cNvSpPr txBox="1"/>
          <p:nvPr/>
        </p:nvSpPr>
        <p:spPr>
          <a:xfrm>
            <a:off x="0" y="0"/>
            <a:ext cx="12191760" cy="101232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rmAutofit/>
          </a:bodyPr>
          <a:p>
            <a:pPr algn="ctr">
              <a:lnSpc>
                <a:spcPct val="90000"/>
              </a:lnSpc>
            </a:pPr>
            <a:r>
              <a:rPr b="0" lang="fr-FR" sz="6000" spc="-1" strike="noStrike">
                <a:solidFill>
                  <a:srgbClr val="000000"/>
                </a:solidFill>
                <a:latin typeface="Calibri Light"/>
              </a:rPr>
              <a:t>Initialisation des communications</a:t>
            </a:r>
            <a:endParaRPr b="0" lang="fr-FR" sz="60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4" name="ZoneTexte 4"/>
          <p:cNvSpPr/>
          <p:nvPr/>
        </p:nvSpPr>
        <p:spPr>
          <a:xfrm>
            <a:off x="107640" y="1276200"/>
            <a:ext cx="11976480" cy="4753800"/>
          </a:xfrm>
          <a:prstGeom prst="rect">
            <a:avLst/>
          </a:prstGeom>
          <a:noFill/>
          <a:ln w="7620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fr-FR" sz="1800" spc="-1" strike="noStrike">
                <a:solidFill>
                  <a:srgbClr val="4e5b61"/>
                </a:solidFill>
                <a:latin typeface="Consolas"/>
              </a:rPr>
              <a:t>  </a:t>
            </a:r>
            <a:r>
              <a:rPr b="0" lang="fr-FR" sz="1800" spc="-1" strike="noStrike">
                <a:solidFill>
                  <a:srgbClr val="d35400"/>
                </a:solidFill>
                <a:latin typeface="Consolas"/>
              </a:rPr>
              <a:t>LoadUserCode</a:t>
            </a:r>
            <a:r>
              <a:rPr b="0" lang="fr-FR" sz="1800" spc="-1" strike="noStrike">
                <a:solidFill>
                  <a:srgbClr val="434f54"/>
                </a:solidFill>
                <a:latin typeface="Consolas"/>
              </a:rPr>
              <a:t>()</a:t>
            </a:r>
            <a:r>
              <a:rPr b="0" lang="fr-FR" sz="1800" spc="-1" strike="noStrike">
                <a:solidFill>
                  <a:srgbClr val="4e5b61"/>
                </a:solidFill>
                <a:latin typeface="Consolas"/>
              </a:rPr>
              <a:t>;</a:t>
            </a:r>
            <a:r>
              <a:rPr b="0" lang="fr-FR" sz="1800" spc="-1" strike="noStrike">
                <a:solidFill>
                  <a:srgbClr val="95a5a6"/>
                </a:solidFill>
                <a:latin typeface="Consolas"/>
              </a:rPr>
              <a:t>//delay(200);</a:t>
            </a:r>
            <a:endParaRPr b="0" lang="fr-FR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800" spc="-1" strike="noStrike">
                <a:solidFill>
                  <a:srgbClr val="4e5b61"/>
                </a:solidFill>
                <a:latin typeface="Consolas"/>
              </a:rPr>
              <a:t>  </a:t>
            </a:r>
            <a:r>
              <a:rPr b="0" lang="fr-FR" sz="1800" spc="-1" strike="noStrike">
                <a:solidFill>
                  <a:srgbClr val="d35400"/>
                </a:solidFill>
                <a:latin typeface="Consolas"/>
              </a:rPr>
              <a:t>SetEQ5</a:t>
            </a:r>
            <a:r>
              <a:rPr b="0" lang="fr-FR" sz="1800" spc="-1" strike="noStrike">
                <a:solidFill>
                  <a:srgbClr val="434f54"/>
                </a:solidFill>
                <a:latin typeface="Consolas"/>
              </a:rPr>
              <a:t>(</a:t>
            </a:r>
            <a:r>
              <a:rPr b="0" lang="fr-FR" sz="1800" spc="-1" strike="noStrike">
                <a:solidFill>
                  <a:srgbClr val="4e5b61"/>
                </a:solidFill>
                <a:latin typeface="Consolas"/>
              </a:rPr>
              <a:t>ParamTab, ActivatePlayMode</a:t>
            </a:r>
            <a:r>
              <a:rPr b="0" lang="fr-FR" sz="1800" spc="-1" strike="noStrike">
                <a:solidFill>
                  <a:srgbClr val="434f54"/>
                </a:solidFill>
                <a:latin typeface="Consolas"/>
              </a:rPr>
              <a:t>)</a:t>
            </a:r>
            <a:r>
              <a:rPr b="0" lang="fr-FR" sz="1800" spc="-1" strike="noStrike">
                <a:solidFill>
                  <a:srgbClr val="4e5b61"/>
                </a:solidFill>
                <a:latin typeface="Consolas"/>
              </a:rPr>
              <a:t>;</a:t>
            </a:r>
            <a:endParaRPr b="0" lang="fr-FR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800" spc="-1" strike="noStrike">
                <a:solidFill>
                  <a:srgbClr val="4e5b61"/>
                </a:solidFill>
                <a:latin typeface="Consolas"/>
              </a:rPr>
              <a:t>  </a:t>
            </a:r>
            <a:r>
              <a:rPr b="0" lang="fr-FR" sz="1800" spc="-1" strike="noStrike">
                <a:solidFill>
                  <a:srgbClr val="d35400"/>
                </a:solidFill>
                <a:latin typeface="Consolas"/>
              </a:rPr>
              <a:t>GetEQ5</a:t>
            </a:r>
            <a:r>
              <a:rPr b="0" lang="fr-FR" sz="1800" spc="-1" strike="noStrike">
                <a:solidFill>
                  <a:srgbClr val="434f54"/>
                </a:solidFill>
                <a:latin typeface="Consolas"/>
              </a:rPr>
              <a:t>()</a:t>
            </a:r>
            <a:r>
              <a:rPr b="0" lang="fr-FR" sz="1800" spc="-1" strike="noStrike">
                <a:solidFill>
                  <a:srgbClr val="4e5b61"/>
                </a:solidFill>
                <a:latin typeface="Consolas"/>
              </a:rPr>
              <a:t>;</a:t>
            </a:r>
            <a:endParaRPr b="0" lang="fr-FR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800" spc="-1" strike="noStrike">
                <a:solidFill>
                  <a:srgbClr val="4e5b61"/>
                </a:solidFill>
                <a:latin typeface="Consolas"/>
              </a:rPr>
              <a:t>  </a:t>
            </a:r>
            <a:endParaRPr b="0" lang="fr-FR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800" spc="-1" strike="noStrike">
                <a:solidFill>
                  <a:srgbClr val="4e5b61"/>
                </a:solidFill>
                <a:latin typeface="Consolas"/>
              </a:rPr>
              <a:t>  </a:t>
            </a:r>
            <a:r>
              <a:rPr b="0" lang="fr-FR" sz="1800" spc="-1" strike="noStrike">
                <a:solidFill>
                  <a:srgbClr val="4e5b61"/>
                </a:solidFill>
                <a:latin typeface="Consolas"/>
              </a:rPr>
              <a:t>volume = </a:t>
            </a:r>
            <a:r>
              <a:rPr b="0" lang="fr-FR" sz="1800" spc="-1" strike="noStrike">
                <a:solidFill>
                  <a:srgbClr val="d35400"/>
                </a:solidFill>
                <a:latin typeface="Consolas"/>
              </a:rPr>
              <a:t>VolumedB2lin</a:t>
            </a:r>
            <a:r>
              <a:rPr b="0" lang="fr-FR" sz="1800" spc="-1" strike="noStrike">
                <a:solidFill>
                  <a:srgbClr val="434f54"/>
                </a:solidFill>
                <a:latin typeface="Consolas"/>
              </a:rPr>
              <a:t>(</a:t>
            </a:r>
            <a:r>
              <a:rPr b="0" lang="fr-FR" sz="1800" spc="-1" strike="noStrike">
                <a:solidFill>
                  <a:srgbClr val="4e5b61"/>
                </a:solidFill>
                <a:latin typeface="Consolas"/>
              </a:rPr>
              <a:t>VOL_DEFAUT</a:t>
            </a:r>
            <a:r>
              <a:rPr b="0" lang="fr-FR" sz="1800" spc="-1" strike="noStrike">
                <a:solidFill>
                  <a:srgbClr val="434f54"/>
                </a:solidFill>
                <a:latin typeface="Consolas"/>
              </a:rPr>
              <a:t>)</a:t>
            </a:r>
            <a:r>
              <a:rPr b="0" lang="fr-FR" sz="1800" spc="-1" strike="noStrike">
                <a:solidFill>
                  <a:srgbClr val="4e5b61"/>
                </a:solidFill>
                <a:latin typeface="Consolas"/>
              </a:rPr>
              <a:t>;</a:t>
            </a:r>
            <a:endParaRPr b="0" lang="fr-FR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800" spc="-1" strike="noStrike">
                <a:solidFill>
                  <a:srgbClr val="4e5b61"/>
                </a:solidFill>
                <a:latin typeface="Consolas"/>
              </a:rPr>
              <a:t>  </a:t>
            </a:r>
            <a:r>
              <a:rPr b="0" lang="fr-FR" sz="1800" spc="-1" strike="noStrike">
                <a:solidFill>
                  <a:srgbClr val="d35400"/>
                </a:solidFill>
                <a:latin typeface="Consolas"/>
              </a:rPr>
              <a:t>stream</a:t>
            </a:r>
            <a:r>
              <a:rPr b="0" lang="fr-FR" sz="1800" spc="-1" strike="noStrike">
                <a:solidFill>
                  <a:srgbClr val="4e5b61"/>
                </a:solidFill>
                <a:latin typeface="Consolas"/>
              </a:rPr>
              <a:t>.</a:t>
            </a:r>
            <a:r>
              <a:rPr b="0" lang="fr-FR" sz="1800" spc="-1" strike="noStrike">
                <a:solidFill>
                  <a:srgbClr val="d35400"/>
                </a:solidFill>
                <a:latin typeface="Consolas"/>
              </a:rPr>
              <a:t>setVolume</a:t>
            </a:r>
            <a:r>
              <a:rPr b="0" lang="fr-FR" sz="1800" spc="-1" strike="noStrike">
                <a:solidFill>
                  <a:srgbClr val="434f54"/>
                </a:solidFill>
                <a:latin typeface="Consolas"/>
              </a:rPr>
              <a:t>(</a:t>
            </a:r>
            <a:r>
              <a:rPr b="0" lang="fr-FR" sz="1800" spc="-1" strike="noStrike">
                <a:solidFill>
                  <a:srgbClr val="4e5b61"/>
                </a:solidFill>
                <a:latin typeface="Consolas"/>
              </a:rPr>
              <a:t>volume</a:t>
            </a:r>
            <a:r>
              <a:rPr b="0" lang="fr-FR" sz="1800" spc="-1" strike="noStrike">
                <a:solidFill>
                  <a:srgbClr val="434f54"/>
                </a:solidFill>
                <a:latin typeface="Consolas"/>
              </a:rPr>
              <a:t>)</a:t>
            </a:r>
            <a:r>
              <a:rPr b="0" lang="fr-FR" sz="1800" spc="-1" strike="noStrike">
                <a:solidFill>
                  <a:srgbClr val="4e5b61"/>
                </a:solidFill>
                <a:latin typeface="Consolas"/>
              </a:rPr>
              <a:t>;</a:t>
            </a:r>
            <a:endParaRPr b="0" lang="fr-FR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800" spc="-1" strike="noStrike">
                <a:solidFill>
                  <a:srgbClr val="4e5b61"/>
                </a:solidFill>
                <a:latin typeface="Consolas"/>
              </a:rPr>
              <a:t>  </a:t>
            </a:r>
            <a:r>
              <a:rPr b="0" lang="fr-FR" sz="1800" spc="-1" strike="noStrike">
                <a:solidFill>
                  <a:srgbClr val="d35400"/>
                </a:solidFill>
                <a:latin typeface="Consolas"/>
              </a:rPr>
              <a:t>Serial</a:t>
            </a:r>
            <a:r>
              <a:rPr b="0" lang="fr-FR" sz="1800" spc="-1" strike="noStrike">
                <a:solidFill>
                  <a:srgbClr val="4e5b61"/>
                </a:solidFill>
                <a:latin typeface="Consolas"/>
              </a:rPr>
              <a:t>.</a:t>
            </a:r>
            <a:r>
              <a:rPr b="0" lang="fr-FR" sz="1800" spc="-1" strike="noStrike">
                <a:solidFill>
                  <a:srgbClr val="d35400"/>
                </a:solidFill>
                <a:latin typeface="Consolas"/>
              </a:rPr>
              <a:t>println</a:t>
            </a:r>
            <a:r>
              <a:rPr b="0" lang="fr-FR" sz="1800" spc="-1" strike="noStrike">
                <a:solidFill>
                  <a:srgbClr val="434f54"/>
                </a:solidFill>
                <a:latin typeface="Consolas"/>
              </a:rPr>
              <a:t>()</a:t>
            </a:r>
            <a:r>
              <a:rPr b="0" lang="fr-FR" sz="1800" spc="-1" strike="noStrike">
                <a:solidFill>
                  <a:srgbClr val="4e5b61"/>
                </a:solidFill>
                <a:latin typeface="Consolas"/>
              </a:rPr>
              <a:t>;</a:t>
            </a:r>
            <a:r>
              <a:rPr b="0" lang="fr-FR" sz="1800" spc="-1" strike="noStrike">
                <a:solidFill>
                  <a:srgbClr val="d35400"/>
                </a:solidFill>
                <a:latin typeface="Consolas"/>
              </a:rPr>
              <a:t>Serial</a:t>
            </a:r>
            <a:r>
              <a:rPr b="0" lang="fr-FR" sz="1800" spc="-1" strike="noStrike">
                <a:solidFill>
                  <a:srgbClr val="4e5b61"/>
                </a:solidFill>
                <a:latin typeface="Consolas"/>
              </a:rPr>
              <a:t>.</a:t>
            </a:r>
            <a:r>
              <a:rPr b="0" lang="fr-FR" sz="1800" spc="-1" strike="noStrike">
                <a:solidFill>
                  <a:srgbClr val="d35400"/>
                </a:solidFill>
                <a:latin typeface="Consolas"/>
              </a:rPr>
              <a:t>print</a:t>
            </a:r>
            <a:r>
              <a:rPr b="0" lang="fr-FR" sz="1800" spc="-1" strike="noStrike">
                <a:solidFill>
                  <a:srgbClr val="434f54"/>
                </a:solidFill>
                <a:latin typeface="Consolas"/>
              </a:rPr>
              <a:t>(</a:t>
            </a:r>
            <a:r>
              <a:rPr b="0" lang="fr-FR" sz="1800" spc="-1" strike="noStrike">
                <a:solidFill>
                  <a:srgbClr val="005c5f"/>
                </a:solidFill>
                <a:latin typeface="Consolas"/>
              </a:rPr>
              <a:t>"Volume enregistré = "</a:t>
            </a:r>
            <a:r>
              <a:rPr b="0" lang="fr-FR" sz="1800" spc="-1" strike="noStrike">
                <a:solidFill>
                  <a:srgbClr val="434f54"/>
                </a:solidFill>
                <a:latin typeface="Consolas"/>
              </a:rPr>
              <a:t>)</a:t>
            </a:r>
            <a:r>
              <a:rPr b="0" lang="fr-FR" sz="1800" spc="-1" strike="noStrike">
                <a:solidFill>
                  <a:srgbClr val="4e5b61"/>
                </a:solidFill>
                <a:latin typeface="Consolas"/>
              </a:rPr>
              <a:t>;</a:t>
            </a:r>
            <a:r>
              <a:rPr b="0" lang="fr-FR" sz="1800" spc="-1" strike="noStrike">
                <a:solidFill>
                  <a:srgbClr val="d35400"/>
                </a:solidFill>
                <a:latin typeface="Consolas"/>
              </a:rPr>
              <a:t>Serial</a:t>
            </a:r>
            <a:r>
              <a:rPr b="0" lang="fr-FR" sz="1800" spc="-1" strike="noStrike">
                <a:solidFill>
                  <a:srgbClr val="4e5b61"/>
                </a:solidFill>
                <a:latin typeface="Consolas"/>
              </a:rPr>
              <a:t>.</a:t>
            </a:r>
            <a:r>
              <a:rPr b="0" lang="fr-FR" sz="1800" spc="-1" strike="noStrike">
                <a:solidFill>
                  <a:srgbClr val="d35400"/>
                </a:solidFill>
                <a:latin typeface="Consolas"/>
              </a:rPr>
              <a:t>println</a:t>
            </a:r>
            <a:r>
              <a:rPr b="0" lang="fr-FR" sz="1800" spc="-1" strike="noStrike">
                <a:solidFill>
                  <a:srgbClr val="434f54"/>
                </a:solidFill>
                <a:latin typeface="Consolas"/>
              </a:rPr>
              <a:t>(</a:t>
            </a:r>
            <a:r>
              <a:rPr b="0" lang="fr-FR" sz="1800" spc="-1" strike="noStrike">
                <a:solidFill>
                  <a:srgbClr val="d35400"/>
                </a:solidFill>
                <a:latin typeface="Consolas"/>
              </a:rPr>
              <a:t>stream</a:t>
            </a:r>
            <a:r>
              <a:rPr b="0" lang="fr-FR" sz="1800" spc="-1" strike="noStrike">
                <a:solidFill>
                  <a:srgbClr val="4e5b61"/>
                </a:solidFill>
                <a:latin typeface="Consolas"/>
              </a:rPr>
              <a:t>.</a:t>
            </a:r>
            <a:r>
              <a:rPr b="0" lang="fr-FR" sz="1800" spc="-1" strike="noStrike">
                <a:solidFill>
                  <a:srgbClr val="d35400"/>
                </a:solidFill>
                <a:latin typeface="Consolas"/>
              </a:rPr>
              <a:t>getVolume</a:t>
            </a:r>
            <a:r>
              <a:rPr b="0" lang="fr-FR" sz="1800" spc="-1" strike="noStrike">
                <a:solidFill>
                  <a:srgbClr val="434f54"/>
                </a:solidFill>
                <a:latin typeface="Consolas"/>
              </a:rPr>
              <a:t>())</a:t>
            </a:r>
            <a:r>
              <a:rPr b="0" lang="fr-FR" sz="1800" spc="-1" strike="noStrike">
                <a:solidFill>
                  <a:srgbClr val="4e5b61"/>
                </a:solidFill>
                <a:latin typeface="Consolas"/>
              </a:rPr>
              <a:t>;</a:t>
            </a:r>
            <a:endParaRPr b="0" lang="fr-FR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br/>
            <a:r>
              <a:rPr b="0" lang="fr-FR" sz="1800" spc="-1" strike="noStrike">
                <a:solidFill>
                  <a:srgbClr val="4e5b61"/>
                </a:solidFill>
                <a:latin typeface="Consolas"/>
              </a:rPr>
              <a:t>  </a:t>
            </a:r>
            <a:r>
              <a:rPr b="0" lang="fr-FR" sz="1800" spc="-1" strike="noStrike">
                <a:solidFill>
                  <a:srgbClr val="d35400"/>
                </a:solidFill>
                <a:latin typeface="Consolas"/>
              </a:rPr>
              <a:t>Serial</a:t>
            </a:r>
            <a:r>
              <a:rPr b="0" lang="fr-FR" sz="1800" spc="-1" strike="noStrike">
                <a:solidFill>
                  <a:srgbClr val="4e5b61"/>
                </a:solidFill>
                <a:latin typeface="Consolas"/>
              </a:rPr>
              <a:t>.</a:t>
            </a:r>
            <a:r>
              <a:rPr b="0" lang="fr-FR" sz="1800" spc="-1" strike="noStrike">
                <a:solidFill>
                  <a:srgbClr val="d35400"/>
                </a:solidFill>
                <a:latin typeface="Consolas"/>
              </a:rPr>
              <a:t>println</a:t>
            </a:r>
            <a:r>
              <a:rPr b="0" lang="fr-FR" sz="1800" spc="-1" strike="noStrike">
                <a:solidFill>
                  <a:srgbClr val="434f54"/>
                </a:solidFill>
                <a:latin typeface="Consolas"/>
              </a:rPr>
              <a:t>(</a:t>
            </a:r>
            <a:r>
              <a:rPr b="0" lang="fr-FR" sz="1800" spc="-1" strike="noStrike">
                <a:solidFill>
                  <a:srgbClr val="005c5f"/>
                </a:solidFill>
                <a:latin typeface="Consolas"/>
              </a:rPr>
              <a:t>""</a:t>
            </a:r>
            <a:r>
              <a:rPr b="0" lang="fr-FR" sz="1800" spc="-1" strike="noStrike">
                <a:solidFill>
                  <a:srgbClr val="434f54"/>
                </a:solidFill>
                <a:latin typeface="Consolas"/>
              </a:rPr>
              <a:t>)</a:t>
            </a:r>
            <a:r>
              <a:rPr b="0" lang="fr-FR" sz="1800" spc="-1" strike="noStrike">
                <a:solidFill>
                  <a:srgbClr val="4e5b61"/>
                </a:solidFill>
                <a:latin typeface="Consolas"/>
              </a:rPr>
              <a:t>;</a:t>
            </a:r>
            <a:endParaRPr b="0" lang="fr-FR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800" spc="-1" strike="noStrike">
                <a:solidFill>
                  <a:srgbClr val="4e5b61"/>
                </a:solidFill>
                <a:latin typeface="Consolas"/>
              </a:rPr>
              <a:t>  </a:t>
            </a:r>
            <a:r>
              <a:rPr b="0" lang="fr-FR" sz="1800" spc="-1" strike="noStrike">
                <a:solidFill>
                  <a:srgbClr val="d35400"/>
                </a:solidFill>
                <a:latin typeface="Consolas"/>
              </a:rPr>
              <a:t>Serial</a:t>
            </a:r>
            <a:r>
              <a:rPr b="0" lang="fr-FR" sz="1800" spc="-1" strike="noStrike">
                <a:solidFill>
                  <a:srgbClr val="4e5b61"/>
                </a:solidFill>
                <a:latin typeface="Consolas"/>
              </a:rPr>
              <a:t>.</a:t>
            </a:r>
            <a:r>
              <a:rPr b="0" lang="fr-FR" sz="1800" spc="-1" strike="noStrike">
                <a:solidFill>
                  <a:srgbClr val="d35400"/>
                </a:solidFill>
                <a:latin typeface="Consolas"/>
              </a:rPr>
              <a:t>println</a:t>
            </a:r>
            <a:r>
              <a:rPr b="0" lang="fr-FR" sz="1800" spc="-1" strike="noStrike">
                <a:solidFill>
                  <a:srgbClr val="434f54"/>
                </a:solidFill>
                <a:latin typeface="Consolas"/>
              </a:rPr>
              <a:t>(</a:t>
            </a:r>
            <a:r>
              <a:rPr b="0" lang="fr-FR" sz="1800" spc="-1" strike="noStrike">
                <a:solidFill>
                  <a:srgbClr val="005c5f"/>
                </a:solidFill>
                <a:latin typeface="Consolas"/>
              </a:rPr>
              <a:t>"Contrôles: "</a:t>
            </a:r>
            <a:r>
              <a:rPr b="0" lang="fr-FR" sz="1800" spc="-1" strike="noStrike">
                <a:solidFill>
                  <a:srgbClr val="434f54"/>
                </a:solidFill>
                <a:latin typeface="Consolas"/>
              </a:rPr>
              <a:t>)</a:t>
            </a:r>
            <a:r>
              <a:rPr b="0" lang="fr-FR" sz="1800" spc="-1" strike="noStrike">
                <a:solidFill>
                  <a:srgbClr val="4e5b61"/>
                </a:solidFill>
                <a:latin typeface="Consolas"/>
              </a:rPr>
              <a:t>;</a:t>
            </a:r>
            <a:endParaRPr b="0" lang="fr-FR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800" spc="-1" strike="noStrike">
                <a:solidFill>
                  <a:srgbClr val="4e5b61"/>
                </a:solidFill>
                <a:latin typeface="Consolas"/>
              </a:rPr>
              <a:t>  </a:t>
            </a:r>
            <a:r>
              <a:rPr b="0" lang="fr-FR" sz="1800" spc="-1" strike="noStrike">
                <a:solidFill>
                  <a:srgbClr val="d35400"/>
                </a:solidFill>
                <a:latin typeface="Consolas"/>
              </a:rPr>
              <a:t>Serial</a:t>
            </a:r>
            <a:r>
              <a:rPr b="0" lang="fr-FR" sz="1800" spc="-1" strike="noStrike">
                <a:solidFill>
                  <a:srgbClr val="4e5b61"/>
                </a:solidFill>
                <a:latin typeface="Consolas"/>
              </a:rPr>
              <a:t>.</a:t>
            </a:r>
            <a:r>
              <a:rPr b="0" lang="fr-FR" sz="1800" spc="-1" strike="noStrike">
                <a:solidFill>
                  <a:srgbClr val="d35400"/>
                </a:solidFill>
                <a:latin typeface="Consolas"/>
              </a:rPr>
              <a:t>println</a:t>
            </a:r>
            <a:r>
              <a:rPr b="0" lang="fr-FR" sz="1800" spc="-1" strike="noStrike">
                <a:solidFill>
                  <a:srgbClr val="434f54"/>
                </a:solidFill>
                <a:latin typeface="Consolas"/>
              </a:rPr>
              <a:t>(</a:t>
            </a:r>
            <a:r>
              <a:rPr b="0" lang="fr-FR" sz="1800" spc="-1" strike="noStrike">
                <a:solidFill>
                  <a:srgbClr val="005c5f"/>
                </a:solidFill>
                <a:latin typeface="Consolas"/>
              </a:rPr>
              <a:t>"\t n[+] / v[-]: synthoniser une autre chaine"</a:t>
            </a:r>
            <a:r>
              <a:rPr b="0" lang="fr-FR" sz="1800" spc="-1" strike="noStrike">
                <a:solidFill>
                  <a:srgbClr val="434f54"/>
                </a:solidFill>
                <a:latin typeface="Consolas"/>
              </a:rPr>
              <a:t>)</a:t>
            </a:r>
            <a:r>
              <a:rPr b="0" lang="fr-FR" sz="1800" spc="-1" strike="noStrike">
                <a:solidFill>
                  <a:srgbClr val="4e5b61"/>
                </a:solidFill>
                <a:latin typeface="Consolas"/>
              </a:rPr>
              <a:t>;</a:t>
            </a:r>
            <a:endParaRPr b="0" lang="fr-FR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800" spc="-1" strike="noStrike">
                <a:solidFill>
                  <a:srgbClr val="4e5b61"/>
                </a:solidFill>
                <a:latin typeface="Consolas"/>
              </a:rPr>
              <a:t>  </a:t>
            </a:r>
            <a:r>
              <a:rPr b="0" lang="fr-FR" sz="1800" spc="-1" strike="noStrike">
                <a:solidFill>
                  <a:srgbClr val="d35400"/>
                </a:solidFill>
                <a:latin typeface="Consolas"/>
              </a:rPr>
              <a:t>Serial</a:t>
            </a:r>
            <a:r>
              <a:rPr b="0" lang="fr-FR" sz="1800" spc="-1" strike="noStrike">
                <a:solidFill>
                  <a:srgbClr val="4e5b61"/>
                </a:solidFill>
                <a:latin typeface="Consolas"/>
              </a:rPr>
              <a:t>.</a:t>
            </a:r>
            <a:r>
              <a:rPr b="0" lang="fr-FR" sz="1800" spc="-1" strike="noStrike">
                <a:solidFill>
                  <a:srgbClr val="d35400"/>
                </a:solidFill>
                <a:latin typeface="Consolas"/>
              </a:rPr>
              <a:t>println</a:t>
            </a:r>
            <a:r>
              <a:rPr b="0" lang="fr-FR" sz="1800" spc="-1" strike="noStrike">
                <a:solidFill>
                  <a:srgbClr val="434f54"/>
                </a:solidFill>
                <a:latin typeface="Consolas"/>
              </a:rPr>
              <a:t>(</a:t>
            </a:r>
            <a:r>
              <a:rPr b="0" lang="fr-FR" sz="1800" spc="-1" strike="noStrike">
                <a:solidFill>
                  <a:srgbClr val="005c5f"/>
                </a:solidFill>
                <a:latin typeface="Consolas"/>
              </a:rPr>
              <a:t>"\t y[+] / b[-]: contrôle du volume"</a:t>
            </a:r>
            <a:r>
              <a:rPr b="0" lang="fr-FR" sz="1800" spc="-1" strike="noStrike">
                <a:solidFill>
                  <a:srgbClr val="434f54"/>
                </a:solidFill>
                <a:latin typeface="Consolas"/>
              </a:rPr>
              <a:t>)</a:t>
            </a:r>
            <a:r>
              <a:rPr b="0" lang="fr-FR" sz="1800" spc="-1" strike="noStrike">
                <a:solidFill>
                  <a:srgbClr val="4e5b61"/>
                </a:solidFill>
                <a:latin typeface="Consolas"/>
              </a:rPr>
              <a:t>;</a:t>
            </a:r>
            <a:endParaRPr b="0" lang="fr-FR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800" spc="-1" strike="noStrike">
                <a:solidFill>
                  <a:srgbClr val="4e5b61"/>
                </a:solidFill>
                <a:latin typeface="Consolas"/>
              </a:rPr>
              <a:t>  </a:t>
            </a:r>
            <a:r>
              <a:rPr b="0" lang="fr-FR" sz="1800" spc="-1" strike="noStrike">
                <a:solidFill>
                  <a:srgbClr val="d35400"/>
                </a:solidFill>
                <a:latin typeface="Consolas"/>
              </a:rPr>
              <a:t>Serial</a:t>
            </a:r>
            <a:r>
              <a:rPr b="0" lang="fr-FR" sz="1800" spc="-1" strike="noStrike">
                <a:solidFill>
                  <a:srgbClr val="4e5b61"/>
                </a:solidFill>
                <a:latin typeface="Consolas"/>
              </a:rPr>
              <a:t>.</a:t>
            </a:r>
            <a:r>
              <a:rPr b="0" lang="fr-FR" sz="1800" spc="-1" strike="noStrike">
                <a:solidFill>
                  <a:srgbClr val="d35400"/>
                </a:solidFill>
                <a:latin typeface="Consolas"/>
              </a:rPr>
              <a:t>println</a:t>
            </a:r>
            <a:r>
              <a:rPr b="0" lang="fr-FR" sz="1800" spc="-1" strike="noStrike">
                <a:solidFill>
                  <a:srgbClr val="434f54"/>
                </a:solidFill>
                <a:latin typeface="Consolas"/>
              </a:rPr>
              <a:t>(</a:t>
            </a:r>
            <a:r>
              <a:rPr b="0" lang="fr-FR" sz="1800" spc="-1" strike="noStrike">
                <a:solidFill>
                  <a:srgbClr val="005c5f"/>
                </a:solidFill>
                <a:latin typeface="Consolas"/>
              </a:rPr>
              <a:t>"\t j[+] / h[-]: contrôle des basses"</a:t>
            </a:r>
            <a:r>
              <a:rPr b="0" lang="fr-FR" sz="1800" spc="-1" strike="noStrike">
                <a:solidFill>
                  <a:srgbClr val="434f54"/>
                </a:solidFill>
                <a:latin typeface="Consolas"/>
              </a:rPr>
              <a:t>)</a:t>
            </a:r>
            <a:r>
              <a:rPr b="0" lang="fr-FR" sz="1800" spc="-1" strike="noStrike">
                <a:solidFill>
                  <a:srgbClr val="4e5b61"/>
                </a:solidFill>
                <a:latin typeface="Consolas"/>
              </a:rPr>
              <a:t>;</a:t>
            </a:r>
            <a:endParaRPr b="0" lang="fr-FR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800" spc="-1" strike="noStrike">
                <a:solidFill>
                  <a:srgbClr val="4e5b61"/>
                </a:solidFill>
                <a:latin typeface="Consolas"/>
              </a:rPr>
              <a:t>  </a:t>
            </a:r>
            <a:r>
              <a:rPr b="0" lang="fr-FR" sz="1800" spc="-1" strike="noStrike">
                <a:solidFill>
                  <a:srgbClr val="d35400"/>
                </a:solidFill>
                <a:latin typeface="Consolas"/>
              </a:rPr>
              <a:t>Serial</a:t>
            </a:r>
            <a:r>
              <a:rPr b="0" lang="fr-FR" sz="1800" spc="-1" strike="noStrike">
                <a:solidFill>
                  <a:srgbClr val="4e5b61"/>
                </a:solidFill>
                <a:latin typeface="Consolas"/>
              </a:rPr>
              <a:t>.</a:t>
            </a:r>
            <a:r>
              <a:rPr b="0" lang="fr-FR" sz="1800" spc="-1" strike="noStrike">
                <a:solidFill>
                  <a:srgbClr val="d35400"/>
                </a:solidFill>
                <a:latin typeface="Consolas"/>
              </a:rPr>
              <a:t>println</a:t>
            </a:r>
            <a:r>
              <a:rPr b="0" lang="fr-FR" sz="1800" spc="-1" strike="noStrike">
                <a:solidFill>
                  <a:srgbClr val="434f54"/>
                </a:solidFill>
                <a:latin typeface="Consolas"/>
              </a:rPr>
              <a:t>(</a:t>
            </a:r>
            <a:r>
              <a:rPr b="0" lang="fr-FR" sz="1800" spc="-1" strike="noStrike">
                <a:solidFill>
                  <a:srgbClr val="005c5f"/>
                </a:solidFill>
                <a:latin typeface="Consolas"/>
              </a:rPr>
              <a:t>"\t g[+] / f[-]: contrôle des aigus"</a:t>
            </a:r>
            <a:r>
              <a:rPr b="0" lang="fr-FR" sz="1800" spc="-1" strike="noStrike">
                <a:solidFill>
                  <a:srgbClr val="434f54"/>
                </a:solidFill>
                <a:latin typeface="Consolas"/>
              </a:rPr>
              <a:t>)</a:t>
            </a:r>
            <a:r>
              <a:rPr b="0" lang="fr-FR" sz="1800" spc="-1" strike="noStrike">
                <a:solidFill>
                  <a:srgbClr val="4e5b61"/>
                </a:solidFill>
                <a:latin typeface="Consolas"/>
              </a:rPr>
              <a:t>;</a:t>
            </a:r>
            <a:endParaRPr b="0" lang="fr-FR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800" spc="-1" strike="noStrike">
                <a:solidFill>
                  <a:srgbClr val="4e5b61"/>
                </a:solidFill>
                <a:latin typeface="Consolas"/>
              </a:rPr>
              <a:t>  </a:t>
            </a:r>
            <a:r>
              <a:rPr b="0" lang="fr-FR" sz="1800" spc="-1" strike="noStrike">
                <a:solidFill>
                  <a:srgbClr val="d35400"/>
                </a:solidFill>
                <a:latin typeface="Consolas"/>
              </a:rPr>
              <a:t>Serial</a:t>
            </a:r>
            <a:r>
              <a:rPr b="0" lang="fr-FR" sz="1800" spc="-1" strike="noStrike">
                <a:solidFill>
                  <a:srgbClr val="4e5b61"/>
                </a:solidFill>
                <a:latin typeface="Consolas"/>
              </a:rPr>
              <a:t>.</a:t>
            </a:r>
            <a:r>
              <a:rPr b="0" lang="fr-FR" sz="1800" spc="-1" strike="noStrike">
                <a:solidFill>
                  <a:srgbClr val="d35400"/>
                </a:solidFill>
                <a:latin typeface="Consolas"/>
              </a:rPr>
              <a:t>println</a:t>
            </a:r>
            <a:r>
              <a:rPr b="0" lang="fr-FR" sz="1800" spc="-1" strike="noStrike">
                <a:solidFill>
                  <a:srgbClr val="434f54"/>
                </a:solidFill>
                <a:latin typeface="Consolas"/>
              </a:rPr>
              <a:t>(</a:t>
            </a:r>
            <a:r>
              <a:rPr b="0" lang="fr-FR" sz="1800" spc="-1" strike="noStrike">
                <a:solidFill>
                  <a:srgbClr val="005c5f"/>
                </a:solidFill>
                <a:latin typeface="Consolas"/>
              </a:rPr>
              <a:t>"\t u[+] / t[-]: contrôle des aigus"</a:t>
            </a:r>
            <a:r>
              <a:rPr b="0" lang="fr-FR" sz="1800" spc="-1" strike="noStrike">
                <a:solidFill>
                  <a:srgbClr val="434f54"/>
                </a:solidFill>
                <a:latin typeface="Consolas"/>
              </a:rPr>
              <a:t>)</a:t>
            </a:r>
            <a:r>
              <a:rPr b="0" lang="fr-FR" sz="1800" spc="-1" strike="noStrike">
                <a:solidFill>
                  <a:srgbClr val="4e5b61"/>
                </a:solidFill>
                <a:latin typeface="Consolas"/>
              </a:rPr>
              <a:t>;</a:t>
            </a:r>
            <a:endParaRPr b="0" lang="fr-FR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800" spc="-1" strike="noStrike">
                <a:solidFill>
                  <a:srgbClr val="4e5b61"/>
                </a:solidFill>
                <a:latin typeface="Consolas"/>
              </a:rPr>
              <a:t>  </a:t>
            </a:r>
            <a:r>
              <a:rPr b="0" lang="fr-FR" sz="1800" spc="-1" strike="noStrike">
                <a:solidFill>
                  <a:srgbClr val="d35400"/>
                </a:solidFill>
                <a:latin typeface="Consolas"/>
              </a:rPr>
              <a:t>Serial</a:t>
            </a:r>
            <a:r>
              <a:rPr b="0" lang="fr-FR" sz="1800" spc="-1" strike="noStrike">
                <a:solidFill>
                  <a:srgbClr val="4e5b61"/>
                </a:solidFill>
                <a:latin typeface="Consolas"/>
              </a:rPr>
              <a:t>.</a:t>
            </a:r>
            <a:r>
              <a:rPr b="0" lang="fr-FR" sz="1800" spc="-1" strike="noStrike">
                <a:solidFill>
                  <a:srgbClr val="d35400"/>
                </a:solidFill>
                <a:latin typeface="Consolas"/>
              </a:rPr>
              <a:t>println</a:t>
            </a:r>
            <a:r>
              <a:rPr b="0" lang="fr-FR" sz="1800" spc="-1" strike="noStrike">
                <a:solidFill>
                  <a:srgbClr val="434f54"/>
                </a:solidFill>
                <a:latin typeface="Consolas"/>
              </a:rPr>
              <a:t>(</a:t>
            </a:r>
            <a:r>
              <a:rPr b="0" lang="fr-FR" sz="1800" spc="-1" strike="noStrike">
                <a:solidFill>
                  <a:srgbClr val="005c5f"/>
                </a:solidFill>
                <a:latin typeface="Consolas"/>
              </a:rPr>
              <a:t>"\t d: tonalité par défaut"</a:t>
            </a:r>
            <a:r>
              <a:rPr b="0" lang="fr-FR" sz="1800" spc="-1" strike="noStrike">
                <a:solidFill>
                  <a:srgbClr val="434f54"/>
                </a:solidFill>
                <a:latin typeface="Consolas"/>
              </a:rPr>
              <a:t>)</a:t>
            </a:r>
            <a:r>
              <a:rPr b="0" lang="fr-FR" sz="1800" spc="-1" strike="noStrike">
                <a:solidFill>
                  <a:srgbClr val="4e5b61"/>
                </a:solidFill>
                <a:latin typeface="Consolas"/>
              </a:rPr>
              <a:t>;</a:t>
            </a:r>
            <a:endParaRPr b="0" lang="fr-FR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800" spc="-1" strike="noStrike">
                <a:solidFill>
                  <a:srgbClr val="4e5b61"/>
                </a:solidFill>
                <a:latin typeface="Consolas"/>
              </a:rPr>
              <a:t>  </a:t>
            </a:r>
            <a:r>
              <a:rPr b="0" lang="fr-FR" sz="1800" spc="-1" strike="noStrike">
                <a:solidFill>
                  <a:srgbClr val="d35400"/>
                </a:solidFill>
                <a:latin typeface="Consolas"/>
              </a:rPr>
              <a:t>Serial</a:t>
            </a:r>
            <a:r>
              <a:rPr b="0" lang="fr-FR" sz="1800" spc="-1" strike="noStrike">
                <a:solidFill>
                  <a:srgbClr val="4e5b61"/>
                </a:solidFill>
                <a:latin typeface="Consolas"/>
              </a:rPr>
              <a:t>.</a:t>
            </a:r>
            <a:r>
              <a:rPr b="0" lang="fr-FR" sz="1800" spc="-1" strike="noStrike">
                <a:solidFill>
                  <a:srgbClr val="d35400"/>
                </a:solidFill>
                <a:latin typeface="Consolas"/>
              </a:rPr>
              <a:t>println</a:t>
            </a:r>
            <a:r>
              <a:rPr b="0" lang="fr-FR" sz="1800" spc="-1" strike="noStrike">
                <a:solidFill>
                  <a:srgbClr val="434f54"/>
                </a:solidFill>
                <a:latin typeface="Consolas"/>
              </a:rPr>
              <a:t>(</a:t>
            </a:r>
            <a:r>
              <a:rPr b="0" lang="fr-FR" sz="1800" spc="-1" strike="noStrike">
                <a:solidFill>
                  <a:srgbClr val="005c5f"/>
                </a:solidFill>
                <a:latin typeface="Consolas"/>
              </a:rPr>
              <a:t>"\t s: spatialisation"</a:t>
            </a:r>
            <a:r>
              <a:rPr b="0" lang="fr-FR" sz="1800" spc="-1" strike="noStrike">
                <a:solidFill>
                  <a:srgbClr val="434f54"/>
                </a:solidFill>
                <a:latin typeface="Consolas"/>
              </a:rPr>
              <a:t>)</a:t>
            </a:r>
            <a:r>
              <a:rPr b="0" lang="fr-FR" sz="1800" spc="-1" strike="noStrike">
                <a:solidFill>
                  <a:srgbClr val="4e5b61"/>
                </a:solidFill>
                <a:latin typeface="Consolas"/>
              </a:rPr>
              <a:t>;</a:t>
            </a:r>
            <a:endParaRPr b="0" lang="fr-FR" sz="1800" spc="-1" strike="noStrike">
              <a:latin typeface="Arial"/>
            </a:endParaRPr>
          </a:p>
        </p:txBody>
      </p:sp>
      <p:sp>
        <p:nvSpPr>
          <p:cNvPr id="125" name="ZoneTexte 5"/>
          <p:cNvSpPr/>
          <p:nvPr/>
        </p:nvSpPr>
        <p:spPr>
          <a:xfrm>
            <a:off x="107640" y="906840"/>
            <a:ext cx="380484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fr-FR" sz="1800" spc="-1" strike="noStrike">
                <a:solidFill>
                  <a:srgbClr val="ff0000"/>
                </a:solidFill>
                <a:latin typeface="Calibri"/>
              </a:rPr>
              <a:t>Programme setup()</a:t>
            </a:r>
            <a:endParaRPr b="0" lang="fr-FR" sz="1800" spc="-1" strike="noStrike">
              <a:latin typeface="Arial"/>
            </a:endParaRPr>
          </a:p>
        </p:txBody>
      </p:sp>
      <p:sp>
        <p:nvSpPr>
          <p:cNvPr id="126" name="Espace réservé du numéro de diapositive 1"/>
          <p:cNvSpPr txBox="1"/>
          <p:nvPr/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r">
              <a:lnSpc>
                <a:spcPct val="100000"/>
              </a:lnSpc>
            </a:pPr>
            <a:fld id="{635F450F-5F53-4469-995C-18C31305B6B4}" type="slidenum">
              <a:rPr b="0" lang="fr-FR" sz="1200" spc="-1" strike="noStrike">
                <a:solidFill>
                  <a:srgbClr val="8b8b8b"/>
                </a:solidFill>
                <a:latin typeface="Calibri"/>
              </a:rPr>
              <a:t>21</a:t>
            </a:fld>
            <a:endParaRPr b="0" lang="fr-FR" sz="12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Titre 1"/>
          <p:cNvSpPr txBox="1"/>
          <p:nvPr/>
        </p:nvSpPr>
        <p:spPr>
          <a:xfrm>
            <a:off x="0" y="0"/>
            <a:ext cx="12191760" cy="101232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rmAutofit/>
          </a:bodyPr>
          <a:p>
            <a:pPr algn="ctr">
              <a:lnSpc>
                <a:spcPct val="90000"/>
              </a:lnSpc>
            </a:pPr>
            <a:r>
              <a:rPr b="0" lang="fr-FR" sz="6000" spc="-1" strike="noStrike">
                <a:solidFill>
                  <a:srgbClr val="000000"/>
                </a:solidFill>
                <a:latin typeface="Calibri Light"/>
              </a:rPr>
              <a:t>Initialisation des communications</a:t>
            </a:r>
            <a:endParaRPr b="0" lang="fr-FR" sz="60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8" name="ZoneTexte 4"/>
          <p:cNvSpPr/>
          <p:nvPr/>
        </p:nvSpPr>
        <p:spPr>
          <a:xfrm>
            <a:off x="107640" y="1276200"/>
            <a:ext cx="11976480" cy="5302440"/>
          </a:xfrm>
          <a:prstGeom prst="rect">
            <a:avLst/>
          </a:prstGeom>
          <a:noFill/>
          <a:ln w="7620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fr-FR" sz="1800" spc="-1" strike="noStrike">
                <a:solidFill>
                  <a:srgbClr val="4e5b61"/>
                </a:solidFill>
                <a:latin typeface="Consolas"/>
              </a:rPr>
              <a:t>  </a:t>
            </a:r>
            <a:r>
              <a:rPr b="0" lang="fr-FR" sz="1800" spc="-1" strike="noStrike">
                <a:solidFill>
                  <a:srgbClr val="00979d"/>
                </a:solidFill>
                <a:latin typeface="Consolas"/>
              </a:rPr>
              <a:t>char</a:t>
            </a:r>
            <a:r>
              <a:rPr b="0" lang="fr-FR" sz="1800" spc="-1" strike="noStrike">
                <a:solidFill>
                  <a:srgbClr val="4e5b61"/>
                </a:solidFill>
                <a:latin typeface="Consolas"/>
              </a:rPr>
              <a:t> </a:t>
            </a:r>
            <a:r>
              <a:rPr b="0" lang="fr-FR" sz="1800" spc="-1" strike="noStrike">
                <a:solidFill>
                  <a:srgbClr val="d35400"/>
                </a:solidFill>
                <a:latin typeface="Consolas"/>
              </a:rPr>
              <a:t>outBuffer</a:t>
            </a:r>
            <a:r>
              <a:rPr b="0" lang="fr-FR" sz="1800" spc="-1" strike="noStrike">
                <a:solidFill>
                  <a:srgbClr val="4e5b61"/>
                </a:solidFill>
                <a:latin typeface="Consolas"/>
              </a:rPr>
              <a:t>[MAXBUFF]= </a:t>
            </a:r>
            <a:r>
              <a:rPr b="0" lang="fr-FR" sz="1800" spc="-1" strike="noStrike">
                <a:solidFill>
                  <a:srgbClr val="005c5f"/>
                </a:solidFill>
                <a:latin typeface="Consolas"/>
              </a:rPr>
              <a:t>""</a:t>
            </a:r>
            <a:r>
              <a:rPr b="0" lang="fr-FR" sz="1800" spc="-1" strike="noStrike">
                <a:solidFill>
                  <a:srgbClr val="4e5b61"/>
                </a:solidFill>
                <a:latin typeface="Consolas"/>
              </a:rPr>
              <a:t>;</a:t>
            </a:r>
            <a:endParaRPr b="0" lang="fr-FR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800" spc="-1" strike="noStrike">
                <a:solidFill>
                  <a:srgbClr val="4e5b61"/>
                </a:solidFill>
                <a:latin typeface="Consolas"/>
              </a:rPr>
              <a:t>  </a:t>
            </a:r>
            <a:r>
              <a:rPr b="0" lang="fr-FR" sz="1800" spc="-1" strike="noStrike">
                <a:solidFill>
                  <a:srgbClr val="d35400"/>
                </a:solidFill>
                <a:latin typeface="Consolas"/>
              </a:rPr>
              <a:t>sprintf</a:t>
            </a:r>
            <a:r>
              <a:rPr b="0" lang="fr-FR" sz="1800" spc="-1" strike="noStrike">
                <a:solidFill>
                  <a:srgbClr val="434f54"/>
                </a:solidFill>
                <a:latin typeface="Consolas"/>
              </a:rPr>
              <a:t>(</a:t>
            </a:r>
            <a:r>
              <a:rPr b="0" lang="fr-FR" sz="1800" spc="-1" strike="noStrike">
                <a:solidFill>
                  <a:srgbClr val="4e5b61"/>
                </a:solidFill>
                <a:latin typeface="Consolas"/>
              </a:rPr>
              <a:t>outBuffer, </a:t>
            </a:r>
            <a:r>
              <a:rPr b="0" lang="fr-FR" sz="1800" spc="-1" strike="noStrike">
                <a:solidFill>
                  <a:srgbClr val="005c5f"/>
                </a:solidFill>
                <a:latin typeface="Consolas"/>
              </a:rPr>
              <a:t>"%d"</a:t>
            </a:r>
            <a:r>
              <a:rPr b="0" lang="fr-FR" sz="1800" spc="-1" strike="noStrike">
                <a:solidFill>
                  <a:srgbClr val="4e5b61"/>
                </a:solidFill>
                <a:latin typeface="Consolas"/>
              </a:rPr>
              <a:t>, chaine</a:t>
            </a:r>
            <a:r>
              <a:rPr b="0" lang="fr-FR" sz="1800" spc="-1" strike="noStrike">
                <a:solidFill>
                  <a:srgbClr val="434f54"/>
                </a:solidFill>
                <a:latin typeface="Consolas"/>
              </a:rPr>
              <a:t>)</a:t>
            </a:r>
            <a:r>
              <a:rPr b="0" lang="fr-FR" sz="1800" spc="-1" strike="noStrike">
                <a:solidFill>
                  <a:srgbClr val="4e5b61"/>
                </a:solidFill>
                <a:latin typeface="Consolas"/>
              </a:rPr>
              <a:t>;</a:t>
            </a:r>
            <a:endParaRPr b="0" lang="fr-FR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800" spc="-1" strike="noStrike">
                <a:solidFill>
                  <a:srgbClr val="4e5b61"/>
                </a:solidFill>
                <a:latin typeface="Consolas"/>
              </a:rPr>
              <a:t>  </a:t>
            </a:r>
            <a:r>
              <a:rPr b="0" lang="fr-FR" sz="1800" spc="-1" strike="noStrike">
                <a:solidFill>
                  <a:srgbClr val="d35400"/>
                </a:solidFill>
                <a:latin typeface="Consolas"/>
              </a:rPr>
              <a:t>client</a:t>
            </a:r>
            <a:r>
              <a:rPr b="0" lang="fr-FR" sz="1800" spc="-1" strike="noStrike">
                <a:solidFill>
                  <a:srgbClr val="4e5b61"/>
                </a:solidFill>
                <a:latin typeface="Consolas"/>
              </a:rPr>
              <a:t>.</a:t>
            </a:r>
            <a:r>
              <a:rPr b="0" lang="fr-FR" sz="1800" spc="-1" strike="noStrike">
                <a:solidFill>
                  <a:srgbClr val="d35400"/>
                </a:solidFill>
                <a:latin typeface="Consolas"/>
              </a:rPr>
              <a:t>publish</a:t>
            </a:r>
            <a:r>
              <a:rPr b="0" lang="fr-FR" sz="1800" spc="-1" strike="noStrike">
                <a:solidFill>
                  <a:srgbClr val="434f54"/>
                </a:solidFill>
                <a:latin typeface="Consolas"/>
              </a:rPr>
              <a:t>(</a:t>
            </a:r>
            <a:r>
              <a:rPr b="0" lang="fr-FR" sz="1800" spc="-1" strike="noStrike">
                <a:solidFill>
                  <a:srgbClr val="4e5b61"/>
                </a:solidFill>
                <a:latin typeface="Consolas"/>
              </a:rPr>
              <a:t>TopicRetourChaine,outBuffer,</a:t>
            </a:r>
            <a:r>
              <a:rPr b="0" lang="fr-FR" sz="1800" spc="-1" strike="noStrike">
                <a:solidFill>
                  <a:srgbClr val="005c5f"/>
                </a:solidFill>
                <a:latin typeface="Consolas"/>
              </a:rPr>
              <a:t>true</a:t>
            </a:r>
            <a:r>
              <a:rPr b="0" lang="fr-FR" sz="1800" spc="-1" strike="noStrike">
                <a:solidFill>
                  <a:srgbClr val="434f54"/>
                </a:solidFill>
                <a:latin typeface="Consolas"/>
              </a:rPr>
              <a:t>)</a:t>
            </a:r>
            <a:r>
              <a:rPr b="0" lang="fr-FR" sz="1800" spc="-1" strike="noStrike">
                <a:solidFill>
                  <a:srgbClr val="4e5b61"/>
                </a:solidFill>
                <a:latin typeface="Consolas"/>
              </a:rPr>
              <a:t>;</a:t>
            </a:r>
            <a:endParaRPr b="0" lang="fr-FR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800" spc="-1" strike="noStrike">
                <a:solidFill>
                  <a:srgbClr val="4e5b61"/>
                </a:solidFill>
                <a:latin typeface="Consolas"/>
              </a:rPr>
              <a:t>  </a:t>
            </a:r>
            <a:r>
              <a:rPr b="0" lang="fr-FR" sz="1800" spc="-1" strike="noStrike">
                <a:solidFill>
                  <a:srgbClr val="d35400"/>
                </a:solidFill>
                <a:latin typeface="Consolas"/>
              </a:rPr>
              <a:t>sprintf</a:t>
            </a:r>
            <a:r>
              <a:rPr b="0" lang="fr-FR" sz="1800" spc="-1" strike="noStrike">
                <a:solidFill>
                  <a:srgbClr val="434f54"/>
                </a:solidFill>
                <a:latin typeface="Consolas"/>
              </a:rPr>
              <a:t>(</a:t>
            </a:r>
            <a:r>
              <a:rPr b="0" lang="fr-FR" sz="1800" spc="-1" strike="noStrike">
                <a:solidFill>
                  <a:srgbClr val="4e5b61"/>
                </a:solidFill>
                <a:latin typeface="Consolas"/>
              </a:rPr>
              <a:t>outBuffer, </a:t>
            </a:r>
            <a:r>
              <a:rPr b="0" lang="fr-FR" sz="1800" spc="-1" strike="noStrike">
                <a:solidFill>
                  <a:srgbClr val="005c5f"/>
                </a:solidFill>
                <a:latin typeface="Consolas"/>
              </a:rPr>
              <a:t>"%.1f"</a:t>
            </a:r>
            <a:r>
              <a:rPr b="0" lang="fr-FR" sz="1800" spc="-1" strike="noStrike">
                <a:solidFill>
                  <a:srgbClr val="4e5b61"/>
                </a:solidFill>
                <a:latin typeface="Consolas"/>
              </a:rPr>
              <a:t>, volumedB</a:t>
            </a:r>
            <a:r>
              <a:rPr b="0" lang="fr-FR" sz="1800" spc="-1" strike="noStrike">
                <a:solidFill>
                  <a:srgbClr val="434f54"/>
                </a:solidFill>
                <a:latin typeface="Consolas"/>
              </a:rPr>
              <a:t>)</a:t>
            </a:r>
            <a:r>
              <a:rPr b="0" lang="fr-FR" sz="1800" spc="-1" strike="noStrike">
                <a:solidFill>
                  <a:srgbClr val="4e5b61"/>
                </a:solidFill>
                <a:latin typeface="Consolas"/>
              </a:rPr>
              <a:t>;</a:t>
            </a:r>
            <a:endParaRPr b="0" lang="fr-FR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800" spc="-1" strike="noStrike">
                <a:solidFill>
                  <a:srgbClr val="4e5b61"/>
                </a:solidFill>
                <a:latin typeface="Consolas"/>
              </a:rPr>
              <a:t>  </a:t>
            </a:r>
            <a:r>
              <a:rPr b="0" lang="fr-FR" sz="1800" spc="-1" strike="noStrike">
                <a:solidFill>
                  <a:srgbClr val="d35400"/>
                </a:solidFill>
                <a:latin typeface="Consolas"/>
              </a:rPr>
              <a:t>client</a:t>
            </a:r>
            <a:r>
              <a:rPr b="0" lang="fr-FR" sz="1800" spc="-1" strike="noStrike">
                <a:solidFill>
                  <a:srgbClr val="4e5b61"/>
                </a:solidFill>
                <a:latin typeface="Consolas"/>
              </a:rPr>
              <a:t>.</a:t>
            </a:r>
            <a:r>
              <a:rPr b="0" lang="fr-FR" sz="1800" spc="-1" strike="noStrike">
                <a:solidFill>
                  <a:srgbClr val="d35400"/>
                </a:solidFill>
                <a:latin typeface="Consolas"/>
              </a:rPr>
              <a:t>publish</a:t>
            </a:r>
            <a:r>
              <a:rPr b="0" lang="fr-FR" sz="1800" spc="-1" strike="noStrike">
                <a:solidFill>
                  <a:srgbClr val="434f54"/>
                </a:solidFill>
                <a:latin typeface="Consolas"/>
              </a:rPr>
              <a:t>(</a:t>
            </a:r>
            <a:r>
              <a:rPr b="0" lang="fr-FR" sz="1800" spc="-1" strike="noStrike">
                <a:solidFill>
                  <a:srgbClr val="4e5b61"/>
                </a:solidFill>
                <a:latin typeface="Consolas"/>
              </a:rPr>
              <a:t>TopicRetourVolume,outBuffer,</a:t>
            </a:r>
            <a:r>
              <a:rPr b="0" lang="fr-FR" sz="1800" spc="-1" strike="noStrike">
                <a:solidFill>
                  <a:srgbClr val="005c5f"/>
                </a:solidFill>
                <a:latin typeface="Consolas"/>
              </a:rPr>
              <a:t>true</a:t>
            </a:r>
            <a:r>
              <a:rPr b="0" lang="fr-FR" sz="1800" spc="-1" strike="noStrike">
                <a:solidFill>
                  <a:srgbClr val="434f54"/>
                </a:solidFill>
                <a:latin typeface="Consolas"/>
              </a:rPr>
              <a:t>)</a:t>
            </a:r>
            <a:r>
              <a:rPr b="0" lang="fr-FR" sz="1800" spc="-1" strike="noStrike">
                <a:solidFill>
                  <a:srgbClr val="4e5b61"/>
                </a:solidFill>
                <a:latin typeface="Consolas"/>
              </a:rPr>
              <a:t>;</a:t>
            </a:r>
            <a:endParaRPr b="0" lang="fr-FR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800" spc="-1" strike="noStrike">
                <a:solidFill>
                  <a:srgbClr val="4e5b61"/>
                </a:solidFill>
                <a:latin typeface="Consolas"/>
              </a:rPr>
              <a:t>  </a:t>
            </a:r>
            <a:r>
              <a:rPr b="0" lang="fr-FR" sz="1800" spc="-1" strike="noStrike">
                <a:solidFill>
                  <a:srgbClr val="d35400"/>
                </a:solidFill>
                <a:latin typeface="Consolas"/>
              </a:rPr>
              <a:t>sprintf</a:t>
            </a:r>
            <a:r>
              <a:rPr b="0" lang="fr-FR" sz="1800" spc="-1" strike="noStrike">
                <a:solidFill>
                  <a:srgbClr val="434f54"/>
                </a:solidFill>
                <a:latin typeface="Consolas"/>
              </a:rPr>
              <a:t>(</a:t>
            </a:r>
            <a:r>
              <a:rPr b="0" lang="fr-FR" sz="1800" spc="-1" strike="noStrike">
                <a:solidFill>
                  <a:srgbClr val="4e5b61"/>
                </a:solidFill>
                <a:latin typeface="Consolas"/>
              </a:rPr>
              <a:t>outBuffer, </a:t>
            </a:r>
            <a:r>
              <a:rPr b="0" lang="fr-FR" sz="1800" spc="-1" strike="noStrike">
                <a:solidFill>
                  <a:srgbClr val="005c5f"/>
                </a:solidFill>
                <a:latin typeface="Consolas"/>
              </a:rPr>
              <a:t>"%d"</a:t>
            </a:r>
            <a:r>
              <a:rPr b="0" lang="fr-FR" sz="1800" spc="-1" strike="noStrike">
                <a:solidFill>
                  <a:srgbClr val="4e5b61"/>
                </a:solidFill>
                <a:latin typeface="Consolas"/>
              </a:rPr>
              <a:t>, Bass_Amp</a:t>
            </a:r>
            <a:r>
              <a:rPr b="0" lang="fr-FR" sz="1800" spc="-1" strike="noStrike">
                <a:solidFill>
                  <a:srgbClr val="434f54"/>
                </a:solidFill>
                <a:latin typeface="Consolas"/>
              </a:rPr>
              <a:t>)</a:t>
            </a:r>
            <a:r>
              <a:rPr b="0" lang="fr-FR" sz="1800" spc="-1" strike="noStrike">
                <a:solidFill>
                  <a:srgbClr val="4e5b61"/>
                </a:solidFill>
                <a:latin typeface="Consolas"/>
              </a:rPr>
              <a:t>;</a:t>
            </a:r>
            <a:endParaRPr b="0" lang="fr-FR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800" spc="-1" strike="noStrike">
                <a:solidFill>
                  <a:srgbClr val="4e5b61"/>
                </a:solidFill>
                <a:latin typeface="Consolas"/>
              </a:rPr>
              <a:t>  </a:t>
            </a:r>
            <a:r>
              <a:rPr b="0" lang="fr-FR" sz="1800" spc="-1" strike="noStrike">
                <a:solidFill>
                  <a:srgbClr val="d35400"/>
                </a:solidFill>
                <a:latin typeface="Consolas"/>
              </a:rPr>
              <a:t>client</a:t>
            </a:r>
            <a:r>
              <a:rPr b="0" lang="fr-FR" sz="1800" spc="-1" strike="noStrike">
                <a:solidFill>
                  <a:srgbClr val="4e5b61"/>
                </a:solidFill>
                <a:latin typeface="Consolas"/>
              </a:rPr>
              <a:t>.</a:t>
            </a:r>
            <a:r>
              <a:rPr b="0" lang="fr-FR" sz="1800" spc="-1" strike="noStrike">
                <a:solidFill>
                  <a:srgbClr val="d35400"/>
                </a:solidFill>
                <a:latin typeface="Consolas"/>
              </a:rPr>
              <a:t>publish</a:t>
            </a:r>
            <a:r>
              <a:rPr b="0" lang="fr-FR" sz="1800" spc="-1" strike="noStrike">
                <a:solidFill>
                  <a:srgbClr val="434f54"/>
                </a:solidFill>
                <a:latin typeface="Consolas"/>
              </a:rPr>
              <a:t>(</a:t>
            </a:r>
            <a:r>
              <a:rPr b="0" lang="fr-FR" sz="1800" spc="-1" strike="noStrike">
                <a:solidFill>
                  <a:srgbClr val="4e5b61"/>
                </a:solidFill>
                <a:latin typeface="Consolas"/>
              </a:rPr>
              <a:t>TopicRetourBass,outBuffer,</a:t>
            </a:r>
            <a:r>
              <a:rPr b="0" lang="fr-FR" sz="1800" spc="-1" strike="noStrike">
                <a:solidFill>
                  <a:srgbClr val="005c5f"/>
                </a:solidFill>
                <a:latin typeface="Consolas"/>
              </a:rPr>
              <a:t>true</a:t>
            </a:r>
            <a:r>
              <a:rPr b="0" lang="fr-FR" sz="1800" spc="-1" strike="noStrike">
                <a:solidFill>
                  <a:srgbClr val="434f54"/>
                </a:solidFill>
                <a:latin typeface="Consolas"/>
              </a:rPr>
              <a:t>)</a:t>
            </a:r>
            <a:r>
              <a:rPr b="0" lang="fr-FR" sz="1800" spc="-1" strike="noStrike">
                <a:solidFill>
                  <a:srgbClr val="4e5b61"/>
                </a:solidFill>
                <a:latin typeface="Consolas"/>
              </a:rPr>
              <a:t>;</a:t>
            </a:r>
            <a:endParaRPr b="0" lang="fr-FR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800" spc="-1" strike="noStrike">
                <a:solidFill>
                  <a:srgbClr val="4e5b61"/>
                </a:solidFill>
                <a:latin typeface="Consolas"/>
              </a:rPr>
              <a:t>  </a:t>
            </a:r>
            <a:r>
              <a:rPr b="0" lang="fr-FR" sz="1800" spc="-1" strike="noStrike">
                <a:solidFill>
                  <a:srgbClr val="d35400"/>
                </a:solidFill>
                <a:latin typeface="Consolas"/>
              </a:rPr>
              <a:t>sprintf</a:t>
            </a:r>
            <a:r>
              <a:rPr b="0" lang="fr-FR" sz="1800" spc="-1" strike="noStrike">
                <a:solidFill>
                  <a:srgbClr val="434f54"/>
                </a:solidFill>
                <a:latin typeface="Consolas"/>
              </a:rPr>
              <a:t>(</a:t>
            </a:r>
            <a:r>
              <a:rPr b="0" lang="fr-FR" sz="1800" spc="-1" strike="noStrike">
                <a:solidFill>
                  <a:srgbClr val="4e5b61"/>
                </a:solidFill>
                <a:latin typeface="Consolas"/>
              </a:rPr>
              <a:t>outBuffer, </a:t>
            </a:r>
            <a:r>
              <a:rPr b="0" lang="fr-FR" sz="1800" spc="-1" strike="noStrike">
                <a:solidFill>
                  <a:srgbClr val="005c5f"/>
                </a:solidFill>
                <a:latin typeface="Consolas"/>
              </a:rPr>
              <a:t>"%d"</a:t>
            </a:r>
            <a:r>
              <a:rPr b="0" lang="fr-FR" sz="1800" spc="-1" strike="noStrike">
                <a:solidFill>
                  <a:srgbClr val="4e5b61"/>
                </a:solidFill>
                <a:latin typeface="Consolas"/>
              </a:rPr>
              <a:t>, Treble_Amp</a:t>
            </a:r>
            <a:r>
              <a:rPr b="0" lang="fr-FR" sz="1800" spc="-1" strike="noStrike">
                <a:solidFill>
                  <a:srgbClr val="434f54"/>
                </a:solidFill>
                <a:latin typeface="Consolas"/>
              </a:rPr>
              <a:t>)</a:t>
            </a:r>
            <a:r>
              <a:rPr b="0" lang="fr-FR" sz="1800" spc="-1" strike="noStrike">
                <a:solidFill>
                  <a:srgbClr val="4e5b61"/>
                </a:solidFill>
                <a:latin typeface="Consolas"/>
              </a:rPr>
              <a:t>;</a:t>
            </a:r>
            <a:endParaRPr b="0" lang="fr-FR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800" spc="-1" strike="noStrike">
                <a:solidFill>
                  <a:srgbClr val="4e5b61"/>
                </a:solidFill>
                <a:latin typeface="Consolas"/>
              </a:rPr>
              <a:t>  </a:t>
            </a:r>
            <a:r>
              <a:rPr b="0" lang="fr-FR" sz="1800" spc="-1" strike="noStrike">
                <a:solidFill>
                  <a:srgbClr val="d35400"/>
                </a:solidFill>
                <a:latin typeface="Consolas"/>
              </a:rPr>
              <a:t>client</a:t>
            </a:r>
            <a:r>
              <a:rPr b="0" lang="fr-FR" sz="1800" spc="-1" strike="noStrike">
                <a:solidFill>
                  <a:srgbClr val="4e5b61"/>
                </a:solidFill>
                <a:latin typeface="Consolas"/>
              </a:rPr>
              <a:t>.</a:t>
            </a:r>
            <a:r>
              <a:rPr b="0" lang="fr-FR" sz="1800" spc="-1" strike="noStrike">
                <a:solidFill>
                  <a:srgbClr val="d35400"/>
                </a:solidFill>
                <a:latin typeface="Consolas"/>
              </a:rPr>
              <a:t>publish</a:t>
            </a:r>
            <a:r>
              <a:rPr b="0" lang="fr-FR" sz="1800" spc="-1" strike="noStrike">
                <a:solidFill>
                  <a:srgbClr val="434f54"/>
                </a:solidFill>
                <a:latin typeface="Consolas"/>
              </a:rPr>
              <a:t>(</a:t>
            </a:r>
            <a:r>
              <a:rPr b="0" lang="fr-FR" sz="1800" spc="-1" strike="noStrike">
                <a:solidFill>
                  <a:srgbClr val="4e5b61"/>
                </a:solidFill>
                <a:latin typeface="Consolas"/>
              </a:rPr>
              <a:t>TopicRetourTreble,outBuffer,</a:t>
            </a:r>
            <a:r>
              <a:rPr b="0" lang="fr-FR" sz="1800" spc="-1" strike="noStrike">
                <a:solidFill>
                  <a:srgbClr val="005c5f"/>
                </a:solidFill>
                <a:latin typeface="Consolas"/>
              </a:rPr>
              <a:t>true</a:t>
            </a:r>
            <a:r>
              <a:rPr b="0" lang="fr-FR" sz="1800" spc="-1" strike="noStrike">
                <a:solidFill>
                  <a:srgbClr val="434f54"/>
                </a:solidFill>
                <a:latin typeface="Consolas"/>
              </a:rPr>
              <a:t>)</a:t>
            </a:r>
            <a:r>
              <a:rPr b="0" lang="fr-FR" sz="1800" spc="-1" strike="noStrike">
                <a:solidFill>
                  <a:srgbClr val="4e5b61"/>
                </a:solidFill>
                <a:latin typeface="Consolas"/>
              </a:rPr>
              <a:t>;</a:t>
            </a:r>
            <a:endParaRPr b="0" lang="fr-FR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800" spc="-1" strike="noStrike">
                <a:solidFill>
                  <a:srgbClr val="4e5b61"/>
                </a:solidFill>
                <a:latin typeface="Consolas"/>
              </a:rPr>
              <a:t>  </a:t>
            </a:r>
            <a:r>
              <a:rPr b="0" lang="fr-FR" sz="1800" spc="-1" strike="noStrike">
                <a:solidFill>
                  <a:srgbClr val="d35400"/>
                </a:solidFill>
                <a:latin typeface="Consolas"/>
              </a:rPr>
              <a:t>sprintf</a:t>
            </a:r>
            <a:r>
              <a:rPr b="0" lang="fr-FR" sz="1800" spc="-1" strike="noStrike">
                <a:solidFill>
                  <a:srgbClr val="434f54"/>
                </a:solidFill>
                <a:latin typeface="Consolas"/>
              </a:rPr>
              <a:t>(</a:t>
            </a:r>
            <a:r>
              <a:rPr b="0" lang="fr-FR" sz="1800" spc="-1" strike="noStrike">
                <a:solidFill>
                  <a:srgbClr val="4e5b61"/>
                </a:solidFill>
                <a:latin typeface="Consolas"/>
              </a:rPr>
              <a:t>outBuffer, </a:t>
            </a:r>
            <a:r>
              <a:rPr b="0" lang="fr-FR" sz="1800" spc="-1" strike="noStrike">
                <a:solidFill>
                  <a:srgbClr val="005c5f"/>
                </a:solidFill>
                <a:latin typeface="Consolas"/>
              </a:rPr>
              <a:t>"%d"</a:t>
            </a:r>
            <a:r>
              <a:rPr b="0" lang="fr-FR" sz="1800" spc="-1" strike="noStrike">
                <a:solidFill>
                  <a:srgbClr val="4e5b61"/>
                </a:solidFill>
                <a:latin typeface="Consolas"/>
              </a:rPr>
              <a:t>, balance</a:t>
            </a:r>
            <a:r>
              <a:rPr b="0" lang="fr-FR" sz="1800" spc="-1" strike="noStrike">
                <a:solidFill>
                  <a:srgbClr val="434f54"/>
                </a:solidFill>
                <a:latin typeface="Consolas"/>
              </a:rPr>
              <a:t>)</a:t>
            </a:r>
            <a:r>
              <a:rPr b="0" lang="fr-FR" sz="1800" spc="-1" strike="noStrike">
                <a:solidFill>
                  <a:srgbClr val="4e5b61"/>
                </a:solidFill>
                <a:latin typeface="Consolas"/>
              </a:rPr>
              <a:t>;</a:t>
            </a:r>
            <a:endParaRPr b="0" lang="fr-FR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800" spc="-1" strike="noStrike">
                <a:solidFill>
                  <a:srgbClr val="4e5b61"/>
                </a:solidFill>
                <a:latin typeface="Consolas"/>
              </a:rPr>
              <a:t>  </a:t>
            </a:r>
            <a:r>
              <a:rPr b="0" lang="fr-FR" sz="1800" spc="-1" strike="noStrike">
                <a:solidFill>
                  <a:srgbClr val="d35400"/>
                </a:solidFill>
                <a:latin typeface="Consolas"/>
              </a:rPr>
              <a:t>client</a:t>
            </a:r>
            <a:r>
              <a:rPr b="0" lang="fr-FR" sz="1800" spc="-1" strike="noStrike">
                <a:solidFill>
                  <a:srgbClr val="4e5b61"/>
                </a:solidFill>
                <a:latin typeface="Consolas"/>
              </a:rPr>
              <a:t>.</a:t>
            </a:r>
            <a:r>
              <a:rPr b="0" lang="fr-FR" sz="1800" spc="-1" strike="noStrike">
                <a:solidFill>
                  <a:srgbClr val="d35400"/>
                </a:solidFill>
                <a:latin typeface="Consolas"/>
              </a:rPr>
              <a:t>publish</a:t>
            </a:r>
            <a:r>
              <a:rPr b="0" lang="fr-FR" sz="1800" spc="-1" strike="noStrike">
                <a:solidFill>
                  <a:srgbClr val="434f54"/>
                </a:solidFill>
                <a:latin typeface="Consolas"/>
              </a:rPr>
              <a:t>(</a:t>
            </a:r>
            <a:r>
              <a:rPr b="0" lang="fr-FR" sz="1800" spc="-1" strike="noStrike">
                <a:solidFill>
                  <a:srgbClr val="4e5b61"/>
                </a:solidFill>
                <a:latin typeface="Consolas"/>
              </a:rPr>
              <a:t>TopicRetourBalance,outBuffer,</a:t>
            </a:r>
            <a:r>
              <a:rPr b="0" lang="fr-FR" sz="1800" spc="-1" strike="noStrike">
                <a:solidFill>
                  <a:srgbClr val="005c5f"/>
                </a:solidFill>
                <a:latin typeface="Consolas"/>
              </a:rPr>
              <a:t>true</a:t>
            </a:r>
            <a:r>
              <a:rPr b="0" lang="fr-FR" sz="1800" spc="-1" strike="noStrike">
                <a:solidFill>
                  <a:srgbClr val="434f54"/>
                </a:solidFill>
                <a:latin typeface="Consolas"/>
              </a:rPr>
              <a:t>)</a:t>
            </a:r>
            <a:r>
              <a:rPr b="0" lang="fr-FR" sz="1800" spc="-1" strike="noStrike">
                <a:solidFill>
                  <a:srgbClr val="4e5b61"/>
                </a:solidFill>
                <a:latin typeface="Consolas"/>
              </a:rPr>
              <a:t>;</a:t>
            </a:r>
            <a:endParaRPr b="0" lang="fr-FR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800" spc="-1" strike="noStrike">
                <a:solidFill>
                  <a:srgbClr val="4e5b61"/>
                </a:solidFill>
                <a:latin typeface="Consolas"/>
              </a:rPr>
              <a:t>  </a:t>
            </a:r>
            <a:r>
              <a:rPr b="0" lang="fr-FR" sz="1800" spc="-1" strike="noStrike">
                <a:solidFill>
                  <a:srgbClr val="d35400"/>
                </a:solidFill>
                <a:latin typeface="Consolas"/>
              </a:rPr>
              <a:t>client</a:t>
            </a:r>
            <a:r>
              <a:rPr b="0" lang="fr-FR" sz="1800" spc="-1" strike="noStrike">
                <a:solidFill>
                  <a:srgbClr val="4e5b61"/>
                </a:solidFill>
                <a:latin typeface="Consolas"/>
              </a:rPr>
              <a:t>.</a:t>
            </a:r>
            <a:r>
              <a:rPr b="0" lang="fr-FR" sz="1800" spc="-1" strike="noStrike">
                <a:solidFill>
                  <a:srgbClr val="d35400"/>
                </a:solidFill>
                <a:latin typeface="Consolas"/>
              </a:rPr>
              <a:t>publish</a:t>
            </a:r>
            <a:r>
              <a:rPr b="0" lang="fr-FR" sz="1800" spc="-1" strike="noStrike">
                <a:solidFill>
                  <a:srgbClr val="434f54"/>
                </a:solidFill>
                <a:latin typeface="Consolas"/>
              </a:rPr>
              <a:t>(</a:t>
            </a:r>
            <a:r>
              <a:rPr b="0" lang="fr-FR" sz="1800" spc="-1" strike="noStrike">
                <a:solidFill>
                  <a:srgbClr val="4e5b61"/>
                </a:solidFill>
                <a:latin typeface="Consolas"/>
              </a:rPr>
              <a:t>TopicRetourSpatial,</a:t>
            </a:r>
            <a:r>
              <a:rPr b="0" lang="fr-FR" sz="1800" spc="-1" strike="noStrike">
                <a:solidFill>
                  <a:srgbClr val="005c5f"/>
                </a:solidFill>
                <a:latin typeface="Consolas"/>
              </a:rPr>
              <a:t>"OFF"</a:t>
            </a:r>
            <a:r>
              <a:rPr b="0" lang="fr-FR" sz="1800" spc="-1" strike="noStrike">
                <a:solidFill>
                  <a:srgbClr val="4e5b61"/>
                </a:solidFill>
                <a:latin typeface="Consolas"/>
              </a:rPr>
              <a:t>,</a:t>
            </a:r>
            <a:r>
              <a:rPr b="0" lang="fr-FR" sz="1800" spc="-1" strike="noStrike">
                <a:solidFill>
                  <a:srgbClr val="005c5f"/>
                </a:solidFill>
                <a:latin typeface="Consolas"/>
              </a:rPr>
              <a:t>true</a:t>
            </a:r>
            <a:r>
              <a:rPr b="0" lang="fr-FR" sz="1800" spc="-1" strike="noStrike">
                <a:solidFill>
                  <a:srgbClr val="434f54"/>
                </a:solidFill>
                <a:latin typeface="Consolas"/>
              </a:rPr>
              <a:t>)</a:t>
            </a:r>
            <a:r>
              <a:rPr b="0" lang="fr-FR" sz="1800" spc="-1" strike="noStrike">
                <a:solidFill>
                  <a:srgbClr val="4e5b61"/>
                </a:solidFill>
                <a:latin typeface="Consolas"/>
              </a:rPr>
              <a:t>;</a:t>
            </a:r>
            <a:endParaRPr b="0" lang="fr-FR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800" spc="-1" strike="noStrike">
                <a:solidFill>
                  <a:srgbClr val="4e5b61"/>
                </a:solidFill>
                <a:latin typeface="Consolas"/>
              </a:rPr>
              <a:t>  </a:t>
            </a:r>
            <a:r>
              <a:rPr b="0" lang="fr-FR" sz="1800" spc="-1" strike="noStrike">
                <a:solidFill>
                  <a:srgbClr val="d35400"/>
                </a:solidFill>
                <a:latin typeface="Consolas"/>
              </a:rPr>
              <a:t>sprintf</a:t>
            </a:r>
            <a:r>
              <a:rPr b="0" lang="fr-FR" sz="1800" spc="-1" strike="noStrike">
                <a:solidFill>
                  <a:srgbClr val="434f54"/>
                </a:solidFill>
                <a:latin typeface="Consolas"/>
              </a:rPr>
              <a:t>(</a:t>
            </a:r>
            <a:r>
              <a:rPr b="0" lang="fr-FR" sz="1800" spc="-1" strike="noStrike">
                <a:solidFill>
                  <a:srgbClr val="4e5b61"/>
                </a:solidFill>
                <a:latin typeface="Consolas"/>
              </a:rPr>
              <a:t>outBuffer, </a:t>
            </a:r>
            <a:r>
              <a:rPr b="0" lang="fr-FR" sz="1800" spc="-1" strike="noStrike">
                <a:solidFill>
                  <a:srgbClr val="005c5f"/>
                </a:solidFill>
                <a:latin typeface="Consolas"/>
              </a:rPr>
              <a:t>"%d"</a:t>
            </a:r>
            <a:r>
              <a:rPr b="0" lang="fr-FR" sz="1800" spc="-1" strike="noStrike">
                <a:solidFill>
                  <a:srgbClr val="4e5b61"/>
                </a:solidFill>
                <a:latin typeface="Consolas"/>
              </a:rPr>
              <a:t>, ActivatePlayMode</a:t>
            </a:r>
            <a:r>
              <a:rPr b="0" lang="fr-FR" sz="1800" spc="-1" strike="noStrike">
                <a:solidFill>
                  <a:srgbClr val="434f54"/>
                </a:solidFill>
                <a:latin typeface="Consolas"/>
              </a:rPr>
              <a:t>)</a:t>
            </a:r>
            <a:r>
              <a:rPr b="0" lang="fr-FR" sz="1800" spc="-1" strike="noStrike">
                <a:solidFill>
                  <a:srgbClr val="4e5b61"/>
                </a:solidFill>
                <a:latin typeface="Consolas"/>
              </a:rPr>
              <a:t>;</a:t>
            </a:r>
            <a:endParaRPr b="0" lang="fr-FR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800" spc="-1" strike="noStrike">
                <a:solidFill>
                  <a:srgbClr val="4e5b61"/>
                </a:solidFill>
                <a:latin typeface="Consolas"/>
              </a:rPr>
              <a:t>  </a:t>
            </a:r>
            <a:r>
              <a:rPr b="0" lang="fr-FR" sz="1800" spc="-1" strike="noStrike">
                <a:solidFill>
                  <a:srgbClr val="d35400"/>
                </a:solidFill>
                <a:latin typeface="Consolas"/>
              </a:rPr>
              <a:t>client</a:t>
            </a:r>
            <a:r>
              <a:rPr b="0" lang="fr-FR" sz="1800" spc="-1" strike="noStrike">
                <a:solidFill>
                  <a:srgbClr val="4e5b61"/>
                </a:solidFill>
                <a:latin typeface="Consolas"/>
              </a:rPr>
              <a:t>.</a:t>
            </a:r>
            <a:r>
              <a:rPr b="0" lang="fr-FR" sz="1800" spc="-1" strike="noStrike">
                <a:solidFill>
                  <a:srgbClr val="d35400"/>
                </a:solidFill>
                <a:latin typeface="Consolas"/>
              </a:rPr>
              <a:t>publish</a:t>
            </a:r>
            <a:r>
              <a:rPr b="0" lang="fr-FR" sz="1800" spc="-1" strike="noStrike">
                <a:solidFill>
                  <a:srgbClr val="434f54"/>
                </a:solidFill>
                <a:latin typeface="Consolas"/>
              </a:rPr>
              <a:t>(</a:t>
            </a:r>
            <a:r>
              <a:rPr b="0" lang="fr-FR" sz="1800" spc="-1" strike="noStrike">
                <a:solidFill>
                  <a:srgbClr val="4e5b61"/>
                </a:solidFill>
                <a:latin typeface="Consolas"/>
              </a:rPr>
              <a:t>TopicRetourEQ5_PlayMode,outBuffer,</a:t>
            </a:r>
            <a:r>
              <a:rPr b="0" lang="fr-FR" sz="1800" spc="-1" strike="noStrike">
                <a:solidFill>
                  <a:srgbClr val="005c5f"/>
                </a:solidFill>
                <a:latin typeface="Consolas"/>
              </a:rPr>
              <a:t>true</a:t>
            </a:r>
            <a:r>
              <a:rPr b="0" lang="fr-FR" sz="1800" spc="-1" strike="noStrike">
                <a:solidFill>
                  <a:srgbClr val="434f54"/>
                </a:solidFill>
                <a:latin typeface="Consolas"/>
              </a:rPr>
              <a:t>)</a:t>
            </a:r>
            <a:r>
              <a:rPr b="0" lang="fr-FR" sz="1800" spc="-1" strike="noStrike">
                <a:solidFill>
                  <a:srgbClr val="4e5b61"/>
                </a:solidFill>
                <a:latin typeface="Consolas"/>
              </a:rPr>
              <a:t>;</a:t>
            </a:r>
            <a:endParaRPr b="0" lang="fr-FR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800" spc="-1" strike="noStrike">
                <a:solidFill>
                  <a:srgbClr val="4e5b61"/>
                </a:solidFill>
                <a:latin typeface="Consolas"/>
              </a:rPr>
              <a:t>  </a:t>
            </a:r>
            <a:endParaRPr b="0" lang="fr-FR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800" spc="-1" strike="noStrike">
                <a:solidFill>
                  <a:srgbClr val="4e5b61"/>
                </a:solidFill>
                <a:latin typeface="Consolas"/>
              </a:rPr>
              <a:t>  </a:t>
            </a:r>
            <a:r>
              <a:rPr b="0" lang="fr-FR" sz="1800" spc="-1" strike="noStrike">
                <a:solidFill>
                  <a:srgbClr val="d35400"/>
                </a:solidFill>
                <a:latin typeface="Consolas"/>
              </a:rPr>
              <a:t>EQ5_0</a:t>
            </a:r>
            <a:r>
              <a:rPr b="0" lang="fr-FR" sz="1800" spc="-1" strike="noStrike">
                <a:solidFill>
                  <a:srgbClr val="434f54"/>
                </a:solidFill>
                <a:latin typeface="Consolas"/>
              </a:rPr>
              <a:t>()</a:t>
            </a:r>
            <a:r>
              <a:rPr b="0" lang="fr-FR" sz="1800" spc="-1" strike="noStrike">
                <a:solidFill>
                  <a:srgbClr val="4e5b61"/>
                </a:solidFill>
                <a:latin typeface="Consolas"/>
              </a:rPr>
              <a:t>;</a:t>
            </a:r>
            <a:endParaRPr b="0" lang="fr-FR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800" spc="-1" strike="noStrike">
                <a:solidFill>
                  <a:srgbClr val="4e5b61"/>
                </a:solidFill>
                <a:latin typeface="Consolas"/>
              </a:rPr>
              <a:t>  </a:t>
            </a:r>
            <a:endParaRPr b="0" lang="fr-FR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800" spc="-1" strike="noStrike">
                <a:solidFill>
                  <a:srgbClr val="4e5b61"/>
                </a:solidFill>
                <a:latin typeface="Consolas"/>
              </a:rPr>
              <a:t>  </a:t>
            </a:r>
            <a:r>
              <a:rPr b="0" lang="fr-FR" sz="1800" spc="-1" strike="noStrike">
                <a:solidFill>
                  <a:srgbClr val="d35400"/>
                </a:solidFill>
                <a:latin typeface="Consolas"/>
              </a:rPr>
              <a:t>connexionChaine</a:t>
            </a:r>
            <a:r>
              <a:rPr b="0" lang="fr-FR" sz="1800" spc="-1" strike="noStrike">
                <a:solidFill>
                  <a:srgbClr val="434f54"/>
                </a:solidFill>
                <a:latin typeface="Consolas"/>
              </a:rPr>
              <a:t>()</a:t>
            </a:r>
            <a:r>
              <a:rPr b="0" lang="fr-FR" sz="1800" spc="-1" strike="noStrike">
                <a:solidFill>
                  <a:srgbClr val="4e5b61"/>
                </a:solidFill>
                <a:latin typeface="Consolas"/>
              </a:rPr>
              <a:t>;</a:t>
            </a:r>
            <a:endParaRPr b="0" lang="fr-FR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800" spc="-1" strike="noStrike">
                <a:solidFill>
                  <a:srgbClr val="434f54"/>
                </a:solidFill>
                <a:latin typeface="Consolas"/>
              </a:rPr>
              <a:t>}</a:t>
            </a:r>
            <a:endParaRPr b="0" lang="fr-FR" sz="1800" spc="-1" strike="noStrike">
              <a:latin typeface="Arial"/>
            </a:endParaRPr>
          </a:p>
        </p:txBody>
      </p:sp>
      <p:sp>
        <p:nvSpPr>
          <p:cNvPr id="129" name="ZoneTexte 5"/>
          <p:cNvSpPr/>
          <p:nvPr/>
        </p:nvSpPr>
        <p:spPr>
          <a:xfrm>
            <a:off x="107640" y="906840"/>
            <a:ext cx="380484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fr-FR" sz="1800" spc="-1" strike="noStrike">
                <a:solidFill>
                  <a:srgbClr val="ff0000"/>
                </a:solidFill>
                <a:latin typeface="Calibri"/>
              </a:rPr>
              <a:t>Programme setup()</a:t>
            </a:r>
            <a:endParaRPr b="0" lang="fr-FR" sz="1800" spc="-1" strike="noStrike">
              <a:latin typeface="Arial"/>
            </a:endParaRPr>
          </a:p>
        </p:txBody>
      </p:sp>
      <p:sp>
        <p:nvSpPr>
          <p:cNvPr id="130" name="Espace réservé du numéro de diapositive 1"/>
          <p:cNvSpPr txBox="1"/>
          <p:nvPr/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r">
              <a:lnSpc>
                <a:spcPct val="100000"/>
              </a:lnSpc>
            </a:pPr>
            <a:fld id="{296AE52C-439E-40E4-BF91-E30C627F6261}" type="slidenum">
              <a:rPr b="0" lang="fr-FR" sz="1200" spc="-1" strike="noStrike">
                <a:solidFill>
                  <a:srgbClr val="8b8b8b"/>
                </a:solidFill>
                <a:latin typeface="Calibri"/>
              </a:rPr>
              <a:t>22</a:t>
            </a:fld>
            <a:endParaRPr b="0" lang="fr-FR" sz="12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Titre 1"/>
          <p:cNvSpPr txBox="1"/>
          <p:nvPr/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rmAutofit/>
          </a:bodyPr>
          <a:p>
            <a:pPr algn="ctr">
              <a:lnSpc>
                <a:spcPct val="90000"/>
              </a:lnSpc>
            </a:pPr>
            <a:r>
              <a:rPr b="1" lang="fr-FR" sz="6000" spc="-1" strike="noStrike">
                <a:solidFill>
                  <a:srgbClr val="70ad47"/>
                </a:solidFill>
                <a:latin typeface="Calibri Light"/>
              </a:rPr>
              <a:t>Partie 2:</a:t>
            </a:r>
            <a:br/>
            <a:r>
              <a:rPr b="1" lang="fr-FR" sz="6000" spc="-1" strike="noStrike">
                <a:solidFill>
                  <a:srgbClr val="70ad47"/>
                </a:solidFill>
                <a:latin typeface="Calibri Light"/>
              </a:rPr>
              <a:t>Traitement des données audio</a:t>
            </a:r>
            <a:endParaRPr b="0" lang="fr-FR" sz="60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2" name="Sous-titre 2"/>
          <p:cNvSpPr txBox="1"/>
          <p:nvPr/>
        </p:nvSpPr>
        <p:spPr>
          <a:xfrm>
            <a:off x="1523880" y="3602160"/>
            <a:ext cx="9143640" cy="165528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p>
            <a:pPr algn="ctr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fr-FR" sz="2400" spc="-1" strike="noStrike">
                <a:solidFill>
                  <a:srgbClr val="000000"/>
                </a:solidFill>
                <a:latin typeface="Calibri"/>
              </a:rPr>
              <a:t>©Laurent MURA</a:t>
            </a:r>
            <a:endParaRPr b="0" lang="fr-FR" sz="2400" spc="-1" strike="noStrike">
              <a:latin typeface="Arial"/>
            </a:endParaRPr>
          </a:p>
        </p:txBody>
      </p:sp>
      <p:sp>
        <p:nvSpPr>
          <p:cNvPr id="133" name="Espace réservé du numéro de diapositive 3"/>
          <p:cNvSpPr txBox="1"/>
          <p:nvPr/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r">
              <a:lnSpc>
                <a:spcPct val="100000"/>
              </a:lnSpc>
            </a:pPr>
            <a:fld id="{45C4A9F7-0EA0-4A41-B3AF-A47CEC9AC6D6}" type="slidenum">
              <a:rPr b="0" lang="fr-FR" sz="1200" spc="-1" strike="noStrike">
                <a:solidFill>
                  <a:srgbClr val="8b8b8b"/>
                </a:solidFill>
                <a:latin typeface="Calibri"/>
              </a:rPr>
              <a:t>23</a:t>
            </a:fld>
            <a:endParaRPr b="0" lang="fr-FR" sz="12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Titre 1"/>
          <p:cNvSpPr txBox="1"/>
          <p:nvPr/>
        </p:nvSpPr>
        <p:spPr>
          <a:xfrm>
            <a:off x="0" y="518400"/>
            <a:ext cx="12191760" cy="101232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rmAutofit fontScale="54000"/>
          </a:bodyPr>
          <a:p>
            <a:pPr algn="ctr">
              <a:lnSpc>
                <a:spcPct val="90000"/>
              </a:lnSpc>
            </a:pPr>
            <a:r>
              <a:rPr b="0" lang="fr-FR" sz="6000" spc="-1" strike="noStrike">
                <a:solidFill>
                  <a:srgbClr val="000000"/>
                </a:solidFill>
                <a:latin typeface="Calibri Light"/>
              </a:rPr>
              <a:t>Gestion du flux url (streaming) avec le CoDec</a:t>
            </a:r>
            <a:endParaRPr b="0" lang="fr-FR" sz="60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5" name="ZoneTexte 4"/>
          <p:cNvSpPr/>
          <p:nvPr/>
        </p:nvSpPr>
        <p:spPr>
          <a:xfrm>
            <a:off x="6581160" y="2310120"/>
            <a:ext cx="4642200" cy="3656520"/>
          </a:xfrm>
          <a:prstGeom prst="rect">
            <a:avLst/>
          </a:prstGeom>
          <a:noFill/>
          <a:ln w="7620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fr-FR" sz="1800" spc="-1" strike="noStrike">
                <a:solidFill>
                  <a:srgbClr val="00979d"/>
                </a:solidFill>
                <a:latin typeface="Consolas"/>
              </a:rPr>
              <a:t>void</a:t>
            </a:r>
            <a:r>
              <a:rPr b="0" lang="fr-FR" sz="1800" spc="-1" strike="noStrike">
                <a:solidFill>
                  <a:srgbClr val="4e5b61"/>
                </a:solidFill>
                <a:latin typeface="Consolas"/>
              </a:rPr>
              <a:t> </a:t>
            </a:r>
            <a:r>
              <a:rPr b="0" lang="fr-FR" sz="1800" spc="-1" strike="noStrike">
                <a:solidFill>
                  <a:srgbClr val="d35400"/>
                </a:solidFill>
                <a:latin typeface="Consolas"/>
              </a:rPr>
              <a:t>loop</a:t>
            </a:r>
            <a:r>
              <a:rPr b="0" lang="fr-FR" sz="1800" spc="-1" strike="noStrike">
                <a:solidFill>
                  <a:srgbClr val="434f54"/>
                </a:solidFill>
                <a:latin typeface="Consolas"/>
              </a:rPr>
              <a:t>()</a:t>
            </a:r>
            <a:r>
              <a:rPr b="0" lang="fr-FR" sz="1800" spc="-1" strike="noStrike">
                <a:solidFill>
                  <a:srgbClr val="4e5b61"/>
                </a:solidFill>
                <a:latin typeface="Consolas"/>
              </a:rPr>
              <a:t> </a:t>
            </a:r>
            <a:r>
              <a:rPr b="0" lang="fr-FR" sz="1800" spc="-1" strike="noStrike">
                <a:solidFill>
                  <a:srgbClr val="434f54"/>
                </a:solidFill>
                <a:latin typeface="Consolas"/>
              </a:rPr>
              <a:t>{</a:t>
            </a:r>
            <a:endParaRPr b="0" lang="fr-FR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br/>
            <a:r>
              <a:rPr b="0" lang="fr-FR" sz="1800" spc="-1" strike="noStrike">
                <a:solidFill>
                  <a:srgbClr val="4e5b61"/>
                </a:solidFill>
                <a:latin typeface="Consolas"/>
              </a:rPr>
              <a:t>  </a:t>
            </a:r>
            <a:r>
              <a:rPr b="0" lang="fr-FR" sz="1800" spc="-1" strike="noStrike">
                <a:solidFill>
                  <a:srgbClr val="728e00"/>
                </a:solidFill>
                <a:latin typeface="Consolas"/>
              </a:rPr>
              <a:t>if</a:t>
            </a:r>
            <a:r>
              <a:rPr b="0" lang="fr-FR" sz="1800" spc="-1" strike="noStrike">
                <a:solidFill>
                  <a:srgbClr val="4e5b61"/>
                </a:solidFill>
                <a:latin typeface="Consolas"/>
              </a:rPr>
              <a:t> </a:t>
            </a:r>
            <a:r>
              <a:rPr b="0" lang="fr-FR" sz="1800" spc="-1" strike="noStrike">
                <a:solidFill>
                  <a:srgbClr val="434f54"/>
                </a:solidFill>
                <a:latin typeface="Consolas"/>
              </a:rPr>
              <a:t>(</a:t>
            </a:r>
            <a:r>
              <a:rPr b="0" lang="fr-FR" sz="1800" spc="-1" strike="noStrike">
                <a:solidFill>
                  <a:srgbClr val="4e5b61"/>
                </a:solidFill>
                <a:latin typeface="Consolas"/>
              </a:rPr>
              <a:t>!</a:t>
            </a:r>
            <a:r>
              <a:rPr b="0" lang="fr-FR" sz="1800" spc="-1" strike="noStrike">
                <a:solidFill>
                  <a:srgbClr val="d35400"/>
                </a:solidFill>
                <a:latin typeface="Consolas"/>
              </a:rPr>
              <a:t>client</a:t>
            </a:r>
            <a:r>
              <a:rPr b="0" lang="fr-FR" sz="1800" spc="-1" strike="noStrike">
                <a:solidFill>
                  <a:srgbClr val="4e5b61"/>
                </a:solidFill>
                <a:latin typeface="Consolas"/>
              </a:rPr>
              <a:t>.</a:t>
            </a:r>
            <a:r>
              <a:rPr b="0" lang="fr-FR" sz="1800" spc="-1" strike="noStrike">
                <a:solidFill>
                  <a:srgbClr val="d35400"/>
                </a:solidFill>
                <a:latin typeface="Consolas"/>
              </a:rPr>
              <a:t>connected</a:t>
            </a:r>
            <a:r>
              <a:rPr b="0" lang="fr-FR" sz="1800" spc="-1" strike="noStrike">
                <a:solidFill>
                  <a:srgbClr val="434f54"/>
                </a:solidFill>
                <a:latin typeface="Consolas"/>
              </a:rPr>
              <a:t>())</a:t>
            </a:r>
            <a:endParaRPr b="0" lang="fr-FR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800" spc="-1" strike="noStrike">
                <a:solidFill>
                  <a:srgbClr val="4e5b61"/>
                </a:solidFill>
                <a:latin typeface="Consolas"/>
              </a:rPr>
              <a:t>  </a:t>
            </a:r>
            <a:r>
              <a:rPr b="0" lang="fr-FR" sz="1800" spc="-1" strike="noStrike">
                <a:solidFill>
                  <a:srgbClr val="434f54"/>
                </a:solidFill>
                <a:latin typeface="Consolas"/>
              </a:rPr>
              <a:t>{</a:t>
            </a:r>
            <a:endParaRPr b="0" lang="fr-FR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800" spc="-1" strike="noStrike">
                <a:solidFill>
                  <a:srgbClr val="4e5b61"/>
                </a:solidFill>
                <a:latin typeface="Consolas"/>
              </a:rPr>
              <a:t>    </a:t>
            </a:r>
            <a:r>
              <a:rPr b="0" lang="fr-FR" sz="1800" spc="-1" strike="noStrike">
                <a:solidFill>
                  <a:srgbClr val="d35400"/>
                </a:solidFill>
                <a:latin typeface="Consolas"/>
              </a:rPr>
              <a:t>reconnect</a:t>
            </a:r>
            <a:r>
              <a:rPr b="0" lang="fr-FR" sz="1800" spc="-1" strike="noStrike">
                <a:solidFill>
                  <a:srgbClr val="434f54"/>
                </a:solidFill>
                <a:latin typeface="Consolas"/>
              </a:rPr>
              <a:t>()</a:t>
            </a:r>
            <a:r>
              <a:rPr b="0" lang="fr-FR" sz="1800" spc="-1" strike="noStrike">
                <a:solidFill>
                  <a:srgbClr val="4e5b61"/>
                </a:solidFill>
                <a:latin typeface="Consolas"/>
              </a:rPr>
              <a:t>;</a:t>
            </a:r>
            <a:endParaRPr b="0" lang="fr-FR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800" spc="-1" strike="noStrike">
                <a:solidFill>
                  <a:srgbClr val="4e5b61"/>
                </a:solidFill>
                <a:latin typeface="Consolas"/>
              </a:rPr>
              <a:t>  </a:t>
            </a:r>
            <a:r>
              <a:rPr b="0" lang="fr-FR" sz="1800" spc="-1" strike="noStrike">
                <a:solidFill>
                  <a:srgbClr val="434f54"/>
                </a:solidFill>
                <a:latin typeface="Consolas"/>
              </a:rPr>
              <a:t>}</a:t>
            </a:r>
            <a:endParaRPr b="0" lang="fr-FR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br/>
            <a:r>
              <a:rPr b="0" lang="fr-FR" sz="1800" spc="-1" strike="noStrike">
                <a:solidFill>
                  <a:srgbClr val="4e5b61"/>
                </a:solidFill>
                <a:latin typeface="Consolas"/>
              </a:rPr>
              <a:t>  </a:t>
            </a:r>
            <a:r>
              <a:rPr b="0" lang="fr-FR" sz="1800" spc="-1" strike="noStrike">
                <a:solidFill>
                  <a:srgbClr val="d35400"/>
                </a:solidFill>
                <a:latin typeface="Consolas"/>
              </a:rPr>
              <a:t>client</a:t>
            </a:r>
            <a:r>
              <a:rPr b="0" lang="fr-FR" sz="1800" spc="-1" strike="noStrike">
                <a:solidFill>
                  <a:srgbClr val="4e5b61"/>
                </a:solidFill>
                <a:latin typeface="Consolas"/>
              </a:rPr>
              <a:t>.</a:t>
            </a:r>
            <a:r>
              <a:rPr b="0" lang="fr-FR" sz="1800" spc="-1" strike="noStrike">
                <a:solidFill>
                  <a:srgbClr val="d35400"/>
                </a:solidFill>
                <a:latin typeface="Consolas"/>
              </a:rPr>
              <a:t>loop</a:t>
            </a:r>
            <a:r>
              <a:rPr b="0" lang="fr-FR" sz="1800" spc="-1" strike="noStrike">
                <a:solidFill>
                  <a:srgbClr val="434f54"/>
                </a:solidFill>
                <a:latin typeface="Consolas"/>
              </a:rPr>
              <a:t>()</a:t>
            </a:r>
            <a:r>
              <a:rPr b="0" lang="fr-FR" sz="1800" spc="-1" strike="noStrike">
                <a:solidFill>
                  <a:srgbClr val="4e5b61"/>
                </a:solidFill>
                <a:latin typeface="Consolas"/>
              </a:rPr>
              <a:t>;</a:t>
            </a:r>
            <a:endParaRPr b="0" lang="fr-FR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br/>
            <a:r>
              <a:rPr b="0" lang="fr-FR" sz="1800" spc="-1" strike="noStrike">
                <a:solidFill>
                  <a:srgbClr val="4e5b61"/>
                </a:solidFill>
                <a:latin typeface="Consolas"/>
              </a:rPr>
              <a:t>  </a:t>
            </a:r>
            <a:r>
              <a:rPr b="0" lang="fr-FR" sz="1800" spc="-1" strike="noStrike">
                <a:solidFill>
                  <a:srgbClr val="d35400"/>
                </a:solidFill>
                <a:latin typeface="Consolas"/>
              </a:rPr>
              <a:t>stream</a:t>
            </a:r>
            <a:r>
              <a:rPr b="0" lang="fr-FR" sz="1800" spc="-1" strike="noStrike">
                <a:solidFill>
                  <a:srgbClr val="4e5b61"/>
                </a:solidFill>
                <a:latin typeface="Consolas"/>
              </a:rPr>
              <a:t>.</a:t>
            </a:r>
            <a:r>
              <a:rPr b="0" lang="fr-FR" sz="1800" spc="-1" strike="noStrike">
                <a:solidFill>
                  <a:srgbClr val="d35400"/>
                </a:solidFill>
                <a:latin typeface="Consolas"/>
              </a:rPr>
              <a:t>loop</a:t>
            </a:r>
            <a:r>
              <a:rPr b="0" lang="fr-FR" sz="1800" spc="-1" strike="noStrike">
                <a:solidFill>
                  <a:srgbClr val="434f54"/>
                </a:solidFill>
                <a:latin typeface="Consolas"/>
              </a:rPr>
              <a:t>()</a:t>
            </a:r>
            <a:r>
              <a:rPr b="0" lang="fr-FR" sz="1800" spc="-1" strike="noStrike">
                <a:solidFill>
                  <a:srgbClr val="4e5b61"/>
                </a:solidFill>
                <a:latin typeface="Consolas"/>
              </a:rPr>
              <a:t>;</a:t>
            </a:r>
            <a:endParaRPr b="0" lang="fr-FR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800" spc="-1" strike="noStrike">
                <a:solidFill>
                  <a:srgbClr val="95a5a6"/>
                </a:solidFill>
                <a:latin typeface="Consolas"/>
              </a:rPr>
              <a:t> </a:t>
            </a:r>
            <a:endParaRPr b="0" lang="fr-FR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800" spc="-1" strike="noStrike">
                <a:solidFill>
                  <a:srgbClr val="4e5b61"/>
                </a:solidFill>
                <a:latin typeface="Consolas"/>
              </a:rPr>
              <a:t>  </a:t>
            </a:r>
            <a:r>
              <a:rPr b="0" lang="fr-FR" sz="1800" spc="-1" strike="noStrike">
                <a:solidFill>
                  <a:srgbClr val="d35400"/>
                </a:solidFill>
                <a:latin typeface="Consolas"/>
              </a:rPr>
              <a:t>delay</a:t>
            </a:r>
            <a:r>
              <a:rPr b="0" lang="fr-FR" sz="1800" spc="-1" strike="noStrike">
                <a:solidFill>
                  <a:srgbClr val="434f54"/>
                </a:solidFill>
                <a:latin typeface="Consolas"/>
              </a:rPr>
              <a:t>(</a:t>
            </a:r>
            <a:r>
              <a:rPr b="0" lang="fr-FR" sz="1800" spc="-1" strike="noStrike">
                <a:solidFill>
                  <a:srgbClr val="005c5f"/>
                </a:solidFill>
                <a:latin typeface="Consolas"/>
              </a:rPr>
              <a:t>5</a:t>
            </a:r>
            <a:r>
              <a:rPr b="0" lang="fr-FR" sz="1800" spc="-1" strike="noStrike">
                <a:solidFill>
                  <a:srgbClr val="434f54"/>
                </a:solidFill>
                <a:latin typeface="Consolas"/>
              </a:rPr>
              <a:t>)</a:t>
            </a:r>
            <a:r>
              <a:rPr b="0" lang="fr-FR" sz="1800" spc="-1" strike="noStrike">
                <a:solidFill>
                  <a:srgbClr val="4e5b61"/>
                </a:solidFill>
                <a:latin typeface="Consolas"/>
              </a:rPr>
              <a:t>;</a:t>
            </a:r>
            <a:endParaRPr b="0" lang="fr-FR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800" spc="-1" strike="noStrike">
                <a:solidFill>
                  <a:srgbClr val="434f54"/>
                </a:solidFill>
                <a:latin typeface="Consolas"/>
              </a:rPr>
              <a:t>}</a:t>
            </a:r>
            <a:endParaRPr b="0" lang="fr-FR" sz="1800" spc="-1" strike="noStrike">
              <a:latin typeface="Arial"/>
            </a:endParaRPr>
          </a:p>
        </p:txBody>
      </p:sp>
      <p:sp>
        <p:nvSpPr>
          <p:cNvPr id="136" name="ZoneTexte 6"/>
          <p:cNvSpPr/>
          <p:nvPr/>
        </p:nvSpPr>
        <p:spPr>
          <a:xfrm>
            <a:off x="702360" y="5080320"/>
            <a:ext cx="4578480" cy="913320"/>
          </a:xfrm>
          <a:prstGeom prst="rect">
            <a:avLst/>
          </a:prstGeom>
          <a:noFill/>
          <a:ln w="7620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fr-FR" sz="1800" spc="-1" strike="noStrike">
                <a:solidFill>
                  <a:srgbClr val="4e5b61"/>
                </a:solidFill>
                <a:latin typeface="Consolas"/>
              </a:rPr>
              <a:t>ESP32_VS1053_Stream stream;</a:t>
            </a:r>
            <a:endParaRPr b="0" lang="fr-FR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800" spc="-1" strike="noStrike">
                <a:solidFill>
                  <a:srgbClr val="4e5b61"/>
                </a:solidFill>
                <a:latin typeface="Consolas"/>
              </a:rPr>
              <a:t>WiFiClient espClient;</a:t>
            </a:r>
            <a:endParaRPr b="0" lang="fr-FR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800" spc="-1" strike="noStrike">
                <a:solidFill>
                  <a:srgbClr val="4e5b61"/>
                </a:solidFill>
                <a:latin typeface="Consolas"/>
              </a:rPr>
              <a:t>PubSubClient </a:t>
            </a:r>
            <a:r>
              <a:rPr b="0" lang="fr-FR" sz="1800" spc="-1" strike="noStrike">
                <a:solidFill>
                  <a:srgbClr val="d35400"/>
                </a:solidFill>
                <a:latin typeface="Consolas"/>
              </a:rPr>
              <a:t>client</a:t>
            </a:r>
            <a:r>
              <a:rPr b="0" lang="fr-FR" sz="1800" spc="-1" strike="noStrike">
                <a:solidFill>
                  <a:srgbClr val="434f54"/>
                </a:solidFill>
                <a:latin typeface="Consolas"/>
              </a:rPr>
              <a:t>(</a:t>
            </a:r>
            <a:r>
              <a:rPr b="0" lang="fr-FR" sz="1800" spc="-1" strike="noStrike">
                <a:solidFill>
                  <a:srgbClr val="4e5b61"/>
                </a:solidFill>
                <a:latin typeface="Consolas"/>
              </a:rPr>
              <a:t>espClient</a:t>
            </a:r>
            <a:r>
              <a:rPr b="0" lang="fr-FR" sz="1800" spc="-1" strike="noStrike">
                <a:solidFill>
                  <a:srgbClr val="434f54"/>
                </a:solidFill>
                <a:latin typeface="Consolas"/>
              </a:rPr>
              <a:t>)</a:t>
            </a:r>
            <a:r>
              <a:rPr b="0" lang="fr-FR" sz="1800" spc="-1" strike="noStrike">
                <a:solidFill>
                  <a:srgbClr val="4e5b61"/>
                </a:solidFill>
                <a:latin typeface="Consolas"/>
              </a:rPr>
              <a:t>;</a:t>
            </a:r>
            <a:endParaRPr b="0" lang="fr-FR" sz="1800" spc="-1" strike="noStrike">
              <a:latin typeface="Arial"/>
            </a:endParaRPr>
          </a:p>
        </p:txBody>
      </p:sp>
      <p:sp>
        <p:nvSpPr>
          <p:cNvPr id="137" name="ZoneTexte 8"/>
          <p:cNvSpPr/>
          <p:nvPr/>
        </p:nvSpPr>
        <p:spPr>
          <a:xfrm>
            <a:off x="702360" y="2552400"/>
            <a:ext cx="4578480" cy="1461960"/>
          </a:xfrm>
          <a:prstGeom prst="rect">
            <a:avLst/>
          </a:prstGeom>
          <a:noFill/>
          <a:ln w="7620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fr-FR" sz="1800" spc="-1" strike="noStrike">
                <a:solidFill>
                  <a:srgbClr val="728e00"/>
                </a:solidFill>
                <a:latin typeface="Consolas"/>
              </a:rPr>
              <a:t>#include</a:t>
            </a:r>
            <a:r>
              <a:rPr b="0" lang="fr-FR" sz="1800" spc="-1" strike="noStrike">
                <a:solidFill>
                  <a:srgbClr val="4e5b61"/>
                </a:solidFill>
                <a:latin typeface="Consolas"/>
              </a:rPr>
              <a:t> </a:t>
            </a:r>
            <a:r>
              <a:rPr b="0" lang="fr-FR" sz="1800" spc="-1" strike="noStrike">
                <a:solidFill>
                  <a:srgbClr val="005c5f"/>
                </a:solidFill>
                <a:latin typeface="Consolas"/>
              </a:rPr>
              <a:t>&lt;VS1053.h&gt;</a:t>
            </a:r>
            <a:endParaRPr b="0" lang="fr-FR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800" spc="-1" strike="noStrike">
                <a:solidFill>
                  <a:srgbClr val="728e00"/>
                </a:solidFill>
                <a:latin typeface="Consolas"/>
              </a:rPr>
              <a:t>#include</a:t>
            </a:r>
            <a:r>
              <a:rPr b="0" lang="fr-FR" sz="1800" spc="-1" strike="noStrike">
                <a:solidFill>
                  <a:srgbClr val="4e5b61"/>
                </a:solidFill>
                <a:latin typeface="Consolas"/>
              </a:rPr>
              <a:t> </a:t>
            </a:r>
            <a:r>
              <a:rPr b="0" lang="fr-FR" sz="1800" spc="-1" strike="noStrike">
                <a:solidFill>
                  <a:srgbClr val="005c5f"/>
                </a:solidFill>
                <a:latin typeface="Consolas"/>
              </a:rPr>
              <a:t>&lt;PubSubClient.h&gt;</a:t>
            </a:r>
            <a:endParaRPr b="0" lang="fr-FR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800" spc="-1" strike="noStrike">
                <a:solidFill>
                  <a:srgbClr val="728e00"/>
                </a:solidFill>
                <a:latin typeface="Consolas"/>
              </a:rPr>
              <a:t>#include</a:t>
            </a:r>
            <a:r>
              <a:rPr b="0" lang="fr-FR" sz="1800" spc="-1" strike="noStrike">
                <a:solidFill>
                  <a:srgbClr val="4e5b61"/>
                </a:solidFill>
                <a:latin typeface="Consolas"/>
              </a:rPr>
              <a:t> </a:t>
            </a:r>
            <a:r>
              <a:rPr b="0" lang="fr-FR" sz="1800" spc="-1" strike="noStrike">
                <a:solidFill>
                  <a:srgbClr val="005c5f"/>
                </a:solidFill>
                <a:latin typeface="Consolas"/>
              </a:rPr>
              <a:t>&lt;WiFiManager.h&gt;</a:t>
            </a:r>
            <a:endParaRPr b="0" lang="fr-FR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800" spc="-1" strike="noStrike">
                <a:solidFill>
                  <a:srgbClr val="728e00"/>
                </a:solidFill>
                <a:latin typeface="Consolas"/>
              </a:rPr>
              <a:t>#include</a:t>
            </a:r>
            <a:r>
              <a:rPr b="0" lang="fr-FR" sz="1800" spc="-1" strike="noStrike">
                <a:solidFill>
                  <a:srgbClr val="4e5b61"/>
                </a:solidFill>
                <a:latin typeface="Consolas"/>
              </a:rPr>
              <a:t> </a:t>
            </a:r>
            <a:r>
              <a:rPr b="0" lang="fr-FR" sz="1800" spc="-1" strike="noStrike">
                <a:solidFill>
                  <a:srgbClr val="005c5f"/>
                </a:solidFill>
                <a:latin typeface="Consolas"/>
              </a:rPr>
              <a:t>&lt;ESP32_VS1053_Stream.h&gt;</a:t>
            </a:r>
            <a:endParaRPr b="0" lang="fr-FR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800" spc="-1" strike="noStrike">
                <a:solidFill>
                  <a:srgbClr val="728e00"/>
                </a:solidFill>
                <a:latin typeface="Consolas"/>
              </a:rPr>
              <a:t>#include</a:t>
            </a:r>
            <a:r>
              <a:rPr b="0" lang="fr-FR" sz="1800" spc="-1" strike="noStrike">
                <a:solidFill>
                  <a:srgbClr val="4e5b61"/>
                </a:solidFill>
                <a:latin typeface="Consolas"/>
              </a:rPr>
              <a:t> </a:t>
            </a:r>
            <a:r>
              <a:rPr b="0" lang="fr-FR" sz="1800" spc="-1" strike="noStrike">
                <a:solidFill>
                  <a:srgbClr val="005c5f"/>
                </a:solidFill>
                <a:latin typeface="Consolas"/>
              </a:rPr>
              <a:t>&lt;math.h&gt;</a:t>
            </a:r>
            <a:endParaRPr b="0" lang="fr-FR" sz="1800" spc="-1" strike="noStrike">
              <a:latin typeface="Arial"/>
            </a:endParaRPr>
          </a:p>
        </p:txBody>
      </p:sp>
      <p:sp>
        <p:nvSpPr>
          <p:cNvPr id="138" name="ZoneTexte 7"/>
          <p:cNvSpPr/>
          <p:nvPr/>
        </p:nvSpPr>
        <p:spPr>
          <a:xfrm>
            <a:off x="702360" y="1905840"/>
            <a:ext cx="457848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</a:pPr>
            <a:r>
              <a:rPr b="1" lang="fr-FR" sz="1800" spc="-1" strike="noStrike">
                <a:solidFill>
                  <a:srgbClr val="ff0000"/>
                </a:solidFill>
                <a:latin typeface="Calibri"/>
              </a:rPr>
              <a:t>Déclaration des fichiers provenant des bibliothèques à installer ou pré-installées</a:t>
            </a:r>
            <a:endParaRPr b="0" lang="fr-FR" sz="1800" spc="-1" strike="noStrike">
              <a:latin typeface="Arial"/>
            </a:endParaRPr>
          </a:p>
        </p:txBody>
      </p:sp>
      <p:sp>
        <p:nvSpPr>
          <p:cNvPr id="139" name="ZoneTexte 10"/>
          <p:cNvSpPr/>
          <p:nvPr/>
        </p:nvSpPr>
        <p:spPr>
          <a:xfrm>
            <a:off x="702360" y="4710960"/>
            <a:ext cx="457848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</a:pPr>
            <a:r>
              <a:rPr b="1" lang="fr-FR" sz="1800" spc="-1" strike="noStrike">
                <a:solidFill>
                  <a:srgbClr val="ff0000"/>
                </a:solidFill>
                <a:latin typeface="Calibri"/>
              </a:rPr>
              <a:t>Déclaration des classes</a:t>
            </a:r>
            <a:endParaRPr b="0" lang="fr-FR" sz="1800" spc="-1" strike="noStrike">
              <a:latin typeface="Arial"/>
            </a:endParaRPr>
          </a:p>
        </p:txBody>
      </p:sp>
      <p:sp>
        <p:nvSpPr>
          <p:cNvPr id="140" name="ZoneTexte 11"/>
          <p:cNvSpPr/>
          <p:nvPr/>
        </p:nvSpPr>
        <p:spPr>
          <a:xfrm>
            <a:off x="6613200" y="1904760"/>
            <a:ext cx="457848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</a:pPr>
            <a:r>
              <a:rPr b="1" lang="fr-FR" sz="1800" spc="-1" strike="noStrike">
                <a:solidFill>
                  <a:srgbClr val="ff0000"/>
                </a:solidFill>
                <a:latin typeface="Calibri"/>
              </a:rPr>
              <a:t>Programme principal (si, si </a:t>
            </a:r>
            <a:r>
              <a:rPr b="0" lang="fr-FR" sz="1800" spc="-1" strike="noStrike">
                <a:solidFill>
                  <a:srgbClr val="000000"/>
                </a:solidFill>
                <a:latin typeface="Segoe UI Emoji"/>
                <a:ea typeface="Calibri"/>
              </a:rPr>
              <a:t>😉</a:t>
            </a:r>
            <a:r>
              <a:rPr b="1" lang="fr-FR" sz="1800" spc="-1" strike="noStrike">
                <a:solidFill>
                  <a:srgbClr val="ff0000"/>
                </a:solidFill>
                <a:latin typeface="Calibri"/>
                <a:ea typeface="Calibri"/>
              </a:rPr>
              <a:t> )</a:t>
            </a:r>
            <a:endParaRPr b="0" lang="fr-FR" sz="1800" spc="-1" strike="noStrike">
              <a:latin typeface="Arial"/>
            </a:endParaRPr>
          </a:p>
        </p:txBody>
      </p:sp>
      <p:sp>
        <p:nvSpPr>
          <p:cNvPr id="141" name="Espace réservé du numéro de diapositive 1"/>
          <p:cNvSpPr txBox="1"/>
          <p:nvPr/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r">
              <a:lnSpc>
                <a:spcPct val="100000"/>
              </a:lnSpc>
            </a:pPr>
            <a:fld id="{555FB894-A239-4BAB-A700-A4795991B795}" type="slidenum">
              <a:rPr b="0" lang="fr-FR" sz="1200" spc="-1" strike="noStrike">
                <a:solidFill>
                  <a:srgbClr val="8b8b8b"/>
                </a:solidFill>
                <a:latin typeface="Calibri"/>
              </a:rPr>
              <a:t>24</a:t>
            </a:fld>
            <a:endParaRPr b="0" lang="fr-FR" sz="12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Titre 1"/>
          <p:cNvSpPr txBox="1"/>
          <p:nvPr/>
        </p:nvSpPr>
        <p:spPr>
          <a:xfrm>
            <a:off x="0" y="518400"/>
            <a:ext cx="12191760" cy="101232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rmAutofit fontScale="54000"/>
          </a:bodyPr>
          <a:p>
            <a:pPr algn="ctr">
              <a:lnSpc>
                <a:spcPct val="90000"/>
              </a:lnSpc>
            </a:pPr>
            <a:r>
              <a:rPr b="0" lang="fr-FR" sz="6000" spc="-1" strike="noStrike">
                <a:solidFill>
                  <a:srgbClr val="000000"/>
                </a:solidFill>
                <a:latin typeface="Calibri Light"/>
              </a:rPr>
              <a:t>Schéma fonctionnel du traitement des données audio</a:t>
            </a:r>
            <a:endParaRPr b="0" lang="fr-FR" sz="6000" spc="-1" strike="noStrike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143" name="Image 2" descr=""/>
          <p:cNvPicPr/>
          <p:nvPr/>
        </p:nvPicPr>
        <p:blipFill>
          <a:blip r:embed="rId1"/>
          <a:stretch/>
        </p:blipFill>
        <p:spPr>
          <a:xfrm>
            <a:off x="1298880" y="1317240"/>
            <a:ext cx="9069120" cy="5540400"/>
          </a:xfrm>
          <a:prstGeom prst="rect">
            <a:avLst/>
          </a:prstGeom>
          <a:ln w="0">
            <a:noFill/>
          </a:ln>
        </p:spPr>
      </p:pic>
      <p:sp>
        <p:nvSpPr>
          <p:cNvPr id="144" name="Espace réservé du numéro de diapositive 1"/>
          <p:cNvSpPr txBox="1"/>
          <p:nvPr/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r">
              <a:lnSpc>
                <a:spcPct val="100000"/>
              </a:lnSpc>
            </a:pPr>
            <a:fld id="{6BFB65D0-D803-4D1C-AE83-BD18DFF52AFD}" type="slidenum">
              <a:rPr b="0" lang="fr-FR" sz="1200" spc="-1" strike="noStrike">
                <a:solidFill>
                  <a:srgbClr val="8b8b8b"/>
                </a:solidFill>
                <a:latin typeface="Calibri"/>
              </a:rPr>
              <a:t>25</a:t>
            </a:fld>
            <a:endParaRPr b="0" lang="fr-FR" sz="12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Titre 1"/>
          <p:cNvSpPr txBox="1"/>
          <p:nvPr/>
        </p:nvSpPr>
        <p:spPr>
          <a:xfrm>
            <a:off x="0" y="0"/>
            <a:ext cx="12191760" cy="101232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rmAutofit/>
          </a:bodyPr>
          <a:p>
            <a:pPr algn="ctr">
              <a:lnSpc>
                <a:spcPct val="90000"/>
              </a:lnSpc>
            </a:pPr>
            <a:r>
              <a:rPr b="0" lang="fr-FR" sz="6000" spc="-1" strike="noStrike">
                <a:solidFill>
                  <a:srgbClr val="000000"/>
                </a:solidFill>
                <a:latin typeface="Calibri Light"/>
              </a:rPr>
              <a:t>SCI Registers</a:t>
            </a:r>
            <a:endParaRPr b="0" lang="fr-FR" sz="6000" spc="-1" strike="noStrike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146" name="Image 3" descr=""/>
          <p:cNvPicPr/>
          <p:nvPr/>
        </p:nvPicPr>
        <p:blipFill>
          <a:blip r:embed="rId1"/>
          <a:stretch/>
        </p:blipFill>
        <p:spPr>
          <a:xfrm>
            <a:off x="1152360" y="933840"/>
            <a:ext cx="9887040" cy="5923800"/>
          </a:xfrm>
          <a:prstGeom prst="rect">
            <a:avLst/>
          </a:prstGeom>
          <a:ln w="0">
            <a:noFill/>
          </a:ln>
        </p:spPr>
      </p:pic>
      <p:sp>
        <p:nvSpPr>
          <p:cNvPr id="147" name="Espace réservé du numéro de diapositive 1"/>
          <p:cNvSpPr txBox="1"/>
          <p:nvPr/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r">
              <a:lnSpc>
                <a:spcPct val="100000"/>
              </a:lnSpc>
            </a:pPr>
            <a:fld id="{31937E30-441E-4CBF-B4B8-96F14A640961}" type="slidenum">
              <a:rPr b="0" lang="fr-FR" sz="1200" spc="-1" strike="noStrike">
                <a:solidFill>
                  <a:srgbClr val="8b8b8b"/>
                </a:solidFill>
                <a:latin typeface="Calibri"/>
              </a:rPr>
              <a:t>26</a:t>
            </a:fld>
            <a:endParaRPr b="0" lang="fr-FR" sz="12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Titre 1"/>
          <p:cNvSpPr txBox="1"/>
          <p:nvPr/>
        </p:nvSpPr>
        <p:spPr>
          <a:xfrm>
            <a:off x="0" y="0"/>
            <a:ext cx="12191760" cy="101232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rmAutofit/>
          </a:bodyPr>
          <a:p>
            <a:pPr algn="ctr">
              <a:lnSpc>
                <a:spcPct val="90000"/>
              </a:lnSpc>
            </a:pPr>
            <a:r>
              <a:rPr b="0" lang="fr-FR" sz="6000" spc="-1" strike="noStrike">
                <a:solidFill>
                  <a:srgbClr val="000000"/>
                </a:solidFill>
                <a:latin typeface="Calibri Light"/>
              </a:rPr>
              <a:t>SCI Registers</a:t>
            </a:r>
            <a:endParaRPr b="0" lang="fr-FR" sz="6000" spc="-1" strike="noStrike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149" name="Image 5" descr=""/>
          <p:cNvPicPr/>
          <p:nvPr/>
        </p:nvPicPr>
        <p:blipFill>
          <a:blip r:embed="rId1"/>
          <a:stretch/>
        </p:blipFill>
        <p:spPr>
          <a:xfrm>
            <a:off x="1556640" y="5481720"/>
            <a:ext cx="9078120" cy="1371600"/>
          </a:xfrm>
          <a:prstGeom prst="rect">
            <a:avLst/>
          </a:prstGeom>
          <a:ln w="0">
            <a:noFill/>
          </a:ln>
        </p:spPr>
      </p:pic>
      <p:pic>
        <p:nvPicPr>
          <p:cNvPr id="150" name="Image 3" descr=""/>
          <p:cNvPicPr/>
          <p:nvPr/>
        </p:nvPicPr>
        <p:blipFill>
          <a:blip r:embed="rId2"/>
          <a:stretch/>
        </p:blipFill>
        <p:spPr>
          <a:xfrm>
            <a:off x="1556640" y="4680"/>
            <a:ext cx="8973360" cy="5372640"/>
          </a:xfrm>
          <a:prstGeom prst="rect">
            <a:avLst/>
          </a:prstGeom>
          <a:ln w="0">
            <a:noFill/>
          </a:ln>
        </p:spPr>
      </p:pic>
      <p:sp>
        <p:nvSpPr>
          <p:cNvPr id="151" name="Espace réservé du numéro de diapositive 1"/>
          <p:cNvSpPr txBox="1"/>
          <p:nvPr/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r">
              <a:lnSpc>
                <a:spcPct val="100000"/>
              </a:lnSpc>
            </a:pPr>
            <a:fld id="{1C790A28-A7A5-49CC-B409-084A1B43E980}" type="slidenum">
              <a:rPr b="0" lang="fr-FR" sz="1200" spc="-1" strike="noStrike">
                <a:solidFill>
                  <a:srgbClr val="8b8b8b"/>
                </a:solidFill>
                <a:latin typeface="Calibri"/>
              </a:rPr>
              <a:t>27</a:t>
            </a:fld>
            <a:endParaRPr b="0" lang="fr-FR" sz="12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ZoneTexte 1"/>
          <p:cNvSpPr/>
          <p:nvPr/>
        </p:nvSpPr>
        <p:spPr>
          <a:xfrm>
            <a:off x="288720" y="0"/>
            <a:ext cx="11614320" cy="173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</a:pPr>
            <a:r>
              <a:rPr b="1" lang="fr-FR" sz="5400" spc="-1" strike="noStrike">
                <a:solidFill>
                  <a:srgbClr val="ff0000"/>
                </a:solidFill>
                <a:latin typeface="Calibri"/>
              </a:rPr>
              <a:t>LAB 2:</a:t>
            </a:r>
            <a:endParaRPr b="0" lang="fr-FR" sz="54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1" lang="fr-FR" sz="5400" spc="-1" strike="noStrike">
                <a:solidFill>
                  <a:srgbClr val="ff0000"/>
                </a:solidFill>
                <a:latin typeface="Calibri"/>
              </a:rPr>
              <a:t>Gestion du Volume (et de la Balance)</a:t>
            </a:r>
            <a:endParaRPr b="0" lang="fr-FR" sz="5400" spc="-1" strike="noStrike">
              <a:latin typeface="Arial"/>
            </a:endParaRPr>
          </a:p>
        </p:txBody>
      </p:sp>
      <p:sp>
        <p:nvSpPr>
          <p:cNvPr id="153" name="ZoneTexte 2"/>
          <p:cNvSpPr/>
          <p:nvPr/>
        </p:nvSpPr>
        <p:spPr>
          <a:xfrm>
            <a:off x="79200" y="3699360"/>
            <a:ext cx="12045240" cy="338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fr-FR" sz="2400" spc="-1" strike="noStrike">
                <a:solidFill>
                  <a:srgbClr val="0070c0"/>
                </a:solidFill>
                <a:latin typeface="Calibri"/>
              </a:rPr>
              <a:t>Répondre aux questions suivantes en vous aidant des diapositives précédentes et suivantes:</a:t>
            </a:r>
            <a:endParaRPr b="0" lang="fr-FR" sz="2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fr-FR" sz="2400" spc="-1" strike="noStrike">
              <a:latin typeface="Arial"/>
            </a:endParaRPr>
          </a:p>
          <a:p>
            <a:pPr marL="343080" indent="-342720">
              <a:lnSpc>
                <a:spcPct val="100000"/>
              </a:lnSpc>
              <a:buClr>
                <a:srgbClr val="0070c0"/>
              </a:buClr>
              <a:buFont typeface="Calibri Light"/>
              <a:buAutoNum type="arabicPeriod"/>
            </a:pPr>
            <a:r>
              <a:rPr b="0" lang="fr-FR" sz="2400" spc="-1" strike="noStrike">
                <a:solidFill>
                  <a:srgbClr val="0070c0"/>
                </a:solidFill>
                <a:latin typeface="Calibri"/>
              </a:rPr>
              <a:t>Quelles sont les valeurs utilisées pour régler le volume ?</a:t>
            </a:r>
            <a:endParaRPr b="0" lang="fr-FR" sz="2400" spc="-1" strike="noStrike">
              <a:latin typeface="Arial"/>
            </a:endParaRPr>
          </a:p>
          <a:p>
            <a:pPr marL="343080" indent="-342720">
              <a:lnSpc>
                <a:spcPct val="100000"/>
              </a:lnSpc>
              <a:buClr>
                <a:srgbClr val="0070c0"/>
              </a:buClr>
              <a:buFont typeface="Calibri Light"/>
              <a:buAutoNum type="arabicPeriod"/>
            </a:pPr>
            <a:r>
              <a:rPr b="0" lang="fr-FR" sz="2400" spc="-1" strike="noStrike">
                <a:solidFill>
                  <a:srgbClr val="0070c0"/>
                </a:solidFill>
                <a:latin typeface="Calibri"/>
              </a:rPr>
              <a:t>Quel est le registre « SCI_??? » qui permet de contrôler le volume ?</a:t>
            </a:r>
            <a:endParaRPr b="0" lang="fr-FR" sz="2400" spc="-1" strike="noStrike">
              <a:latin typeface="Arial"/>
            </a:endParaRPr>
          </a:p>
          <a:p>
            <a:pPr marL="343080" indent="-342720">
              <a:lnSpc>
                <a:spcPct val="100000"/>
              </a:lnSpc>
              <a:buClr>
                <a:srgbClr val="0070c0"/>
              </a:buClr>
              <a:buFont typeface="Calibri Light"/>
              <a:buAutoNum type="arabicPeriod"/>
            </a:pPr>
            <a:r>
              <a:rPr b="0" lang="fr-FR" sz="2400" spc="-1" strike="noStrike">
                <a:solidFill>
                  <a:srgbClr val="0070c0"/>
                </a:solidFill>
                <a:latin typeface="Calibri"/>
              </a:rPr>
              <a:t>En lien avec la question précédente, comment est organisé ce registre ?</a:t>
            </a:r>
            <a:endParaRPr b="0" lang="fr-FR" sz="2400" spc="-1" strike="noStrike">
              <a:latin typeface="Arial"/>
            </a:endParaRPr>
          </a:p>
          <a:p>
            <a:pPr marL="343080" indent="-342720">
              <a:lnSpc>
                <a:spcPct val="100000"/>
              </a:lnSpc>
              <a:buClr>
                <a:srgbClr val="0070c0"/>
              </a:buClr>
              <a:buFont typeface="Calibri Light"/>
              <a:buAutoNum type="arabicPeriod"/>
            </a:pPr>
            <a:r>
              <a:rPr b="0" lang="fr-FR" sz="2400" spc="-1" strike="noStrike">
                <a:solidFill>
                  <a:srgbClr val="0070c0"/>
                </a:solidFill>
                <a:latin typeface="Calibri"/>
              </a:rPr>
              <a:t>Expliquer le rôle la fonction max() pour la gestion du volume.</a:t>
            </a:r>
            <a:endParaRPr b="0" lang="fr-FR" sz="2400" spc="-1" strike="noStrike">
              <a:latin typeface="Arial"/>
            </a:endParaRPr>
          </a:p>
          <a:p>
            <a:pPr marL="343080" indent="-342720">
              <a:lnSpc>
                <a:spcPct val="100000"/>
              </a:lnSpc>
              <a:buClr>
                <a:srgbClr val="0070c0"/>
              </a:buClr>
              <a:buFont typeface="Calibri Light"/>
              <a:buAutoNum type="arabicPeriod"/>
            </a:pPr>
            <a:r>
              <a:rPr b="0" lang="fr-FR" sz="2400" spc="-1" strike="noStrike">
                <a:solidFill>
                  <a:srgbClr val="0070c0"/>
                </a:solidFill>
                <a:latin typeface="Calibri"/>
              </a:rPr>
              <a:t>Expliquer le rôle la fonction map() pour la gestion du volume.</a:t>
            </a:r>
            <a:endParaRPr b="0" lang="fr-FR" sz="2400" spc="-1" strike="noStrike">
              <a:latin typeface="Arial"/>
            </a:endParaRPr>
          </a:p>
          <a:p>
            <a:pPr marL="343080" indent="-342720">
              <a:lnSpc>
                <a:spcPct val="100000"/>
              </a:lnSpc>
              <a:buClr>
                <a:srgbClr val="0070c0"/>
              </a:buClr>
              <a:buFont typeface="Calibri Light"/>
              <a:buAutoNum type="arabicPeriod"/>
            </a:pPr>
            <a:r>
              <a:rPr b="0" lang="fr-FR" sz="2400" spc="-1" strike="noStrike">
                <a:solidFill>
                  <a:srgbClr val="0070c0"/>
                </a:solidFill>
                <a:latin typeface="Calibri"/>
              </a:rPr>
              <a:t>Compléter les programmes où vous avez « ??? ».</a:t>
            </a:r>
            <a:endParaRPr b="0" lang="fr-FR" sz="2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fr-FR" sz="2400" spc="-1" strike="noStrike">
              <a:latin typeface="Arial"/>
            </a:endParaRPr>
          </a:p>
        </p:txBody>
      </p:sp>
      <p:pic>
        <p:nvPicPr>
          <p:cNvPr id="154" name="Picture 3" descr=""/>
          <p:cNvPicPr/>
          <p:nvPr/>
        </p:nvPicPr>
        <p:blipFill>
          <a:blip r:embed="rId1"/>
          <a:srcRect l="0" t="21380" r="0" b="50311"/>
          <a:stretch/>
        </p:blipFill>
        <p:spPr>
          <a:xfrm>
            <a:off x="4591080" y="1754280"/>
            <a:ext cx="3009600" cy="1898280"/>
          </a:xfrm>
          <a:prstGeom prst="rect">
            <a:avLst/>
          </a:prstGeom>
          <a:ln w="0">
            <a:noFill/>
          </a:ln>
        </p:spPr>
      </p:pic>
      <p:sp>
        <p:nvSpPr>
          <p:cNvPr id="155" name="Espace réservé du numéro de diapositive 3"/>
          <p:cNvSpPr txBox="1"/>
          <p:nvPr/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r">
              <a:lnSpc>
                <a:spcPct val="100000"/>
              </a:lnSpc>
            </a:pPr>
            <a:fld id="{63E5ED65-DBC2-4158-8515-EC6450E85A92}" type="slidenum">
              <a:rPr b="0" lang="fr-FR" sz="1200" spc="-1" strike="noStrike">
                <a:solidFill>
                  <a:srgbClr val="8b8b8b"/>
                </a:solidFill>
                <a:latin typeface="Calibri"/>
              </a:rPr>
              <a:t>27</a:t>
            </a:fld>
            <a:endParaRPr b="0" lang="fr-FR" sz="12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Image 6" descr=""/>
          <p:cNvPicPr/>
          <p:nvPr/>
        </p:nvPicPr>
        <p:blipFill>
          <a:blip r:embed="rId1"/>
          <a:stretch/>
        </p:blipFill>
        <p:spPr>
          <a:xfrm>
            <a:off x="326880" y="349920"/>
            <a:ext cx="10355400" cy="5527080"/>
          </a:xfrm>
          <a:prstGeom prst="rect">
            <a:avLst/>
          </a:prstGeom>
          <a:ln w="0">
            <a:noFill/>
          </a:ln>
        </p:spPr>
      </p:pic>
      <p:sp>
        <p:nvSpPr>
          <p:cNvPr id="157" name="Espace réservé du numéro de diapositive 1"/>
          <p:cNvSpPr txBox="1"/>
          <p:nvPr/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r">
              <a:lnSpc>
                <a:spcPct val="100000"/>
              </a:lnSpc>
            </a:pPr>
            <a:fld id="{3EF0EE11-D8CC-4E24-95AA-FD1A45322234}" type="slidenum">
              <a:rPr b="0" lang="fr-FR" sz="1200" spc="-1" strike="noStrike">
                <a:solidFill>
                  <a:srgbClr val="8b8b8b"/>
                </a:solidFill>
                <a:latin typeface="Calibri"/>
              </a:rPr>
              <a:t>27</a:t>
            </a:fld>
            <a:endParaRPr b="0" lang="fr-FR" sz="12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Titre 1"/>
          <p:cNvSpPr txBox="1"/>
          <p:nvPr/>
        </p:nvSpPr>
        <p:spPr>
          <a:xfrm>
            <a:off x="0" y="0"/>
            <a:ext cx="12191760" cy="101232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rmAutofit/>
          </a:bodyPr>
          <a:p>
            <a:pPr algn="ctr">
              <a:lnSpc>
                <a:spcPct val="90000"/>
              </a:lnSpc>
            </a:pPr>
            <a:r>
              <a:rPr b="0" lang="fr-FR" sz="6000" spc="-1" strike="noStrike">
                <a:solidFill>
                  <a:srgbClr val="000000"/>
                </a:solidFill>
                <a:latin typeface="Calibri Light"/>
              </a:rPr>
              <a:t>setVolume()</a:t>
            </a:r>
            <a:endParaRPr b="0" lang="fr-FR" sz="6000" spc="-1" strike="noStrike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159" name="Image 5" descr=""/>
          <p:cNvPicPr/>
          <p:nvPr/>
        </p:nvPicPr>
        <p:blipFill>
          <a:blip r:embed="rId1"/>
          <a:srcRect l="0" t="0" r="0" b="1840"/>
          <a:stretch/>
        </p:blipFill>
        <p:spPr>
          <a:xfrm>
            <a:off x="331560" y="1012680"/>
            <a:ext cx="11171880" cy="5737680"/>
          </a:xfrm>
          <a:prstGeom prst="rect">
            <a:avLst/>
          </a:prstGeom>
          <a:ln w="76200">
            <a:solidFill>
              <a:srgbClr val="ff0000"/>
            </a:solidFill>
            <a:round/>
          </a:ln>
        </p:spPr>
      </p:pic>
      <p:sp>
        <p:nvSpPr>
          <p:cNvPr id="160" name="ZoneTexte 1"/>
          <p:cNvSpPr/>
          <p:nvPr/>
        </p:nvSpPr>
        <p:spPr>
          <a:xfrm>
            <a:off x="4132440" y="6145920"/>
            <a:ext cx="3270240" cy="364680"/>
          </a:xfrm>
          <a:prstGeom prst="rect">
            <a:avLst/>
          </a:prstGeom>
          <a:solidFill>
            <a:srgbClr val="ffff00"/>
          </a:solidFill>
          <a:ln w="5715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</a:pPr>
            <a:r>
              <a:rPr b="1" lang="fr-FR" sz="1800" spc="-1" strike="noStrike">
                <a:solidFill>
                  <a:srgbClr val="ff0000"/>
                </a:solidFill>
                <a:latin typeface="Calibri"/>
              </a:rPr>
              <a:t>???</a:t>
            </a:r>
            <a:endParaRPr b="0" lang="fr-FR" sz="1800" spc="-1" strike="noStrike">
              <a:latin typeface="Arial"/>
            </a:endParaRPr>
          </a:p>
        </p:txBody>
      </p:sp>
      <p:sp>
        <p:nvSpPr>
          <p:cNvPr id="161" name="Espace réservé du numéro de diapositive 2"/>
          <p:cNvSpPr txBox="1"/>
          <p:nvPr/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r">
              <a:lnSpc>
                <a:spcPct val="100000"/>
              </a:lnSpc>
            </a:pPr>
            <a:fld id="{A0EFFD6B-FAE4-47EF-BCDA-661E2008D4C4}" type="slidenum">
              <a:rPr b="0" lang="fr-FR" sz="1200" spc="-1" strike="noStrike">
                <a:solidFill>
                  <a:srgbClr val="8b8b8b"/>
                </a:solidFill>
                <a:latin typeface="Calibri"/>
              </a:rPr>
              <a:t>30</a:t>
            </a:fld>
            <a:endParaRPr b="0" lang="fr-FR" sz="12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Image 2" descr=""/>
          <p:cNvPicPr/>
          <p:nvPr/>
        </p:nvPicPr>
        <p:blipFill>
          <a:blip r:embed="rId1"/>
          <a:stretch/>
        </p:blipFill>
        <p:spPr>
          <a:xfrm>
            <a:off x="214920" y="137520"/>
            <a:ext cx="7220520" cy="6582240"/>
          </a:xfrm>
          <a:prstGeom prst="rect">
            <a:avLst/>
          </a:prstGeom>
          <a:ln w="0">
            <a:noFill/>
          </a:ln>
        </p:spPr>
      </p:pic>
      <p:pic>
        <p:nvPicPr>
          <p:cNvPr id="163" name="Image 10" descr=""/>
          <p:cNvPicPr/>
          <p:nvPr/>
        </p:nvPicPr>
        <p:blipFill>
          <a:blip r:embed="rId2"/>
          <a:stretch/>
        </p:blipFill>
        <p:spPr>
          <a:xfrm>
            <a:off x="1448280" y="1288800"/>
            <a:ext cx="7093080" cy="1055160"/>
          </a:xfrm>
          <a:prstGeom prst="rect">
            <a:avLst/>
          </a:prstGeom>
          <a:ln w="0">
            <a:noFill/>
          </a:ln>
        </p:spPr>
      </p:pic>
      <p:pic>
        <p:nvPicPr>
          <p:cNvPr id="164" name="Image 12" descr=""/>
          <p:cNvPicPr/>
          <p:nvPr/>
        </p:nvPicPr>
        <p:blipFill>
          <a:blip r:embed="rId3"/>
          <a:stretch/>
        </p:blipFill>
        <p:spPr>
          <a:xfrm>
            <a:off x="8661960" y="266040"/>
            <a:ext cx="3314880" cy="6239520"/>
          </a:xfrm>
          <a:prstGeom prst="rect">
            <a:avLst/>
          </a:prstGeom>
          <a:ln w="76200">
            <a:solidFill>
              <a:srgbClr val="ff0000"/>
            </a:solidFill>
            <a:round/>
          </a:ln>
        </p:spPr>
      </p:pic>
      <p:sp>
        <p:nvSpPr>
          <p:cNvPr id="165" name="ZoneTexte 13"/>
          <p:cNvSpPr/>
          <p:nvPr/>
        </p:nvSpPr>
        <p:spPr>
          <a:xfrm>
            <a:off x="4645800" y="5400"/>
            <a:ext cx="3758040" cy="69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fr-FR" sz="4000" spc="-1" strike="noStrike">
                <a:solidFill>
                  <a:srgbClr val="ff0000"/>
                </a:solidFill>
                <a:latin typeface="Calibri"/>
              </a:rPr>
              <a:t>Fonction max()</a:t>
            </a:r>
            <a:endParaRPr b="0" lang="fr-FR" sz="4000" spc="-1" strike="noStrike">
              <a:latin typeface="Arial"/>
            </a:endParaRPr>
          </a:p>
        </p:txBody>
      </p:sp>
      <p:sp>
        <p:nvSpPr>
          <p:cNvPr id="166" name="Espace réservé du numéro de diapositive 1"/>
          <p:cNvSpPr txBox="1"/>
          <p:nvPr/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r">
              <a:lnSpc>
                <a:spcPct val="100000"/>
              </a:lnSpc>
            </a:pPr>
            <a:fld id="{89F9811C-47BE-41E7-8FEA-7B45424AD445}" type="slidenum">
              <a:rPr b="0" lang="fr-FR" sz="1200" spc="-1" strike="noStrike">
                <a:solidFill>
                  <a:srgbClr val="8b8b8b"/>
                </a:solidFill>
                <a:latin typeface="Calibri"/>
              </a:rPr>
              <a:t>30</a:t>
            </a:fld>
            <a:endParaRPr b="0" lang="fr-FR" sz="12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" name="Image 3" descr=""/>
          <p:cNvPicPr/>
          <p:nvPr/>
        </p:nvPicPr>
        <p:blipFill>
          <a:blip r:embed="rId1"/>
          <a:stretch/>
        </p:blipFill>
        <p:spPr>
          <a:xfrm>
            <a:off x="0" y="69840"/>
            <a:ext cx="4321440" cy="4557960"/>
          </a:xfrm>
          <a:prstGeom prst="rect">
            <a:avLst/>
          </a:prstGeom>
          <a:ln w="0">
            <a:noFill/>
          </a:ln>
        </p:spPr>
      </p:pic>
      <p:pic>
        <p:nvPicPr>
          <p:cNvPr id="168" name="Image 2" descr=""/>
          <p:cNvPicPr/>
          <p:nvPr/>
        </p:nvPicPr>
        <p:blipFill>
          <a:blip r:embed="rId2"/>
          <a:stretch/>
        </p:blipFill>
        <p:spPr>
          <a:xfrm>
            <a:off x="8079840" y="271080"/>
            <a:ext cx="3962520" cy="6096600"/>
          </a:xfrm>
          <a:prstGeom prst="rect">
            <a:avLst/>
          </a:prstGeom>
          <a:ln w="76200">
            <a:solidFill>
              <a:srgbClr val="ff0000"/>
            </a:solidFill>
            <a:round/>
          </a:ln>
        </p:spPr>
      </p:pic>
      <p:pic>
        <p:nvPicPr>
          <p:cNvPr id="169" name="Image 4" descr=""/>
          <p:cNvPicPr/>
          <p:nvPr/>
        </p:nvPicPr>
        <p:blipFill>
          <a:blip r:embed="rId3"/>
          <a:stretch/>
        </p:blipFill>
        <p:spPr>
          <a:xfrm>
            <a:off x="0" y="4873320"/>
            <a:ext cx="7925040" cy="1822680"/>
          </a:xfrm>
          <a:prstGeom prst="rect">
            <a:avLst/>
          </a:prstGeom>
          <a:ln w="0">
            <a:noFill/>
          </a:ln>
        </p:spPr>
      </p:pic>
      <p:sp>
        <p:nvSpPr>
          <p:cNvPr id="170" name="ZoneTexte 7"/>
          <p:cNvSpPr/>
          <p:nvPr/>
        </p:nvSpPr>
        <p:spPr>
          <a:xfrm>
            <a:off x="4167360" y="161640"/>
            <a:ext cx="3758040" cy="69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fr-FR" sz="4000" spc="-1" strike="noStrike">
                <a:solidFill>
                  <a:srgbClr val="ff0000"/>
                </a:solidFill>
                <a:latin typeface="Calibri"/>
              </a:rPr>
              <a:t>Fonction map()</a:t>
            </a:r>
            <a:endParaRPr b="0" lang="fr-FR" sz="4000" spc="-1" strike="noStrike">
              <a:latin typeface="Arial"/>
            </a:endParaRPr>
          </a:p>
        </p:txBody>
      </p:sp>
      <p:sp>
        <p:nvSpPr>
          <p:cNvPr id="171" name="Espace réservé du numéro de diapositive 1"/>
          <p:cNvSpPr txBox="1"/>
          <p:nvPr/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r">
              <a:lnSpc>
                <a:spcPct val="100000"/>
              </a:lnSpc>
            </a:pPr>
            <a:fld id="{AA105C4C-22FF-4451-8224-E2E76ADB076D}" type="slidenum">
              <a:rPr b="0" lang="fr-FR" sz="1200" spc="-1" strike="noStrike">
                <a:solidFill>
                  <a:srgbClr val="8b8b8b"/>
                </a:solidFill>
                <a:latin typeface="Calibri"/>
              </a:rPr>
              <a:t>30</a:t>
            </a:fld>
            <a:endParaRPr b="0" lang="fr-FR" sz="12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" name="Image 4" descr=""/>
          <p:cNvPicPr/>
          <p:nvPr/>
        </p:nvPicPr>
        <p:blipFill>
          <a:blip r:embed="rId1"/>
          <a:stretch/>
        </p:blipFill>
        <p:spPr>
          <a:xfrm>
            <a:off x="190080" y="1240200"/>
            <a:ext cx="9430560" cy="5429520"/>
          </a:xfrm>
          <a:prstGeom prst="rect">
            <a:avLst/>
          </a:prstGeom>
          <a:ln w="76200">
            <a:solidFill>
              <a:srgbClr val="ff0000"/>
            </a:solidFill>
            <a:round/>
          </a:ln>
        </p:spPr>
      </p:pic>
      <p:sp>
        <p:nvSpPr>
          <p:cNvPr id="173" name="Titre 1"/>
          <p:cNvSpPr txBox="1"/>
          <p:nvPr/>
        </p:nvSpPr>
        <p:spPr>
          <a:xfrm>
            <a:off x="0" y="0"/>
            <a:ext cx="12191760" cy="101232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rmAutofit/>
          </a:bodyPr>
          <a:p>
            <a:pPr algn="ctr">
              <a:lnSpc>
                <a:spcPct val="90000"/>
              </a:lnSpc>
            </a:pPr>
            <a:r>
              <a:rPr b="0" lang="fr-FR" sz="6000" spc="-1" strike="noStrike">
                <a:solidFill>
                  <a:srgbClr val="000000"/>
                </a:solidFill>
                <a:latin typeface="Calibri Light"/>
              </a:rPr>
              <a:t>setBalance() et setTone()</a:t>
            </a:r>
            <a:endParaRPr b="0" lang="fr-FR" sz="60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4" name="Espace réservé du numéro de diapositive 1"/>
          <p:cNvSpPr txBox="1"/>
          <p:nvPr/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r">
              <a:lnSpc>
                <a:spcPct val="100000"/>
              </a:lnSpc>
            </a:pPr>
            <a:fld id="{60E76DEA-A2AB-41C6-B31D-E7A96A72826A}" type="slidenum">
              <a:rPr b="0" lang="fr-FR" sz="1200" spc="-1" strike="noStrike">
                <a:solidFill>
                  <a:srgbClr val="8b8b8b"/>
                </a:solidFill>
                <a:latin typeface="Calibri"/>
              </a:rPr>
              <a:t>33</a:t>
            </a:fld>
            <a:endParaRPr b="0" lang="fr-FR" sz="12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ZoneTexte 1"/>
          <p:cNvSpPr/>
          <p:nvPr/>
        </p:nvSpPr>
        <p:spPr>
          <a:xfrm>
            <a:off x="2284560" y="0"/>
            <a:ext cx="7622640" cy="173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</a:pPr>
            <a:r>
              <a:rPr b="1" lang="fr-FR" sz="5400" spc="-1" strike="noStrike">
                <a:solidFill>
                  <a:srgbClr val="ff0000"/>
                </a:solidFill>
                <a:latin typeface="Calibri"/>
              </a:rPr>
              <a:t>LAB 3:</a:t>
            </a:r>
            <a:endParaRPr b="0" lang="fr-FR" sz="54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1" lang="fr-FR" sz="5400" spc="-1" strike="noStrike">
                <a:solidFill>
                  <a:srgbClr val="ff0000"/>
                </a:solidFill>
                <a:latin typeface="Calibri"/>
              </a:rPr>
              <a:t>Gestion de la Tonalité</a:t>
            </a:r>
            <a:endParaRPr b="0" lang="fr-FR" sz="5400" spc="-1" strike="noStrike">
              <a:latin typeface="Arial"/>
            </a:endParaRPr>
          </a:p>
        </p:txBody>
      </p:sp>
      <p:sp>
        <p:nvSpPr>
          <p:cNvPr id="176" name="ZoneTexte 2"/>
          <p:cNvSpPr/>
          <p:nvPr/>
        </p:nvSpPr>
        <p:spPr>
          <a:xfrm>
            <a:off x="70200" y="3317760"/>
            <a:ext cx="11832480" cy="374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fr-FR" sz="2400" spc="-1" strike="noStrike">
                <a:solidFill>
                  <a:srgbClr val="0070c0"/>
                </a:solidFill>
                <a:latin typeface="Calibri"/>
              </a:rPr>
              <a:t>Répondre aux questions suivantes en vous aidant des diapositives précédentes et suivantes:</a:t>
            </a:r>
            <a:endParaRPr b="0" lang="fr-FR" sz="2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fr-FR" sz="2400" spc="-1" strike="noStrike">
              <a:latin typeface="Arial"/>
            </a:endParaRPr>
          </a:p>
          <a:p>
            <a:pPr marL="343080" indent="-342720">
              <a:lnSpc>
                <a:spcPct val="100000"/>
              </a:lnSpc>
              <a:buClr>
                <a:srgbClr val="0070c0"/>
              </a:buClr>
              <a:buFont typeface="Calibri Light"/>
              <a:buAutoNum type="arabicPeriod"/>
            </a:pPr>
            <a:r>
              <a:rPr b="0" lang="fr-FR" sz="2400" spc="-1" strike="noStrike">
                <a:solidFill>
                  <a:srgbClr val="0070c0"/>
                </a:solidFill>
                <a:latin typeface="Calibri"/>
              </a:rPr>
              <a:t>Sur combien de bits est géré le gain/amplitude des BASS et des TREBLE, ainsi que leur fréquence de coupure ?</a:t>
            </a:r>
            <a:endParaRPr b="0" lang="fr-FR" sz="2400" spc="-1" strike="noStrike">
              <a:latin typeface="Arial"/>
            </a:endParaRPr>
          </a:p>
          <a:p>
            <a:pPr marL="343080" indent="-342720">
              <a:lnSpc>
                <a:spcPct val="100000"/>
              </a:lnSpc>
              <a:buClr>
                <a:srgbClr val="0070c0"/>
              </a:buClr>
              <a:buFont typeface="Calibri Light"/>
              <a:buAutoNum type="arabicPeriod"/>
            </a:pPr>
            <a:r>
              <a:rPr b="0" lang="fr-FR" sz="2400" spc="-1" strike="noStrike">
                <a:solidFill>
                  <a:srgbClr val="0070c0"/>
                </a:solidFill>
                <a:latin typeface="Calibri"/>
              </a:rPr>
              <a:t>Donner les valeurs des gains/amplitudes pour la gestion des BASS et du TREBLE.</a:t>
            </a:r>
            <a:endParaRPr b="0" lang="fr-FR" sz="2400" spc="-1" strike="noStrike">
              <a:latin typeface="Arial"/>
            </a:endParaRPr>
          </a:p>
          <a:p>
            <a:pPr marL="343080" indent="-342720">
              <a:lnSpc>
                <a:spcPct val="100000"/>
              </a:lnSpc>
              <a:buClr>
                <a:srgbClr val="0070c0"/>
              </a:buClr>
              <a:buFont typeface="Calibri Light"/>
              <a:buAutoNum type="arabicPeriod"/>
            </a:pPr>
            <a:r>
              <a:rPr b="0" lang="fr-FR" sz="2400" spc="-1" strike="noStrike">
                <a:solidFill>
                  <a:srgbClr val="0070c0"/>
                </a:solidFill>
                <a:latin typeface="Calibri"/>
              </a:rPr>
              <a:t>Donner les valeurs des fréquences de coupure pour la gestion des BASS et du TREBLE.</a:t>
            </a:r>
            <a:endParaRPr b="0" lang="fr-FR" sz="2400" spc="-1" strike="noStrike">
              <a:latin typeface="Arial"/>
            </a:endParaRPr>
          </a:p>
          <a:p>
            <a:pPr marL="343080" indent="-342720">
              <a:lnSpc>
                <a:spcPct val="100000"/>
              </a:lnSpc>
              <a:buClr>
                <a:srgbClr val="0070c0"/>
              </a:buClr>
              <a:buFont typeface="Calibri Light"/>
              <a:buAutoNum type="arabicPeriod"/>
            </a:pPr>
            <a:r>
              <a:rPr b="0" lang="fr-FR" sz="2400" spc="-1" strike="noStrike">
                <a:solidFill>
                  <a:srgbClr val="0070c0"/>
                </a:solidFill>
                <a:latin typeface="Calibri"/>
              </a:rPr>
              <a:t>Expliquer ce que fait la boucle for dans la fonction « setTone() » et compléter la variable « Tonalite[4] » par les variables « Bass_Amp, Treble_AMP, Bass_Freq et Treble_Feq » ?</a:t>
            </a:r>
            <a:endParaRPr b="0" lang="fr-FR" sz="2400" spc="-1" strike="noStrike">
              <a:latin typeface="Arial"/>
            </a:endParaRPr>
          </a:p>
          <a:p>
            <a:pPr marL="343080" indent="-342720">
              <a:lnSpc>
                <a:spcPct val="100000"/>
              </a:lnSpc>
              <a:buClr>
                <a:srgbClr val="0070c0"/>
              </a:buClr>
              <a:buFont typeface="Calibri Light"/>
              <a:buAutoNum type="arabicPeriod"/>
            </a:pPr>
            <a:r>
              <a:rPr b="0" lang="fr-FR" sz="2400" spc="-1" strike="noStrike">
                <a:solidFill>
                  <a:srgbClr val="0070c0"/>
                </a:solidFill>
                <a:latin typeface="Calibri"/>
              </a:rPr>
              <a:t>Donner le script des fonctions « Bass_Moins() », « Treble_Plus » et « Treble_Moins ».</a:t>
            </a:r>
            <a:endParaRPr b="0" lang="fr-FR" sz="2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fr-FR" sz="2400" spc="-1" strike="noStrike">
              <a:latin typeface="Arial"/>
            </a:endParaRPr>
          </a:p>
        </p:txBody>
      </p:sp>
      <p:pic>
        <p:nvPicPr>
          <p:cNvPr id="177" name="Picture 3" descr=""/>
          <p:cNvPicPr/>
          <p:nvPr/>
        </p:nvPicPr>
        <p:blipFill>
          <a:blip r:embed="rId1"/>
          <a:srcRect l="0" t="49179" r="0" b="31422"/>
          <a:stretch/>
        </p:blipFill>
        <p:spPr>
          <a:xfrm>
            <a:off x="4591080" y="1885320"/>
            <a:ext cx="3009600" cy="1301040"/>
          </a:xfrm>
          <a:prstGeom prst="rect">
            <a:avLst/>
          </a:prstGeom>
          <a:ln w="0">
            <a:noFill/>
          </a:ln>
        </p:spPr>
      </p:pic>
      <p:sp>
        <p:nvSpPr>
          <p:cNvPr id="178" name="Espace réservé du numéro de diapositive 4"/>
          <p:cNvSpPr txBox="1"/>
          <p:nvPr/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r">
              <a:lnSpc>
                <a:spcPct val="100000"/>
              </a:lnSpc>
            </a:pPr>
            <a:fld id="{BF26ABCA-BA44-4D89-91F5-49F8121E552E}" type="slidenum">
              <a:rPr b="0" lang="fr-FR" sz="1200" spc="-1" strike="noStrike">
                <a:solidFill>
                  <a:srgbClr val="8b8b8b"/>
                </a:solidFill>
                <a:latin typeface="Calibri"/>
              </a:rPr>
              <a:t>33</a:t>
            </a:fld>
            <a:endParaRPr b="0" lang="fr-FR" sz="12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" name="Image 4" descr=""/>
          <p:cNvPicPr/>
          <p:nvPr/>
        </p:nvPicPr>
        <p:blipFill>
          <a:blip r:embed="rId1"/>
          <a:stretch/>
        </p:blipFill>
        <p:spPr>
          <a:xfrm>
            <a:off x="190080" y="1240200"/>
            <a:ext cx="9430560" cy="5429520"/>
          </a:xfrm>
          <a:prstGeom prst="rect">
            <a:avLst/>
          </a:prstGeom>
          <a:ln w="76200">
            <a:solidFill>
              <a:srgbClr val="ff0000"/>
            </a:solidFill>
            <a:round/>
          </a:ln>
        </p:spPr>
      </p:pic>
      <p:sp>
        <p:nvSpPr>
          <p:cNvPr id="180" name="Titre 1"/>
          <p:cNvSpPr txBox="1"/>
          <p:nvPr/>
        </p:nvSpPr>
        <p:spPr>
          <a:xfrm>
            <a:off x="0" y="0"/>
            <a:ext cx="12191760" cy="101232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rmAutofit/>
          </a:bodyPr>
          <a:p>
            <a:pPr algn="ctr">
              <a:lnSpc>
                <a:spcPct val="90000"/>
              </a:lnSpc>
            </a:pPr>
            <a:r>
              <a:rPr b="0" lang="fr-FR" sz="6000" spc="-1" strike="noStrike">
                <a:solidFill>
                  <a:srgbClr val="000000"/>
                </a:solidFill>
                <a:latin typeface="Calibri Light"/>
              </a:rPr>
              <a:t>setBalance() et setTone()</a:t>
            </a:r>
            <a:endParaRPr b="0" lang="fr-FR" sz="60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1" name="Espace réservé du numéro de diapositive 1"/>
          <p:cNvSpPr txBox="1"/>
          <p:nvPr/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r">
              <a:lnSpc>
                <a:spcPct val="100000"/>
              </a:lnSpc>
            </a:pPr>
            <a:fld id="{4A6DDAEF-EECE-4FA6-932D-834C35736D8F}" type="slidenum">
              <a:rPr b="0" lang="fr-FR" sz="1200" spc="-1" strike="noStrike">
                <a:solidFill>
                  <a:srgbClr val="8b8b8b"/>
                </a:solidFill>
                <a:latin typeface="Calibri"/>
              </a:rPr>
              <a:t>35</a:t>
            </a:fld>
            <a:endParaRPr b="0" lang="fr-FR" sz="12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2" name="Image 9" descr=""/>
          <p:cNvPicPr/>
          <p:nvPr/>
        </p:nvPicPr>
        <p:blipFill>
          <a:blip r:embed="rId1"/>
          <a:stretch/>
        </p:blipFill>
        <p:spPr>
          <a:xfrm>
            <a:off x="56880" y="0"/>
            <a:ext cx="9758520" cy="6857640"/>
          </a:xfrm>
          <a:prstGeom prst="rect">
            <a:avLst/>
          </a:prstGeom>
          <a:ln w="0">
            <a:noFill/>
          </a:ln>
        </p:spPr>
      </p:pic>
      <p:sp>
        <p:nvSpPr>
          <p:cNvPr id="183" name="Espace réservé du numéro de diapositive 1"/>
          <p:cNvSpPr txBox="1"/>
          <p:nvPr/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r">
              <a:lnSpc>
                <a:spcPct val="100000"/>
              </a:lnSpc>
            </a:pPr>
            <a:fld id="{DB4FC5CF-8CF8-4350-B7E9-8EECC8CB00F0}" type="slidenum">
              <a:rPr b="0" lang="fr-FR" sz="1200" spc="-1" strike="noStrike">
                <a:solidFill>
                  <a:srgbClr val="8b8b8b"/>
                </a:solidFill>
                <a:latin typeface="Calibri"/>
              </a:rPr>
              <a:t>35</a:t>
            </a:fld>
            <a:endParaRPr b="0" lang="fr-FR" sz="12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ZoneTexte 3"/>
          <p:cNvSpPr/>
          <p:nvPr/>
        </p:nvSpPr>
        <p:spPr>
          <a:xfrm>
            <a:off x="194760" y="2508840"/>
            <a:ext cx="7768440" cy="4205160"/>
          </a:xfrm>
          <a:prstGeom prst="rect">
            <a:avLst/>
          </a:prstGeom>
          <a:noFill/>
          <a:ln w="7620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fr-FR" sz="1800" spc="-1" strike="noStrike">
                <a:solidFill>
                  <a:srgbClr val="70ad47"/>
                </a:solidFill>
                <a:latin typeface="Consolas"/>
              </a:rPr>
              <a:t>//Fonction appelée lorsqu’on appui sur le bouton « BASS + »</a:t>
            </a:r>
            <a:endParaRPr b="0" lang="fr-FR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800" spc="-1" strike="noStrike">
                <a:solidFill>
                  <a:srgbClr val="00979d"/>
                </a:solidFill>
                <a:latin typeface="Consolas"/>
              </a:rPr>
              <a:t>void</a:t>
            </a:r>
            <a:r>
              <a:rPr b="0" lang="fr-FR" sz="1800" spc="-1" strike="noStrike">
                <a:solidFill>
                  <a:srgbClr val="4e5b61"/>
                </a:solidFill>
                <a:latin typeface="Consolas"/>
              </a:rPr>
              <a:t> </a:t>
            </a:r>
            <a:r>
              <a:rPr b="0" lang="fr-FR" sz="1800" spc="-1" strike="noStrike">
                <a:solidFill>
                  <a:srgbClr val="d35400"/>
                </a:solidFill>
                <a:latin typeface="Consolas"/>
              </a:rPr>
              <a:t>BassPlus</a:t>
            </a:r>
            <a:r>
              <a:rPr b="0" lang="fr-FR" sz="1800" spc="-1" strike="noStrike">
                <a:solidFill>
                  <a:srgbClr val="434f54"/>
                </a:solidFill>
                <a:latin typeface="Consolas"/>
              </a:rPr>
              <a:t>(</a:t>
            </a:r>
            <a:r>
              <a:rPr b="0" lang="fr-FR" sz="1800" spc="-1" strike="noStrike">
                <a:solidFill>
                  <a:srgbClr val="00979d"/>
                </a:solidFill>
                <a:latin typeface="Consolas"/>
              </a:rPr>
              <a:t>void</a:t>
            </a:r>
            <a:r>
              <a:rPr b="0" lang="fr-FR" sz="1800" spc="-1" strike="noStrike">
                <a:solidFill>
                  <a:srgbClr val="434f54"/>
                </a:solidFill>
                <a:latin typeface="Consolas"/>
              </a:rPr>
              <a:t>)</a:t>
            </a:r>
            <a:r>
              <a:rPr b="0" lang="fr-FR" sz="1800" spc="-1" strike="noStrike">
                <a:solidFill>
                  <a:srgbClr val="4e5b61"/>
                </a:solidFill>
                <a:latin typeface="Consolas"/>
              </a:rPr>
              <a:t> </a:t>
            </a:r>
            <a:r>
              <a:rPr b="0" lang="fr-FR" sz="1800" spc="-1" strike="noStrike">
                <a:solidFill>
                  <a:srgbClr val="434f54"/>
                </a:solidFill>
                <a:latin typeface="Consolas"/>
              </a:rPr>
              <a:t>{</a:t>
            </a:r>
            <a:endParaRPr b="0" lang="fr-FR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800" spc="-1" strike="noStrike">
                <a:solidFill>
                  <a:srgbClr val="4e5b61"/>
                </a:solidFill>
                <a:latin typeface="Consolas"/>
              </a:rPr>
              <a:t>  </a:t>
            </a:r>
            <a:r>
              <a:rPr b="0" lang="fr-FR" sz="1800" spc="-1" strike="noStrike">
                <a:solidFill>
                  <a:srgbClr val="728e00"/>
                </a:solidFill>
                <a:latin typeface="Consolas"/>
              </a:rPr>
              <a:t>if</a:t>
            </a:r>
            <a:r>
              <a:rPr b="0" lang="fr-FR" sz="1800" spc="-1" strike="noStrike">
                <a:solidFill>
                  <a:srgbClr val="4e5b61"/>
                </a:solidFill>
                <a:latin typeface="Consolas"/>
              </a:rPr>
              <a:t> </a:t>
            </a:r>
            <a:r>
              <a:rPr b="0" lang="fr-FR" sz="1800" spc="-1" strike="noStrike">
                <a:solidFill>
                  <a:srgbClr val="434f54"/>
                </a:solidFill>
                <a:latin typeface="Consolas"/>
              </a:rPr>
              <a:t>(</a:t>
            </a:r>
            <a:r>
              <a:rPr b="0" lang="fr-FR" sz="1800" spc="-1" strike="noStrike">
                <a:solidFill>
                  <a:srgbClr val="4e5b61"/>
                </a:solidFill>
                <a:latin typeface="Consolas"/>
              </a:rPr>
              <a:t>Bass_Amp &lt; </a:t>
            </a:r>
            <a:r>
              <a:rPr b="0" lang="fr-FR" sz="1800" spc="-1" strike="noStrike">
                <a:solidFill>
                  <a:srgbClr val="005c5f"/>
                </a:solidFill>
                <a:latin typeface="Consolas"/>
              </a:rPr>
              <a:t>15</a:t>
            </a:r>
            <a:r>
              <a:rPr b="0" lang="fr-FR" sz="1800" spc="-1" strike="noStrike">
                <a:solidFill>
                  <a:srgbClr val="434f54"/>
                </a:solidFill>
                <a:latin typeface="Consolas"/>
              </a:rPr>
              <a:t>)</a:t>
            </a:r>
            <a:r>
              <a:rPr b="0" lang="fr-FR" sz="1800" spc="-1" strike="noStrike">
                <a:solidFill>
                  <a:srgbClr val="4e5b61"/>
                </a:solidFill>
                <a:latin typeface="Consolas"/>
              </a:rPr>
              <a:t> </a:t>
            </a:r>
            <a:r>
              <a:rPr b="0" lang="fr-FR" sz="1800" spc="-1" strike="noStrike">
                <a:solidFill>
                  <a:srgbClr val="434f54"/>
                </a:solidFill>
                <a:latin typeface="Consolas"/>
              </a:rPr>
              <a:t>{</a:t>
            </a:r>
            <a:endParaRPr b="0" lang="fr-FR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800" spc="-1" strike="noStrike">
                <a:solidFill>
                  <a:srgbClr val="4e5b61"/>
                </a:solidFill>
                <a:latin typeface="Consolas"/>
              </a:rPr>
              <a:t>    </a:t>
            </a:r>
            <a:r>
              <a:rPr b="0" lang="fr-FR" sz="1800" spc="-1" strike="noStrike">
                <a:solidFill>
                  <a:srgbClr val="4e5b61"/>
                </a:solidFill>
                <a:latin typeface="Consolas"/>
              </a:rPr>
              <a:t>Bass_Amp++;</a:t>
            </a:r>
            <a:endParaRPr b="0" lang="fr-FR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800" spc="-1" strike="noStrike">
                <a:solidFill>
                  <a:srgbClr val="95a5a6"/>
                </a:solidFill>
                <a:latin typeface="Consolas"/>
              </a:rPr>
              <a:t>    </a:t>
            </a:r>
            <a:r>
              <a:rPr b="0" lang="fr-FR" sz="1800" spc="-1" strike="noStrike">
                <a:solidFill>
                  <a:srgbClr val="d35400"/>
                </a:solidFill>
                <a:latin typeface="Consolas"/>
              </a:rPr>
              <a:t>Tonalite</a:t>
            </a:r>
            <a:r>
              <a:rPr b="0" lang="fr-FR" sz="1800" spc="-1" strike="noStrike">
                <a:solidFill>
                  <a:srgbClr val="4e5b61"/>
                </a:solidFill>
                <a:latin typeface="Consolas"/>
              </a:rPr>
              <a:t>[</a:t>
            </a:r>
            <a:r>
              <a:rPr b="0" lang="fr-FR" sz="1800" spc="-1" strike="noStrike">
                <a:solidFill>
                  <a:srgbClr val="005c5f"/>
                </a:solidFill>
                <a:latin typeface="Consolas"/>
              </a:rPr>
              <a:t>2</a:t>
            </a:r>
            <a:r>
              <a:rPr b="0" lang="fr-FR" sz="1800" spc="-1" strike="noStrike">
                <a:solidFill>
                  <a:srgbClr val="4e5b61"/>
                </a:solidFill>
                <a:latin typeface="Consolas"/>
              </a:rPr>
              <a:t>]=Bass_Amp;</a:t>
            </a:r>
            <a:endParaRPr b="0" lang="fr-FR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800" spc="-1" strike="noStrike">
                <a:solidFill>
                  <a:srgbClr val="4e5b61"/>
                </a:solidFill>
                <a:latin typeface="Consolas"/>
              </a:rPr>
              <a:t>    </a:t>
            </a:r>
            <a:r>
              <a:rPr b="0" lang="fr-FR" sz="1800" spc="-1" strike="noStrike">
                <a:solidFill>
                  <a:srgbClr val="d35400"/>
                </a:solidFill>
                <a:latin typeface="Consolas"/>
              </a:rPr>
              <a:t>Tonalite</a:t>
            </a:r>
            <a:r>
              <a:rPr b="0" lang="fr-FR" sz="1800" spc="-1" strike="noStrike">
                <a:solidFill>
                  <a:srgbClr val="4e5b61"/>
                </a:solidFill>
                <a:latin typeface="Consolas"/>
              </a:rPr>
              <a:t>[</a:t>
            </a:r>
            <a:r>
              <a:rPr b="0" lang="fr-FR" sz="1800" spc="-1" strike="noStrike">
                <a:solidFill>
                  <a:srgbClr val="005c5f"/>
                </a:solidFill>
                <a:latin typeface="Consolas"/>
              </a:rPr>
              <a:t>0</a:t>
            </a:r>
            <a:r>
              <a:rPr b="0" lang="fr-FR" sz="1800" spc="-1" strike="noStrike">
                <a:solidFill>
                  <a:srgbClr val="4e5b61"/>
                </a:solidFill>
                <a:latin typeface="Consolas"/>
              </a:rPr>
              <a:t>]=Treble_Amp;</a:t>
            </a:r>
            <a:endParaRPr b="0" lang="fr-FR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800" spc="-1" strike="noStrike">
                <a:solidFill>
                  <a:srgbClr val="4e5b61"/>
                </a:solidFill>
                <a:latin typeface="Consolas"/>
              </a:rPr>
              <a:t>    </a:t>
            </a:r>
            <a:r>
              <a:rPr b="0" lang="fr-FR" sz="1800" spc="-1" strike="noStrike">
                <a:solidFill>
                  <a:srgbClr val="4e5b61"/>
                </a:solidFill>
                <a:latin typeface="Consolas"/>
              </a:rPr>
              <a:t>Bass_Freq = Defaut_BF;</a:t>
            </a:r>
            <a:endParaRPr b="0" lang="fr-FR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800" spc="-1" strike="noStrike">
                <a:solidFill>
                  <a:srgbClr val="4e5b61"/>
                </a:solidFill>
                <a:latin typeface="Consolas"/>
              </a:rPr>
              <a:t>    </a:t>
            </a:r>
            <a:r>
              <a:rPr b="0" lang="fr-FR" sz="1800" spc="-1" strike="noStrike">
                <a:solidFill>
                  <a:srgbClr val="d35400"/>
                </a:solidFill>
                <a:latin typeface="Consolas"/>
              </a:rPr>
              <a:t>Tonalite</a:t>
            </a:r>
            <a:r>
              <a:rPr b="0" lang="fr-FR" sz="1800" spc="-1" strike="noStrike">
                <a:solidFill>
                  <a:srgbClr val="4e5b61"/>
                </a:solidFill>
                <a:latin typeface="Consolas"/>
              </a:rPr>
              <a:t>[</a:t>
            </a:r>
            <a:r>
              <a:rPr b="0" lang="fr-FR" sz="1800" spc="-1" strike="noStrike">
                <a:solidFill>
                  <a:srgbClr val="005c5f"/>
                </a:solidFill>
                <a:latin typeface="Consolas"/>
              </a:rPr>
              <a:t>3</a:t>
            </a:r>
            <a:r>
              <a:rPr b="0" lang="fr-FR" sz="1800" spc="-1" strike="noStrike">
                <a:solidFill>
                  <a:srgbClr val="4e5b61"/>
                </a:solidFill>
                <a:latin typeface="Consolas"/>
              </a:rPr>
              <a:t>]=Bass_Freq;</a:t>
            </a:r>
            <a:endParaRPr b="0" lang="fr-FR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800" spc="-1" strike="noStrike">
                <a:solidFill>
                  <a:srgbClr val="4e5b61"/>
                </a:solidFill>
                <a:latin typeface="Consolas"/>
              </a:rPr>
              <a:t>    </a:t>
            </a:r>
            <a:r>
              <a:rPr b="0" lang="fr-FR" sz="1800" spc="-1" strike="noStrike">
                <a:solidFill>
                  <a:srgbClr val="4e5b61"/>
                </a:solidFill>
                <a:latin typeface="Consolas"/>
              </a:rPr>
              <a:t>Treble_Freq = Defaut_TF;</a:t>
            </a:r>
            <a:endParaRPr b="0" lang="fr-FR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800" spc="-1" strike="noStrike">
                <a:solidFill>
                  <a:srgbClr val="4e5b61"/>
                </a:solidFill>
                <a:latin typeface="Consolas"/>
              </a:rPr>
              <a:t>    </a:t>
            </a:r>
            <a:r>
              <a:rPr b="0" lang="fr-FR" sz="1800" spc="-1" strike="noStrike">
                <a:solidFill>
                  <a:srgbClr val="d35400"/>
                </a:solidFill>
                <a:latin typeface="Consolas"/>
              </a:rPr>
              <a:t>Tonalite</a:t>
            </a:r>
            <a:r>
              <a:rPr b="0" lang="fr-FR" sz="1800" spc="-1" strike="noStrike">
                <a:solidFill>
                  <a:srgbClr val="4e5b61"/>
                </a:solidFill>
                <a:latin typeface="Consolas"/>
              </a:rPr>
              <a:t>[</a:t>
            </a:r>
            <a:r>
              <a:rPr b="0" lang="fr-FR" sz="1800" spc="-1" strike="noStrike">
                <a:solidFill>
                  <a:srgbClr val="005c5f"/>
                </a:solidFill>
                <a:latin typeface="Consolas"/>
              </a:rPr>
              <a:t>1</a:t>
            </a:r>
            <a:r>
              <a:rPr b="0" lang="fr-FR" sz="1800" spc="-1" strike="noStrike">
                <a:solidFill>
                  <a:srgbClr val="4e5b61"/>
                </a:solidFill>
                <a:latin typeface="Consolas"/>
              </a:rPr>
              <a:t>]=Treble_Freq;</a:t>
            </a:r>
            <a:endParaRPr b="0" lang="fr-FR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800" spc="-1" strike="noStrike">
                <a:solidFill>
                  <a:srgbClr val="4e5b61"/>
                </a:solidFill>
                <a:latin typeface="Consolas"/>
              </a:rPr>
              <a:t>    </a:t>
            </a:r>
            <a:r>
              <a:rPr b="0" lang="fr-FR" sz="1800" spc="-1" strike="noStrike">
                <a:solidFill>
                  <a:srgbClr val="d35400"/>
                </a:solidFill>
                <a:latin typeface="Consolas"/>
              </a:rPr>
              <a:t>stream</a:t>
            </a:r>
            <a:r>
              <a:rPr b="0" lang="fr-FR" sz="1800" spc="-1" strike="noStrike">
                <a:solidFill>
                  <a:srgbClr val="4e5b61"/>
                </a:solidFill>
                <a:latin typeface="Consolas"/>
              </a:rPr>
              <a:t>.</a:t>
            </a:r>
            <a:r>
              <a:rPr b="0" lang="fr-FR" sz="1800" spc="-1" strike="noStrike">
                <a:solidFill>
                  <a:srgbClr val="d35400"/>
                </a:solidFill>
                <a:latin typeface="Consolas"/>
              </a:rPr>
              <a:t>setTone</a:t>
            </a:r>
            <a:r>
              <a:rPr b="0" lang="fr-FR" sz="1800" spc="-1" strike="noStrike">
                <a:solidFill>
                  <a:srgbClr val="434f54"/>
                </a:solidFill>
                <a:latin typeface="Consolas"/>
              </a:rPr>
              <a:t>(</a:t>
            </a:r>
            <a:r>
              <a:rPr b="0" lang="fr-FR" sz="1800" spc="-1" strike="noStrike">
                <a:solidFill>
                  <a:srgbClr val="4e5b61"/>
                </a:solidFill>
                <a:latin typeface="Consolas"/>
              </a:rPr>
              <a:t>Tonalite</a:t>
            </a:r>
            <a:r>
              <a:rPr b="0" lang="fr-FR" sz="1800" spc="-1" strike="noStrike">
                <a:solidFill>
                  <a:srgbClr val="434f54"/>
                </a:solidFill>
                <a:latin typeface="Consolas"/>
              </a:rPr>
              <a:t>)</a:t>
            </a:r>
            <a:r>
              <a:rPr b="0" lang="fr-FR" sz="1800" spc="-1" strike="noStrike">
                <a:solidFill>
                  <a:srgbClr val="4e5b61"/>
                </a:solidFill>
                <a:latin typeface="Consolas"/>
              </a:rPr>
              <a:t>;</a:t>
            </a:r>
            <a:endParaRPr b="0" lang="fr-FR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800" spc="-1" strike="noStrike">
                <a:solidFill>
                  <a:srgbClr val="4e5b61"/>
                </a:solidFill>
                <a:latin typeface="Consolas"/>
              </a:rPr>
              <a:t>    </a:t>
            </a:r>
            <a:r>
              <a:rPr b="0" lang="fr-FR" sz="1800" spc="-1" strike="noStrike">
                <a:solidFill>
                  <a:srgbClr val="d35400"/>
                </a:solidFill>
                <a:latin typeface="Consolas"/>
              </a:rPr>
              <a:t>Serial</a:t>
            </a:r>
            <a:r>
              <a:rPr b="0" lang="fr-FR" sz="1800" spc="-1" strike="noStrike">
                <a:solidFill>
                  <a:srgbClr val="4e5b61"/>
                </a:solidFill>
                <a:latin typeface="Consolas"/>
              </a:rPr>
              <a:t>.</a:t>
            </a:r>
            <a:r>
              <a:rPr b="0" lang="fr-FR" sz="1800" spc="-1" strike="noStrike">
                <a:solidFill>
                  <a:srgbClr val="d35400"/>
                </a:solidFill>
                <a:latin typeface="Consolas"/>
              </a:rPr>
              <a:t>println</a:t>
            </a:r>
            <a:r>
              <a:rPr b="0" lang="fr-FR" sz="1800" spc="-1" strike="noStrike">
                <a:solidFill>
                  <a:srgbClr val="434f54"/>
                </a:solidFill>
                <a:latin typeface="Consolas"/>
              </a:rPr>
              <a:t>(</a:t>
            </a:r>
            <a:r>
              <a:rPr b="0" lang="fr-FR" sz="1800" spc="-1" strike="noStrike">
                <a:solidFill>
                  <a:srgbClr val="005c5f"/>
                </a:solidFill>
                <a:latin typeface="Consolas"/>
              </a:rPr>
              <a:t>"Tonalité des Bass effectué !"</a:t>
            </a:r>
            <a:r>
              <a:rPr b="0" lang="fr-FR" sz="1800" spc="-1" strike="noStrike">
                <a:solidFill>
                  <a:srgbClr val="434f54"/>
                </a:solidFill>
                <a:latin typeface="Consolas"/>
              </a:rPr>
              <a:t>)</a:t>
            </a:r>
            <a:r>
              <a:rPr b="0" lang="fr-FR" sz="1800" spc="-1" strike="noStrike">
                <a:solidFill>
                  <a:srgbClr val="4e5b61"/>
                </a:solidFill>
                <a:latin typeface="Consolas"/>
              </a:rPr>
              <a:t>;</a:t>
            </a:r>
            <a:endParaRPr b="0" lang="fr-FR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800" spc="-1" strike="noStrike">
                <a:solidFill>
                  <a:srgbClr val="4e5b61"/>
                </a:solidFill>
                <a:latin typeface="Consolas"/>
              </a:rPr>
              <a:t>    </a:t>
            </a:r>
            <a:r>
              <a:rPr b="0" lang="fr-FR" sz="1800" spc="-1" strike="noStrike">
                <a:solidFill>
                  <a:srgbClr val="434f54"/>
                </a:solidFill>
                <a:latin typeface="Consolas"/>
              </a:rPr>
              <a:t>}</a:t>
            </a:r>
            <a:endParaRPr b="0" lang="fr-FR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800" spc="-1" strike="noStrike">
                <a:solidFill>
                  <a:srgbClr val="4e5b61"/>
                </a:solidFill>
                <a:latin typeface="Consolas"/>
              </a:rPr>
              <a:t>  </a:t>
            </a:r>
            <a:r>
              <a:rPr b="0" lang="fr-FR" sz="1800" spc="-1" strike="noStrike">
                <a:solidFill>
                  <a:srgbClr val="434f54"/>
                </a:solidFill>
                <a:latin typeface="Consolas"/>
              </a:rPr>
              <a:t>}</a:t>
            </a:r>
            <a:endParaRPr b="0" lang="fr-FR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800" spc="-1" strike="noStrike">
                <a:solidFill>
                  <a:srgbClr val="434f54"/>
                </a:solidFill>
                <a:latin typeface="Consolas"/>
              </a:rPr>
              <a:t>}</a:t>
            </a:r>
            <a:endParaRPr b="0" lang="fr-FR" sz="1800" spc="-1" strike="noStrike">
              <a:latin typeface="Arial"/>
            </a:endParaRPr>
          </a:p>
        </p:txBody>
      </p:sp>
      <p:sp>
        <p:nvSpPr>
          <p:cNvPr id="185" name="ZoneTexte 5"/>
          <p:cNvSpPr/>
          <p:nvPr/>
        </p:nvSpPr>
        <p:spPr>
          <a:xfrm>
            <a:off x="194760" y="240840"/>
            <a:ext cx="9188280" cy="2010600"/>
          </a:xfrm>
          <a:prstGeom prst="rect">
            <a:avLst/>
          </a:prstGeom>
          <a:noFill/>
          <a:ln w="7620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fr-FR" sz="1800" spc="-1" strike="noStrike">
                <a:solidFill>
                  <a:srgbClr val="728e00"/>
                </a:solidFill>
                <a:latin typeface="Consolas"/>
              </a:rPr>
              <a:t>#define</a:t>
            </a:r>
            <a:r>
              <a:rPr b="0" lang="fr-FR" sz="1800" spc="-1" strike="noStrike">
                <a:solidFill>
                  <a:srgbClr val="4e5b61"/>
                </a:solidFill>
                <a:latin typeface="Consolas"/>
              </a:rPr>
              <a:t> </a:t>
            </a:r>
            <a:r>
              <a:rPr b="0" lang="fr-FR" sz="1800" spc="-1" strike="noStrike">
                <a:solidFill>
                  <a:srgbClr val="d35400"/>
                </a:solidFill>
                <a:latin typeface="Consolas"/>
              </a:rPr>
              <a:t>Defaut_TF</a:t>
            </a:r>
            <a:r>
              <a:rPr b="0" lang="fr-FR" sz="1800" spc="-1" strike="noStrike">
                <a:solidFill>
                  <a:srgbClr val="4e5b61"/>
                </a:solidFill>
                <a:latin typeface="Consolas"/>
              </a:rPr>
              <a:t> </a:t>
            </a:r>
            <a:r>
              <a:rPr b="0" lang="fr-FR" sz="1800" spc="-1" strike="noStrike">
                <a:solidFill>
                  <a:srgbClr val="005c5f"/>
                </a:solidFill>
                <a:latin typeface="Consolas"/>
              </a:rPr>
              <a:t>2</a:t>
            </a:r>
            <a:r>
              <a:rPr b="0" lang="fr-FR" sz="1800" spc="-1" strike="noStrike">
                <a:solidFill>
                  <a:srgbClr val="95a5a6"/>
                </a:solidFill>
                <a:latin typeface="Consolas"/>
              </a:rPr>
              <a:t>  //2KHz</a:t>
            </a:r>
            <a:endParaRPr b="0" lang="fr-FR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800" spc="-1" strike="noStrike">
                <a:solidFill>
                  <a:srgbClr val="728e00"/>
                </a:solidFill>
                <a:latin typeface="Consolas"/>
              </a:rPr>
              <a:t>#define</a:t>
            </a:r>
            <a:r>
              <a:rPr b="0" lang="fr-FR" sz="1800" spc="-1" strike="noStrike">
                <a:solidFill>
                  <a:srgbClr val="4e5b61"/>
                </a:solidFill>
                <a:latin typeface="Consolas"/>
              </a:rPr>
              <a:t> </a:t>
            </a:r>
            <a:r>
              <a:rPr b="0" lang="fr-FR" sz="1800" spc="-1" strike="noStrike">
                <a:solidFill>
                  <a:srgbClr val="d35400"/>
                </a:solidFill>
                <a:latin typeface="Consolas"/>
              </a:rPr>
              <a:t>Defaut_BF</a:t>
            </a:r>
            <a:r>
              <a:rPr b="0" lang="fr-FR" sz="1800" spc="-1" strike="noStrike">
                <a:solidFill>
                  <a:srgbClr val="4e5b61"/>
                </a:solidFill>
                <a:latin typeface="Consolas"/>
              </a:rPr>
              <a:t> </a:t>
            </a:r>
            <a:r>
              <a:rPr b="0" lang="fr-FR" sz="1800" spc="-1" strike="noStrike">
                <a:solidFill>
                  <a:srgbClr val="005c5f"/>
                </a:solidFill>
                <a:latin typeface="Consolas"/>
              </a:rPr>
              <a:t>15</a:t>
            </a:r>
            <a:r>
              <a:rPr b="0" lang="fr-FR" sz="1800" spc="-1" strike="noStrike">
                <a:solidFill>
                  <a:srgbClr val="95a5a6"/>
                </a:solidFill>
                <a:latin typeface="Consolas"/>
              </a:rPr>
              <a:t> //150Hz</a:t>
            </a:r>
            <a:endParaRPr b="0" lang="fr-FR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800" spc="-1" strike="noStrike">
                <a:solidFill>
                  <a:srgbClr val="00979d"/>
                </a:solidFill>
                <a:latin typeface="Consolas"/>
              </a:rPr>
              <a:t>uint8_t</a:t>
            </a:r>
            <a:r>
              <a:rPr b="0" lang="fr-FR" sz="1800" spc="-1" strike="noStrike">
                <a:solidFill>
                  <a:srgbClr val="4e5b61"/>
                </a:solidFill>
                <a:latin typeface="Consolas"/>
              </a:rPr>
              <a:t> Treble_Amp = </a:t>
            </a:r>
            <a:r>
              <a:rPr b="0" lang="fr-FR" sz="1800" spc="-1" strike="noStrike">
                <a:solidFill>
                  <a:srgbClr val="005c5f"/>
                </a:solidFill>
                <a:latin typeface="Consolas"/>
              </a:rPr>
              <a:t>0</a:t>
            </a:r>
            <a:r>
              <a:rPr b="0" lang="fr-FR" sz="1800" spc="-1" strike="noStrike">
                <a:solidFill>
                  <a:srgbClr val="4e5b61"/>
                </a:solidFill>
                <a:latin typeface="Consolas"/>
              </a:rPr>
              <a:t>;</a:t>
            </a:r>
            <a:endParaRPr b="0" lang="fr-FR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800" spc="-1" strike="noStrike">
                <a:solidFill>
                  <a:srgbClr val="00979d"/>
                </a:solidFill>
                <a:latin typeface="Consolas"/>
              </a:rPr>
              <a:t>uint8_t</a:t>
            </a:r>
            <a:r>
              <a:rPr b="0" lang="fr-FR" sz="1800" spc="-1" strike="noStrike">
                <a:solidFill>
                  <a:srgbClr val="4e5b61"/>
                </a:solidFill>
                <a:latin typeface="Consolas"/>
              </a:rPr>
              <a:t> Treble_Freq = Defaut_TF; </a:t>
            </a:r>
            <a:endParaRPr b="0" lang="fr-FR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800" spc="-1" strike="noStrike">
                <a:solidFill>
                  <a:srgbClr val="00979d"/>
                </a:solidFill>
                <a:latin typeface="Consolas"/>
              </a:rPr>
              <a:t>uint8_t</a:t>
            </a:r>
            <a:r>
              <a:rPr b="0" lang="fr-FR" sz="1800" spc="-1" strike="noStrike">
                <a:solidFill>
                  <a:srgbClr val="4e5b61"/>
                </a:solidFill>
                <a:latin typeface="Consolas"/>
              </a:rPr>
              <a:t> Bass_Amp = </a:t>
            </a:r>
            <a:r>
              <a:rPr b="0" lang="fr-FR" sz="1800" spc="-1" strike="noStrike">
                <a:solidFill>
                  <a:srgbClr val="005c5f"/>
                </a:solidFill>
                <a:latin typeface="Consolas"/>
              </a:rPr>
              <a:t>0</a:t>
            </a:r>
            <a:r>
              <a:rPr b="0" lang="fr-FR" sz="1800" spc="-1" strike="noStrike">
                <a:solidFill>
                  <a:srgbClr val="4e5b61"/>
                </a:solidFill>
                <a:latin typeface="Consolas"/>
              </a:rPr>
              <a:t>;</a:t>
            </a:r>
            <a:endParaRPr b="0" lang="fr-FR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800" spc="-1" strike="noStrike">
                <a:solidFill>
                  <a:srgbClr val="00979d"/>
                </a:solidFill>
                <a:latin typeface="Consolas"/>
              </a:rPr>
              <a:t>uint8_t</a:t>
            </a:r>
            <a:r>
              <a:rPr b="0" lang="fr-FR" sz="1800" spc="-1" strike="noStrike">
                <a:solidFill>
                  <a:srgbClr val="4e5b61"/>
                </a:solidFill>
                <a:latin typeface="Consolas"/>
              </a:rPr>
              <a:t> Bass_Freq = Defaut_BF; </a:t>
            </a:r>
            <a:endParaRPr b="0" lang="fr-FR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800" spc="-1" strike="noStrike">
                <a:solidFill>
                  <a:srgbClr val="00979d"/>
                </a:solidFill>
                <a:latin typeface="Consolas"/>
              </a:rPr>
              <a:t>uint8_t</a:t>
            </a:r>
            <a:r>
              <a:rPr b="0" lang="fr-FR" sz="1800" spc="-1" strike="noStrike">
                <a:solidFill>
                  <a:srgbClr val="4e5b61"/>
                </a:solidFill>
                <a:latin typeface="Consolas"/>
              </a:rPr>
              <a:t> </a:t>
            </a:r>
            <a:r>
              <a:rPr b="0" lang="fr-FR" sz="1800" spc="-1" strike="noStrike">
                <a:solidFill>
                  <a:srgbClr val="d35400"/>
                </a:solidFill>
                <a:latin typeface="Consolas"/>
              </a:rPr>
              <a:t>Tonalite</a:t>
            </a:r>
            <a:r>
              <a:rPr b="0" lang="fr-FR" sz="1800" spc="-1" strike="noStrike">
                <a:solidFill>
                  <a:srgbClr val="4e5b61"/>
                </a:solidFill>
                <a:latin typeface="Consolas"/>
              </a:rPr>
              <a:t>[</a:t>
            </a:r>
            <a:r>
              <a:rPr b="0" lang="fr-FR" sz="1800" spc="-1" strike="noStrike">
                <a:solidFill>
                  <a:srgbClr val="005c5f"/>
                </a:solidFill>
                <a:latin typeface="Consolas"/>
              </a:rPr>
              <a:t>4</a:t>
            </a:r>
            <a:r>
              <a:rPr b="0" lang="fr-FR" sz="1800" spc="-1" strike="noStrike">
                <a:solidFill>
                  <a:srgbClr val="4e5b61"/>
                </a:solidFill>
                <a:latin typeface="Consolas"/>
              </a:rPr>
              <a:t>] = </a:t>
            </a:r>
            <a:r>
              <a:rPr b="0" lang="fr-FR" sz="1800" spc="-1" strike="noStrike">
                <a:solidFill>
                  <a:srgbClr val="434f54"/>
                </a:solidFill>
                <a:latin typeface="Consolas"/>
              </a:rPr>
              <a:t>{ </a:t>
            </a:r>
            <a:r>
              <a:rPr b="1" lang="fr-FR" sz="1800" spc="-1" strike="noStrike">
                <a:solidFill>
                  <a:srgbClr val="ff0000"/>
                </a:solidFill>
                <a:highlight>
                  <a:srgbClr val="ffff00"/>
                </a:highlight>
                <a:latin typeface="Consolas"/>
              </a:rPr>
              <a:t>???, ???, ???, ??? </a:t>
            </a:r>
            <a:r>
              <a:rPr b="0" lang="fr-FR" sz="1800" spc="-1" strike="noStrike">
                <a:solidFill>
                  <a:srgbClr val="434f54"/>
                </a:solidFill>
                <a:highlight>
                  <a:srgbClr val="ffff00"/>
                </a:highlight>
                <a:latin typeface="Consolas"/>
              </a:rPr>
              <a:t>}</a:t>
            </a:r>
            <a:r>
              <a:rPr b="0" lang="fr-FR" sz="1800" spc="-1" strike="noStrike">
                <a:solidFill>
                  <a:srgbClr val="4e5b61"/>
                </a:solidFill>
                <a:highlight>
                  <a:srgbClr val="ffff00"/>
                </a:highlight>
                <a:latin typeface="Consolas"/>
              </a:rPr>
              <a:t>;</a:t>
            </a:r>
            <a:endParaRPr b="0" lang="fr-FR" sz="1800" spc="-1" strike="noStrike">
              <a:latin typeface="Arial"/>
            </a:endParaRPr>
          </a:p>
        </p:txBody>
      </p:sp>
      <p:pic>
        <p:nvPicPr>
          <p:cNvPr id="186" name="Picture 3" descr=""/>
          <p:cNvPicPr/>
          <p:nvPr/>
        </p:nvPicPr>
        <p:blipFill>
          <a:blip r:embed="rId1"/>
          <a:srcRect l="32772" t="49704" r="32173" b="41126"/>
          <a:stretch/>
        </p:blipFill>
        <p:spPr>
          <a:xfrm>
            <a:off x="6523200" y="2813400"/>
            <a:ext cx="1054800" cy="615240"/>
          </a:xfrm>
          <a:prstGeom prst="rect">
            <a:avLst/>
          </a:prstGeom>
          <a:ln w="0">
            <a:noFill/>
          </a:ln>
        </p:spPr>
      </p:pic>
      <p:sp>
        <p:nvSpPr>
          <p:cNvPr id="187" name="Espace réservé du numéro de diapositive 1"/>
          <p:cNvSpPr txBox="1"/>
          <p:nvPr/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r">
              <a:lnSpc>
                <a:spcPct val="100000"/>
              </a:lnSpc>
            </a:pPr>
            <a:fld id="{8732AB61-EE6B-43AE-A3E2-BD80CC69CBD2}" type="slidenum">
              <a:rPr b="0" lang="fr-FR" sz="1200" spc="-1" strike="noStrike">
                <a:solidFill>
                  <a:srgbClr val="8b8b8b"/>
                </a:solidFill>
                <a:latin typeface="Calibri"/>
              </a:rPr>
              <a:t>35</a:t>
            </a:fld>
            <a:endParaRPr b="0" lang="fr-FR" sz="12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ZoneTexte 1"/>
          <p:cNvSpPr/>
          <p:nvPr/>
        </p:nvSpPr>
        <p:spPr>
          <a:xfrm>
            <a:off x="1942200" y="0"/>
            <a:ext cx="8307000" cy="173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</a:pPr>
            <a:r>
              <a:rPr b="1" lang="fr-FR" sz="5400" spc="-1" strike="noStrike">
                <a:solidFill>
                  <a:srgbClr val="ff0000"/>
                </a:solidFill>
                <a:latin typeface="Calibri"/>
              </a:rPr>
              <a:t>LAB 4:</a:t>
            </a:r>
            <a:endParaRPr b="0" lang="fr-FR" sz="54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1" lang="fr-FR" sz="5400" spc="-1" strike="noStrike">
                <a:solidFill>
                  <a:srgbClr val="ff0000"/>
                </a:solidFill>
                <a:latin typeface="Calibri"/>
              </a:rPr>
              <a:t>Gestion de la Spatialisation</a:t>
            </a:r>
            <a:endParaRPr b="0" lang="fr-FR" sz="5400" spc="-1" strike="noStrike">
              <a:latin typeface="Arial"/>
            </a:endParaRPr>
          </a:p>
        </p:txBody>
      </p:sp>
      <p:sp>
        <p:nvSpPr>
          <p:cNvPr id="189" name="ZoneTexte 2"/>
          <p:cNvSpPr/>
          <p:nvPr/>
        </p:nvSpPr>
        <p:spPr>
          <a:xfrm>
            <a:off x="114480" y="3060000"/>
            <a:ext cx="11788560" cy="228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fr-FR" sz="2400" spc="-1" strike="noStrike">
                <a:solidFill>
                  <a:srgbClr val="0070c0"/>
                </a:solidFill>
                <a:latin typeface="Calibri"/>
              </a:rPr>
              <a:t>Répondre aux questions suivantes en vous aidant des diapositives précédentes et suivantes:</a:t>
            </a:r>
            <a:endParaRPr b="0" lang="fr-FR" sz="2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fr-FR" sz="2400" spc="-1" strike="noStrike">
              <a:latin typeface="Arial"/>
            </a:endParaRPr>
          </a:p>
          <a:p>
            <a:pPr marL="343080" indent="-342720">
              <a:lnSpc>
                <a:spcPct val="100000"/>
              </a:lnSpc>
              <a:buClr>
                <a:srgbClr val="0070c0"/>
              </a:buClr>
              <a:buFont typeface="Calibri Light"/>
              <a:buAutoNum type="arabicPeriod"/>
            </a:pPr>
            <a:r>
              <a:rPr b="0" lang="fr-FR" sz="2400" spc="-1" strike="noStrike">
                <a:solidFill>
                  <a:srgbClr val="0070c0"/>
                </a:solidFill>
                <a:latin typeface="Calibri"/>
              </a:rPr>
              <a:t>Quel est le registre « SCI_??? » qui permet de contrôler la spatialisation ?</a:t>
            </a:r>
            <a:endParaRPr b="0" lang="fr-FR" sz="2400" spc="-1" strike="noStrike">
              <a:latin typeface="Arial"/>
            </a:endParaRPr>
          </a:p>
          <a:p>
            <a:pPr marL="343080" indent="-342720">
              <a:lnSpc>
                <a:spcPct val="100000"/>
              </a:lnSpc>
              <a:buClr>
                <a:srgbClr val="0070c0"/>
              </a:buClr>
              <a:buFont typeface="Calibri Light"/>
              <a:buAutoNum type="arabicPeriod"/>
            </a:pPr>
            <a:r>
              <a:rPr b="0" lang="fr-FR" sz="2400" spc="-1" strike="noStrike">
                <a:solidFill>
                  <a:srgbClr val="0070c0"/>
                </a:solidFill>
                <a:latin typeface="Calibri"/>
              </a:rPr>
              <a:t>Traduire en table de vérité le texte explicatif de la dispositive suivante.</a:t>
            </a:r>
            <a:endParaRPr b="0" lang="fr-FR" sz="2400" spc="-1" strike="noStrike">
              <a:latin typeface="Arial"/>
            </a:endParaRPr>
          </a:p>
          <a:p>
            <a:pPr marL="343080" indent="-342720">
              <a:lnSpc>
                <a:spcPct val="100000"/>
              </a:lnSpc>
              <a:buClr>
                <a:srgbClr val="0070c0"/>
              </a:buClr>
              <a:buFont typeface="Calibri Light"/>
              <a:buAutoNum type="arabicPeriod"/>
            </a:pPr>
            <a:r>
              <a:rPr b="0" lang="fr-FR" sz="2400" spc="-1" strike="noStrike">
                <a:solidFill>
                  <a:srgbClr val="0070c0"/>
                </a:solidFill>
                <a:latin typeface="Calibri"/>
              </a:rPr>
              <a:t>Donner les étapes qui permettent le réglage des 4 niveaux de la spatialisation.</a:t>
            </a:r>
            <a:endParaRPr b="0" lang="fr-FR" sz="2400" spc="-1" strike="noStrike">
              <a:latin typeface="Arial"/>
            </a:endParaRPr>
          </a:p>
          <a:p>
            <a:pPr marL="343080" indent="-342720">
              <a:lnSpc>
                <a:spcPct val="100000"/>
              </a:lnSpc>
              <a:buClr>
                <a:srgbClr val="0070c0"/>
              </a:buClr>
              <a:buFont typeface="Calibri Light"/>
              <a:buAutoNum type="arabicPeriod"/>
            </a:pPr>
            <a:r>
              <a:rPr b="0" lang="fr-FR" sz="2400" spc="-1" strike="noStrike">
                <a:solidFill>
                  <a:srgbClr val="0070c0"/>
                </a:solidFill>
                <a:latin typeface="Calibri"/>
              </a:rPr>
              <a:t>En déduire le script.</a:t>
            </a:r>
            <a:endParaRPr b="0" lang="fr-FR" sz="2400" spc="-1" strike="noStrike">
              <a:latin typeface="Arial"/>
            </a:endParaRPr>
          </a:p>
        </p:txBody>
      </p:sp>
      <p:pic>
        <p:nvPicPr>
          <p:cNvPr id="190" name="Picture 3" descr=""/>
          <p:cNvPicPr/>
          <p:nvPr/>
        </p:nvPicPr>
        <p:blipFill>
          <a:blip r:embed="rId1"/>
          <a:srcRect l="0" t="79862" r="0" b="11223"/>
          <a:stretch/>
        </p:blipFill>
        <p:spPr>
          <a:xfrm>
            <a:off x="4526280" y="2108160"/>
            <a:ext cx="3009600" cy="597960"/>
          </a:xfrm>
          <a:prstGeom prst="rect">
            <a:avLst/>
          </a:prstGeom>
          <a:ln w="0">
            <a:noFill/>
          </a:ln>
        </p:spPr>
      </p:pic>
      <p:sp>
        <p:nvSpPr>
          <p:cNvPr id="191" name="Espace réservé du numéro de diapositive 4"/>
          <p:cNvSpPr txBox="1"/>
          <p:nvPr/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r">
              <a:lnSpc>
                <a:spcPct val="100000"/>
              </a:lnSpc>
            </a:pPr>
            <a:fld id="{C6F6EB4E-8A05-4DB1-BD71-C31FB3526B28}" type="slidenum">
              <a:rPr b="0" lang="fr-FR" sz="1200" spc="-1" strike="noStrike">
                <a:solidFill>
                  <a:srgbClr val="8b8b8b"/>
                </a:solidFill>
                <a:latin typeface="Calibri"/>
              </a:rPr>
              <a:t>35</a:t>
            </a:fld>
            <a:endParaRPr b="0" lang="fr-FR" sz="12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Titre 1"/>
          <p:cNvSpPr txBox="1"/>
          <p:nvPr/>
        </p:nvSpPr>
        <p:spPr>
          <a:xfrm>
            <a:off x="0" y="0"/>
            <a:ext cx="12191760" cy="101232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rmAutofit/>
          </a:bodyPr>
          <a:p>
            <a:pPr algn="ctr">
              <a:lnSpc>
                <a:spcPct val="90000"/>
              </a:lnSpc>
            </a:pPr>
            <a:r>
              <a:rPr b="0" lang="fr-FR" sz="6000" spc="-1" strike="noStrike">
                <a:solidFill>
                  <a:srgbClr val="000000"/>
                </a:solidFill>
                <a:latin typeface="Calibri Light"/>
              </a:rPr>
              <a:t>SCI Registers</a:t>
            </a:r>
            <a:endParaRPr b="0" lang="fr-FR" sz="6000" spc="-1" strike="noStrike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193" name="Image 5" descr=""/>
          <p:cNvPicPr/>
          <p:nvPr/>
        </p:nvPicPr>
        <p:blipFill>
          <a:blip r:embed="rId1"/>
          <a:stretch/>
        </p:blipFill>
        <p:spPr>
          <a:xfrm>
            <a:off x="1556640" y="5481720"/>
            <a:ext cx="9078120" cy="1371600"/>
          </a:xfrm>
          <a:prstGeom prst="rect">
            <a:avLst/>
          </a:prstGeom>
          <a:ln w="0">
            <a:noFill/>
          </a:ln>
        </p:spPr>
      </p:pic>
      <p:pic>
        <p:nvPicPr>
          <p:cNvPr id="194" name="Image 3" descr=""/>
          <p:cNvPicPr/>
          <p:nvPr/>
        </p:nvPicPr>
        <p:blipFill>
          <a:blip r:embed="rId2"/>
          <a:stretch/>
        </p:blipFill>
        <p:spPr>
          <a:xfrm>
            <a:off x="1556640" y="4680"/>
            <a:ext cx="8973360" cy="5372640"/>
          </a:xfrm>
          <a:prstGeom prst="rect">
            <a:avLst/>
          </a:prstGeom>
          <a:ln w="0">
            <a:noFill/>
          </a:ln>
        </p:spPr>
      </p:pic>
      <p:sp>
        <p:nvSpPr>
          <p:cNvPr id="195" name="Espace réservé du numéro de diapositive 1"/>
          <p:cNvSpPr txBox="1"/>
          <p:nvPr/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r">
              <a:lnSpc>
                <a:spcPct val="100000"/>
              </a:lnSpc>
            </a:pPr>
            <a:fld id="{334FB228-585E-4CE1-96DF-391A0E349B8F}" type="slidenum">
              <a:rPr b="0" lang="fr-FR" sz="1200" spc="-1" strike="noStrike">
                <a:solidFill>
                  <a:srgbClr val="8b8b8b"/>
                </a:solidFill>
                <a:latin typeface="Calibri"/>
              </a:rPr>
              <a:t>&lt;numéro&gt;</a:t>
            </a:fld>
            <a:endParaRPr b="0" lang="fr-FR" sz="12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546</TotalTime>
  <Application>LibreOffice/7.1.0.3$Windows_X86_64 LibreOffice_project/f6099ecf3d29644b5008cc8f48f42f4a40986e4c</Application>
  <AppVersion>15.0000</AppVersion>
  <Words>2107</Words>
  <Paragraphs>319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2025-01-31T13:02:58Z</dcterms:created>
  <dc:creator>compte.local</dc:creator>
  <dc:description/>
  <dc:language>fr-FR</dc:language>
  <cp:lastModifiedBy/>
  <dcterms:modified xsi:type="dcterms:W3CDTF">2025-06-17T15:19:07Z</dcterms:modified>
  <cp:revision>96</cp:revision>
  <dc:subject/>
  <dc:title>Présentation PowerPoint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Grand écran</vt:lpwstr>
  </property>
  <property fmtid="{D5CDD505-2E9C-101B-9397-08002B2CF9AE}" pid="3" name="Slides">
    <vt:i4>39</vt:i4>
  </property>
</Properties>
</file>